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6" r:id="rId17"/>
    <p:sldId id="260" r:id="rId6"/>
    <p:sldId id="261" r:id="rId7"/>
    <p:sldId id="267" r:id="rId18"/>
    <p:sldId id="268" r:id="rId19"/>
    <p:sldId id="269" r:id="rId20"/>
    <p:sldId id="270" r:id="rId21"/>
    <p:sldId id="271" r:id="rId22"/>
    <p:sldId id="273" r:id="rId24"/>
    <p:sldId id="272" r:id="rId23"/>
    <p:sldId id="262" r:id="rId8"/>
    <p:sldId id="263" r:id="rId9"/>
    <p:sldId id="274" r:id="rId25"/>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15.xml"/><Relationship Id="rId9" Type="http://schemas.openxmlformats.org/officeDocument/2006/relationships/slide" Target="slides/slide16.xml"/><Relationship Id="rId10" Type="http://schemas.openxmlformats.org/officeDocument/2006/relationships/slide" Target="slides/slide18.xml"/><Relationship Id="rId11" Type="http://schemas.openxmlformats.org/officeDocument/2006/relationships/slide" Target="slides/slide19.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5.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4.xml"/><Relationship Id="rId24" Type="http://schemas.openxmlformats.org/officeDocument/2006/relationships/slide" Target="slides/slide13.xml"/><Relationship Id="rId25"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Objetivo de la lámina: que puedan clasificar cualquier software en una de estas tres categorías con criterio propio, no de memoria.</a:t>
            </a:r>
          </a:p>
          <a:p/>
          <a:p>
            <a:r>
              <a:t>Cómo explicarlo (orden sugerido):</a:t>
            </a:r>
          </a:p>
          <a:p>
            <a:r>
              <a:t>1) Definición general: remarcar que el software es lógica, no un objeto físico. Señalar la PC del aula como hardware vs. lo que corre en pantalla como software.</a:t>
            </a:r>
          </a:p>
          <a:p>
            <a:r>
              <a:t>2) Software de sistema: el usuario casi nunca lo usa de forma directa, es la base para que funcione el resto. Además de los íconos (Windows, Linux, macOS), mencionar un driver de impresora o el firmware de un router como ejemplos orales.</a:t>
            </a:r>
          </a:p>
          <a:p>
            <a:r>
              <a:t>3) Software de aplicación: es el que usan todos los días. Pedirles que digan 2 o 3 ejemplos que usaron hoy mismo (WhatsApp, Spotify, el navegador) — genera participación.</a:t>
            </a:r>
          </a:p>
          <a:p>
            <a:r>
              <a:t>4) Software de programación: la categoría en la que se van a mover toda la cursada. Aclarar que el IDE (próxima lámina) entra acá, y que el propio intérprete de Python es un ejemplo.</a:t>
            </a:r>
          </a:p>
          <a:p/>
          <a:p>
            <a:r>
              <a:t>Pregunta disparadora: "¿En qué categoría entra el Word que usamos para escribir el TP? ¿Y el compilador o intérprete que corre el código por detrás?" — sirve para chequear si entendieron la diferencia entre aplicación y programación.</a:t>
            </a:r>
          </a:p>
          <a:p/>
          <a:p>
            <a:r>
              <a:t>Error común a corregir: confunden "software de programación" con "cualquier programa que yo programé". Aclarar que la categoría son las HERRAMIENTAS para programar (compiladores, intérpretes, IDEs) — el programa resultante, si está orientado al usuario final, es software de aplicación.</a:t>
            </a:r>
          </a:p>
          <a:p/>
          <a:p>
            <a:r>
              <a:t>Tiempo estimado en esta lámina: 6 a 8 minutos.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Idea central: separar "proyecto" (instancia acotada en el tiempo) de "software" (el producto que ese proyecto deja funcionando). Ejemplo para repetir en las 3 láminas de esta sección: el desarrollo inicial de una app puede ser un proyecto de 4 meses, pero la app en sí sigue viva y cambiando 5 años después.</a:t>
            </a:r>
          </a:p>
          <a:p/>
          <a:p>
            <a:r>
              <a:t>Fuentes consultadas para armar esta sección:</a:t>
            </a:r>
          </a:p>
          <a:p>
            <a:r>
              <a:t>- https://www.romenrg.com/blog/2020/12/30/software-projects-vs-software-products/</a:t>
            </a:r>
          </a:p>
          <a:p>
            <a:r>
              <a:t>- https://www.youtube.com/watch?v=f1zTdgGmSfw</a:t>
            </a:r>
          </a:p>
          <a:p>
            <a:r>
              <a:t>- https://www.youtube.com/watch?v=URxb9XmPqaM</a:t>
            </a:r>
          </a:p>
          <a:p>
            <a:r>
              <a:t>- https://www.claseejecutiva.uc.cl/blog/articulos/desarrollo-de-software-o-proyecto-de-software/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Objetivo: que entiendan que "metodología de gestión" es simplemente el criterio con el que se organiza el trabajo dentro de un proyecto — no es exclusivo de software, pero acá lo vemos aplicado a eso.</a:t>
            </a:r>
          </a:p>
          <a:p/>
          <a:p>
            <a:r>
              <a:t>Cascada: comparar con construir una casa — no se puede empezar a pintar las paredes antes de levantarlas. Sirve cuando el resultado final está muy claro desde el día 1.</a:t>
            </a:r>
          </a:p>
          <a:p/>
          <a:p>
            <a:r>
              <a:t>Scrum: la clave es la entrega incremental — cada sprint termina con algo funcionando, aunque sea chico. Mencionar roles típicos de Scrum (Product Owner, Scrum Master, equipo de desarrollo) si da el tiempo, aunque se profundiza en la próxima lámina de roles.</a:t>
            </a:r>
          </a:p>
          <a:p/>
          <a:p>
            <a:r>
              <a:t>Pregunta disparadora: "Si mañana cambia un requisito del proyecto, ¿en cuál de los dos modelos es más fácil adaptarse?" (Respuesta esperada: Scrum, por sus ciclos cortos).</a:t>
            </a:r>
          </a:p>
          <a:p/>
          <a:p>
            <a:r>
              <a:t>Tiempo estimado en esta lámina: 5 a 6 minutos.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Objetivo: que puedan ubicar distintos roles de un equipo de software y entender que "gestionar" y "desarrollar" son trabajos distintos, aunque se necesitan mutuamente.</a:t>
            </a:r>
          </a:p>
          <a:p/>
          <a:p>
            <a:r>
              <a:t>Jefe de Proyecto: en equipos ágiles este rol muchas veces se reparte entre Product Owner (qué se construye) y Scrum Master (cómo se organiza el equipo) — vale la pena mencionarlo si en la lámina anterior se habló de Scrum.</a:t>
            </a:r>
          </a:p>
          <a:p/>
          <a:p>
            <a:r>
              <a:t>Desarrollador: aclarar que dentro de "desarrollador" hay especializaciones (frontend, backend, full-stack) que van a ir apareciendo a lo largo de la carrera.</a:t>
            </a:r>
          </a:p>
          <a:p/>
          <a:p>
            <a:r>
              <a:t>Pregunta disparadora: "¿Quién de los dos roles decide QUÉ se construye, y quién decide CÓMO se construye técnicamente?" — ayuda a fijar la diferencia.</a:t>
            </a:r>
          </a:p>
          <a:p/>
          <a:p>
            <a:r>
              <a:t>Cierre de la sección: recalcar que estos 5 conceptos (naturaleza/duración, éxito, alcance, metodología y roles) son la base para entender cualquier equipo de desarrollo que integren de acá en adelante, incluso en la Observación y Práctica Profesional.</a:t>
            </a:r>
          </a:p>
          <a:p/>
          <a:p>
            <a:r>
              <a:t>Tiempo estimado en esta lámina: 5 a 6 minutos.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Idea central: "éxito" significa algo distinto para cada uno. Un proyecto puede ser "exitoso" (se entregó a tiempo y en presupuesto) y aun así el software puede fracasar si nadie lo usa. Es un buen punto para generar discusión en el grupo.</a:t>
            </a:r>
          </a:p>
          <a:p/>
          <a:p>
            <a:r>
              <a:t>Fuentes consultadas: https://www.youtube.com/watch?v=kCWOS4QBxTI · https://wheelhub.es/blog/empresas-desarrollo-software-a-medida/ · https://velneo.com/blog/10-principales-retos-del-desarrollo-de-software/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Idea central: el proyecto administra la logística (gente, plata, tiempo, riesgo); el software es la solución técnica que resulta de esa logística. Sirve de puente hacia las próximas dos láminas (metodologías y roles), que son ejemplos concretos de esa logística.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Idea central: mostrar que Python no es "un lenguaje más" sino la herramienta de base en varias de las áreas con más demanda hoy. Sirve como motivación antes de empezar a programar.</a:t>
            </a:r>
          </a:p>
          <a:p/>
          <a:p>
            <a:r>
              <a:t>Sugerencia: para cada área, preguntar si alguien en el curso ya usó o conoce una app/servicio de ese rubro (ej. "¿quién usa Spotify o Netflix?") para conectar con Desarrollo Web.</a:t>
            </a:r>
          </a:p>
          <a:p/>
          <a:p>
            <a:r>
              <a:t>Aclarar que esta lista no es exhaustiva — Python también se usa en videojuegos, scripting de sistemas operativos, finanzas cuantitativas, etc. — pero estas 5 son las de mayor demanda laboral actual.</a:t>
            </a:r>
          </a:p>
          <a:p/>
          <a:p>
            <a:r>
              <a:t>Fuentes consultadas para armar esta lámina:</a:t>
            </a:r>
          </a:p>
          <a:p>
            <a:r>
              <a:t>- https://www.domestika.org/es/blog/12638-para-que-se-usa-python</a:t>
            </a:r>
          </a:p>
          <a:p>
            <a:r>
              <a:t>- https://www.pontia.tech/que-es-python-para-que-srive-y-como-se-usa/</a:t>
            </a:r>
          </a:p>
          <a:p>
            <a:r>
              <a:t>- https://www.coderhouse.com/br/coderlibrary/top-6-de-todo-lo-que-debes-saber-sobre-python</a:t>
            </a:r>
          </a:p>
          <a:p>
            <a:r>
              <a:t>- https://institutotecnologicoeuropeo.com/programar-python-con-ia/</a:t>
            </a:r>
          </a:p>
          <a:p>
            <a:r>
              <a:t>- https://strategicplatform.com/articulos/redes-neuronales-python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Idea central: bajar la ansiedad inicial ("¿voy a poder aprender a programar?") mostrando que Python fue diseñado para ser el lenguaje más accesible para empezar.</a:t>
            </a:r>
          </a:p>
          <a:p/>
          <a:p>
            <a:r>
              <a:t>Sintaxis simple / menos código: mostrar en vivo si da el tiempo un mismo "hola mundo" en Python vs. Java para que se note la diferencia de líneas.</a:t>
            </a:r>
          </a:p>
          <a:p/>
          <a:p>
            <a:r>
              <a:t>Alta demanda laboral: conectar con la Unidad 1 en general — esto es una motivación de fondo para toda la cursada, no solo un dato suelto.</a:t>
            </a:r>
          </a:p>
          <a:p/>
          <a:p>
            <a:r>
              <a:t>Cierre: esta lámina + la anterior ("¿Dónde se usa Python?") funcionan como bisagra entre la teoría de software/proyectos ya vista y la parte práctica que arranca en el Ejercicio 1.</a:t>
            </a:r>
          </a:p>
          <a:p/>
          <a:p>
            <a:r>
              <a:t>Fuentes consultadas para armar esta lámina:</a:t>
            </a:r>
          </a:p>
          <a:p>
            <a:r>
              <a:t>- https://www.ionos.com/es-us/digitalguide/paginas-web/desarrollo-web/python-vs-java/</a:t>
            </a:r>
          </a:p>
          <a:p>
            <a:r>
              <a:t>- https://es.linkedin.com/pulse/por-qu%C3%A9-se-utiliza-python-en-data-science-nodd3r</a:t>
            </a:r>
          </a:p>
          <a:p>
            <a:r>
              <a:t>- https://www.godaddy.com/resources/es/crearweb/python-que-es-y-por-que-es-tan-popular-en-programacion</a:t>
            </a:r>
          </a:p>
          <a:p>
            <a:r>
              <a:t>- https://www.grupocodesi.com/blog/que-es-python-para-que-sirve-quien-lo-ocupa.html</a:t>
            </a:r>
          </a:p>
          <a:p>
            <a:r>
              <a:t>- https://aglaia.es/blog/bi/que-es-python-y-para-que-sirve/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F"/>
        </a:solidFill>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0E1830"/>
          </a:solidFill>
          <a:ln/>
        </p:spPr>
        <p:txBody>
          <a:bodyPr/>
          <a:p/>
        </p:txBody>
      </p:sp>
      <p:sp>
        <p:nvSpPr>
          <p:cNvPr id="3" name="Shape 1"/>
          <p:cNvSpPr/>
          <p:nvPr/>
        </p:nvSpPr>
        <p:spPr>
          <a:xfrm>
            <a:off x="-1645920" y="4480560"/>
            <a:ext cx="4023360" cy="4023360"/>
          </a:xfrm>
          <a:prstGeom prst="ellipse">
            <a:avLst/>
          </a:prstGeom>
          <a:solidFill>
            <a:srgbClr val="0E1830"/>
          </a:solidFill>
          <a:ln/>
        </p:spPr>
        <p:txBody>
          <a:bodyPr/>
          <a:p/>
        </p:txBody>
      </p:sp>
      <p:sp>
        <p:nvSpPr>
          <p:cNvPr id="4" name="Shape 2"/>
          <p:cNvSpPr/>
          <p:nvPr/>
        </p:nvSpPr>
        <p:spPr>
          <a:xfrm>
            <a:off x="10698480" y="4297680"/>
            <a:ext cx="1828800" cy="1828800"/>
          </a:xfrm>
          <a:prstGeom prst="ellipse">
            <a:avLst/>
          </a:prstGeom>
          <a:solidFill>
            <a:srgbClr val="C9A24B"/>
          </a:solidFill>
          <a:ln/>
        </p:spPr>
        <p:txBody>
          <a:bodyPr/>
          <a:p/>
        </p:txBody>
      </p:sp>
      <p:sp>
        <p:nvSpPr>
          <p:cNvPr id="5" name="Text 3"/>
          <p:cNvSpPr/>
          <p:nvPr/>
        </p:nvSpPr>
        <p:spPr>
          <a:xfrm>
            <a:off x="822960" y="1920240"/>
            <a:ext cx="96012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UNIDAD 1 · INTRODUCCIÓN A PYTHON · SEMANA 1</a:t>
            </a:r>
            <a:endParaRPr lang="en-US" sz="1300" dirty="0"/>
          </a:p>
        </p:txBody>
      </p:sp>
      <p:sp>
        <p:nvSpPr>
          <p:cNvPr id="6" name="Text 4"/>
          <p:cNvSpPr/>
          <p:nvPr/>
        </p:nvSpPr>
        <p:spPr>
          <a:xfrm>
            <a:off x="777240" y="2331720"/>
            <a:ext cx="9144000" cy="1005840"/>
          </a:xfrm>
          <a:prstGeom prst="rect">
            <a:avLst/>
          </a:prstGeom>
          <a:noFill/>
          <a:ln/>
        </p:spPr>
        <p:txBody>
          <a:bodyPr wrap="square"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Clase 1</a:t>
            </a:r>
            <a:endParaRPr lang="en-US" sz="4800" dirty="0"/>
          </a:p>
        </p:txBody>
      </p:sp>
      <p:sp>
        <p:nvSpPr>
          <p:cNvPr id="7" name="Text 5"/>
          <p:cNvSpPr/>
          <p:nvPr/>
        </p:nvSpPr>
        <p:spPr>
          <a:xfrm>
            <a:off x="822960" y="3246120"/>
            <a:ext cx="9601200" cy="1005840"/>
          </a:xfrm>
          <a:prstGeom prst="rect">
            <a:avLst/>
          </a:prstGeom>
          <a:noFill/>
          <a:ln/>
        </p:spPr>
        <p:txBody>
          <a:bodyPr wrap="square" rtlCol="0" anchor="t"/>
          <a:lstStyle/>
          <a:p>
            <a:pPr indent="0" marL="0">
              <a:buNone/>
            </a:pPr>
            <a:r>
              <a:rPr lang="en-US" sz="2000" dirty="0">
                <a:solidFill>
                  <a:srgbClr val="C7CDD9"/>
                </a:solidFill>
                <a:latin typeface="Calibri" pitchFamily="34" charset="0"/>
                <a:ea typeface="Calibri" pitchFamily="34" charset="-122"/>
                <a:cs typeface="Calibri" pitchFamily="34" charset="-120"/>
              </a:rPr>
              <a:t>El software, entornos de desarrollo y</a:t>
            </a:r>
            <a:endParaRPr lang="en-US" sz="2000" dirty="0"/>
          </a:p>
          <a:p>
            <a:pPr indent="0" marL="0">
              <a:buNone/>
            </a:pPr>
            <a:r>
              <a:rPr lang="en-US" sz="2000" dirty="0">
                <a:solidFill>
                  <a:srgbClr val="C7CDD9"/>
                </a:solidFill>
                <a:latin typeface="Calibri" pitchFamily="34" charset="0"/>
                <a:ea typeface="Calibri" pitchFamily="34" charset="-122"/>
                <a:cs typeface="Calibri" pitchFamily="34" charset="-120"/>
              </a:rPr>
              <a:t>programas vs. proyectos</a:t>
            </a:r>
            <a:endParaRPr lang="en-US" sz="2000" dirty="0"/>
          </a:p>
        </p:txBody>
      </p:sp>
      <p:sp>
        <p:nvSpPr>
          <p:cNvPr id="8" name="Shape 6"/>
          <p:cNvSpPr/>
          <p:nvPr/>
        </p:nvSpPr>
        <p:spPr>
          <a:xfrm>
            <a:off x="822960" y="4709160"/>
            <a:ext cx="1965960" cy="457200"/>
          </a:xfrm>
          <a:prstGeom prst="roundRect">
            <a:avLst>
              <a:gd name="adj" fmla="val 50000"/>
            </a:avLst>
          </a:prstGeom>
          <a:solidFill>
            <a:srgbClr val="0E1830"/>
          </a:solidFill>
          <a:ln w="12700">
            <a:solidFill>
              <a:srgbClr val="2A3A5C"/>
            </a:solidFill>
            <a:prstDash val="solid"/>
          </a:ln>
        </p:spPr>
        <p:txBody>
          <a:bodyPr/>
          <a:p/>
        </p:txBody>
      </p:sp>
      <p:sp>
        <p:nvSpPr>
          <p:cNvPr id="9" name="Text 7"/>
          <p:cNvSpPr/>
          <p:nvPr/>
        </p:nvSpPr>
        <p:spPr>
          <a:xfrm>
            <a:off x="822960" y="4709160"/>
            <a:ext cx="1965960" cy="45720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Teoría 40%</a:t>
            </a:r>
            <a:endParaRPr lang="en-US" sz="1200" dirty="0"/>
          </a:p>
        </p:txBody>
      </p:sp>
      <p:sp>
        <p:nvSpPr>
          <p:cNvPr id="10" name="Shape 8"/>
          <p:cNvSpPr/>
          <p:nvPr/>
        </p:nvSpPr>
        <p:spPr>
          <a:xfrm>
            <a:off x="2990088" y="4709160"/>
            <a:ext cx="2203704" cy="457200"/>
          </a:xfrm>
          <a:prstGeom prst="roundRect">
            <a:avLst>
              <a:gd name="adj" fmla="val 50000"/>
            </a:avLst>
          </a:prstGeom>
          <a:solidFill>
            <a:srgbClr val="0E1830"/>
          </a:solidFill>
          <a:ln w="12700">
            <a:solidFill>
              <a:srgbClr val="2A3A5C"/>
            </a:solidFill>
            <a:prstDash val="solid"/>
          </a:ln>
        </p:spPr>
        <p:txBody>
          <a:bodyPr/>
          <a:p/>
        </p:txBody>
      </p:sp>
      <p:sp>
        <p:nvSpPr>
          <p:cNvPr id="11" name="Text 9"/>
          <p:cNvSpPr/>
          <p:nvPr/>
        </p:nvSpPr>
        <p:spPr>
          <a:xfrm>
            <a:off x="2990088" y="4709160"/>
            <a:ext cx="2203704" cy="45720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Práctica 60%</a:t>
            </a:r>
            <a:endParaRPr lang="en-US" sz="1200" dirty="0"/>
          </a:p>
        </p:txBody>
      </p:sp>
      <p:sp>
        <p:nvSpPr>
          <p:cNvPr id="12" name="Shape 10"/>
          <p:cNvSpPr/>
          <p:nvPr/>
        </p:nvSpPr>
        <p:spPr>
          <a:xfrm>
            <a:off x="5394960" y="4709160"/>
            <a:ext cx="2084832" cy="457200"/>
          </a:xfrm>
          <a:prstGeom prst="roundRect">
            <a:avLst>
              <a:gd name="adj" fmla="val 50000"/>
            </a:avLst>
          </a:prstGeom>
          <a:solidFill>
            <a:srgbClr val="0E1830"/>
          </a:solidFill>
          <a:ln w="12700">
            <a:solidFill>
              <a:srgbClr val="2A3A5C"/>
            </a:solidFill>
            <a:prstDash val="solid"/>
          </a:ln>
        </p:spPr>
        <p:txBody>
          <a:bodyPr/>
          <a:p/>
        </p:txBody>
      </p:sp>
      <p:sp>
        <p:nvSpPr>
          <p:cNvPr id="13" name="Text 11"/>
          <p:cNvSpPr/>
          <p:nvPr/>
        </p:nvSpPr>
        <p:spPr>
          <a:xfrm>
            <a:off x="5394960" y="4709160"/>
            <a:ext cx="2084832" cy="45720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4 hs. reloj</a:t>
            </a:r>
            <a:endParaRPr lang="en-US" sz="120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PROGRAMACIÓN II · UAI · Unidad 1 · Clase 1</a:t>
            </a:r>
            <a:endParaRPr lang="en-US" sz="900" dirty="0"/>
          </a:p>
        </p:txBody>
      </p:sp>
      <p:sp>
        <p:nvSpPr>
          <p:cNvPr id="15" name="Text 13"/>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AGENDA DE LA CLASE</a:t>
            </a:r>
            <a:endParaRPr lang="en-US" sz="1300" dirty="0"/>
          </a:p>
        </p:txBody>
      </p:sp>
      <p:sp>
        <p:nvSpPr>
          <p:cNvPr id="3" name="Text 1"/>
          <p:cNvSpPr/>
          <p:nvPr/>
        </p:nvSpPr>
        <p:spPr>
          <a:xfrm>
            <a:off x="640080" y="777240"/>
            <a:ext cx="10881360" cy="731520"/>
          </a:xfrm>
          <a:prstGeom prst="rect">
            <a:avLst/>
          </a:prstGeom>
          <a:noFill/>
          <a:ln/>
        </p:spPr>
        <p:txBody>
          <a:bodyPr wrap="square" rtlCol="0" anchor="ctr"/>
          <a:lstStyle/>
          <a:p>
            <a:pPr indent="0" marL="0">
              <a:buNone/>
            </a:pPr>
            <a:r>
              <a:rPr lang="en-US" sz="2800" b="1" dirty="0">
                <a:solidFill>
                  <a:srgbClr val="1C1F26"/>
                </a:solidFill>
                <a:latin typeface="Calibri" pitchFamily="34" charset="0"/>
                <a:ea typeface="Calibri" pitchFamily="34" charset="-122"/>
                <a:cs typeface="Calibri" pitchFamily="34" charset="-120"/>
              </a:rPr>
              <a:t>Qué vamos a ver hoy</a:t>
            </a:r>
            <a:endParaRPr lang="en-US" sz="2800" dirty="0"/>
          </a:p>
        </p:txBody>
      </p:sp>
      <p:sp>
        <p:nvSpPr>
          <p:cNvPr id="4" name="Shape 2"/>
          <p:cNvSpPr/>
          <p:nvPr/>
        </p:nvSpPr>
        <p:spPr>
          <a:xfrm>
            <a:off x="640080" y="1737360"/>
            <a:ext cx="5257800" cy="1965960"/>
          </a:xfrm>
          <a:prstGeom prst="roundRect">
            <a:avLst>
              <a:gd name="adj" fmla="val 3721"/>
            </a:avLst>
          </a:prstGeom>
          <a:solidFill>
            <a:srgbClr val="F4F5F7"/>
          </a:solidFill>
          <a:ln w="12700">
            <a:solidFill>
              <a:srgbClr val="E1E4E9"/>
            </a:solidFill>
            <a:prstDash val="solid"/>
          </a:ln>
        </p:spPr>
        <p:txBody>
          <a:bodyPr/>
          <a:p/>
        </p:txBody>
      </p:sp>
      <p:sp>
        <p:nvSpPr>
          <p:cNvPr id="5" name="Text 3"/>
          <p:cNvSpPr/>
          <p:nvPr/>
        </p:nvSpPr>
        <p:spPr>
          <a:xfrm>
            <a:off x="868680" y="1920240"/>
            <a:ext cx="1188720" cy="640080"/>
          </a:xfrm>
          <a:prstGeom prst="rect">
            <a:avLst/>
          </a:prstGeom>
          <a:noFill/>
          <a:ln/>
        </p:spPr>
        <p:txBody>
          <a:bodyPr wrap="square" rtlCol="0" anchor="ctr"/>
          <a:lstStyle/>
          <a:p>
            <a:pPr indent="0" marL="0">
              <a:buNone/>
            </a:pPr>
            <a:r>
              <a:rPr lang="en-US" sz="2600" b="1" dirty="0">
                <a:solidFill>
                  <a:srgbClr val="C7CDD9"/>
                </a:solidFill>
                <a:latin typeface="Calibri" pitchFamily="34" charset="0"/>
                <a:ea typeface="Calibri" pitchFamily="34" charset="-122"/>
                <a:cs typeface="Calibri" pitchFamily="34" charset="-120"/>
              </a:rPr>
              <a:t>01</a:t>
            </a:r>
            <a:endParaRPr lang="en-US" sz="2600" dirty="0"/>
          </a:p>
        </p:txBody>
      </p:sp>
      <p:sp>
        <p:nvSpPr>
          <p:cNvPr id="6" name="Text 4"/>
          <p:cNvSpPr/>
          <p:nvPr/>
        </p:nvSpPr>
        <p:spPr>
          <a:xfrm>
            <a:off x="868680" y="2514600"/>
            <a:ext cx="4800600" cy="457200"/>
          </a:xfrm>
          <a:prstGeom prst="rect">
            <a:avLst/>
          </a:prstGeom>
          <a:noFill/>
          <a:ln/>
        </p:spPr>
        <p:txBody>
          <a:bodyPr wrap="square" rtlCol="0" anchor="ctr"/>
          <a:lstStyle/>
          <a:p>
            <a:pPr indent="0" marL="0">
              <a:buNone/>
            </a:pPr>
            <a:r>
              <a:rPr lang="en-US" sz="1550" b="1" dirty="0">
                <a:solidFill>
                  <a:srgbClr val="1C1F26"/>
                </a:solidFill>
                <a:latin typeface="Calibri" pitchFamily="34" charset="0"/>
                <a:ea typeface="Calibri" pitchFamily="34" charset="-122"/>
                <a:cs typeface="Calibri" pitchFamily="34" charset="-120"/>
              </a:rPr>
              <a:t>¿Qué es el software?</a:t>
            </a:r>
            <a:endParaRPr lang="en-US" sz="1550" dirty="0"/>
          </a:p>
        </p:txBody>
      </p:sp>
      <p:sp>
        <p:nvSpPr>
          <p:cNvPr id="7" name="Text 5"/>
          <p:cNvSpPr/>
          <p:nvPr/>
        </p:nvSpPr>
        <p:spPr>
          <a:xfrm>
            <a:off x="868680" y="2971800"/>
            <a:ext cx="4800600" cy="640080"/>
          </a:xfrm>
          <a:prstGeom prst="rect">
            <a:avLst/>
          </a:prstGeom>
          <a:noFill/>
          <a:ln/>
        </p:spPr>
        <p:txBody>
          <a:bodyPr wrap="square" rtlCol="0" anchor="t"/>
          <a:lstStyle/>
          <a:p>
            <a:pPr indent="0" marL="0">
              <a:buNone/>
            </a:pPr>
            <a:r>
              <a:rPr lang="en-US" sz="1150" dirty="0">
                <a:solidFill>
                  <a:srgbClr val="5B6472"/>
                </a:solidFill>
                <a:latin typeface="Calibri" pitchFamily="34" charset="0"/>
                <a:ea typeface="Calibri" pitchFamily="34" charset="-122"/>
                <a:cs typeface="Calibri" pitchFamily="34" charset="-120"/>
              </a:rPr>
              <a:t>Definición, tipos y su lugar en el desarrollo profesional</a:t>
            </a:r>
            <a:endParaRPr lang="en-US" sz="1150" dirty="0"/>
          </a:p>
        </p:txBody>
      </p:sp>
      <p:sp>
        <p:nvSpPr>
          <p:cNvPr id="8" name="Shape 6"/>
          <p:cNvSpPr/>
          <p:nvPr/>
        </p:nvSpPr>
        <p:spPr>
          <a:xfrm>
            <a:off x="6217920" y="1737360"/>
            <a:ext cx="5257800" cy="1965960"/>
          </a:xfrm>
          <a:prstGeom prst="roundRect">
            <a:avLst>
              <a:gd name="adj" fmla="val 3721"/>
            </a:avLst>
          </a:prstGeom>
          <a:solidFill>
            <a:srgbClr val="F4F5F7"/>
          </a:solidFill>
          <a:ln w="12700">
            <a:solidFill>
              <a:srgbClr val="E1E4E9"/>
            </a:solidFill>
            <a:prstDash val="solid"/>
          </a:ln>
        </p:spPr>
        <p:txBody>
          <a:bodyPr/>
          <a:p/>
        </p:txBody>
      </p:sp>
      <p:sp>
        <p:nvSpPr>
          <p:cNvPr id="9" name="Text 7"/>
          <p:cNvSpPr/>
          <p:nvPr/>
        </p:nvSpPr>
        <p:spPr>
          <a:xfrm>
            <a:off x="6446520" y="1920240"/>
            <a:ext cx="1188720" cy="640080"/>
          </a:xfrm>
          <a:prstGeom prst="rect">
            <a:avLst/>
          </a:prstGeom>
          <a:noFill/>
          <a:ln/>
        </p:spPr>
        <p:txBody>
          <a:bodyPr wrap="square" rtlCol="0" anchor="ctr"/>
          <a:lstStyle/>
          <a:p>
            <a:pPr indent="0" marL="0">
              <a:buNone/>
            </a:pPr>
            <a:r>
              <a:rPr lang="en-US" sz="2600" b="1" dirty="0">
                <a:solidFill>
                  <a:srgbClr val="C7CDD9"/>
                </a:solidFill>
                <a:latin typeface="Calibri" pitchFamily="34" charset="0"/>
                <a:ea typeface="Calibri" pitchFamily="34" charset="-122"/>
                <a:cs typeface="Calibri" pitchFamily="34" charset="-120"/>
              </a:rPr>
              <a:t>02</a:t>
            </a:r>
            <a:endParaRPr lang="en-US" sz="2600" dirty="0"/>
          </a:p>
        </p:txBody>
      </p:sp>
      <p:sp>
        <p:nvSpPr>
          <p:cNvPr id="10" name="Text 8"/>
          <p:cNvSpPr/>
          <p:nvPr/>
        </p:nvSpPr>
        <p:spPr>
          <a:xfrm>
            <a:off x="6446520" y="2514600"/>
            <a:ext cx="4800600" cy="457200"/>
          </a:xfrm>
          <a:prstGeom prst="rect">
            <a:avLst/>
          </a:prstGeom>
          <a:noFill/>
          <a:ln/>
        </p:spPr>
        <p:txBody>
          <a:bodyPr wrap="square" rtlCol="0" anchor="ctr"/>
          <a:lstStyle/>
          <a:p>
            <a:pPr indent="0" marL="0">
              <a:buNone/>
            </a:pPr>
            <a:r>
              <a:rPr lang="en-US" sz="1550" b="1" dirty="0">
                <a:solidFill>
                  <a:srgbClr val="1C1F26"/>
                </a:solidFill>
                <a:latin typeface="Calibri" pitchFamily="34" charset="0"/>
                <a:ea typeface="Calibri" pitchFamily="34" charset="-122"/>
                <a:cs typeface="Calibri" pitchFamily="34" charset="-120"/>
              </a:rPr>
              <a:t>Entornos Integrados de Desarrollo</a:t>
            </a:r>
            <a:endParaRPr lang="en-US" sz="1550" dirty="0"/>
          </a:p>
        </p:txBody>
      </p:sp>
      <p:sp>
        <p:nvSpPr>
          <p:cNvPr id="11" name="Text 9"/>
          <p:cNvSpPr/>
          <p:nvPr/>
        </p:nvSpPr>
        <p:spPr>
          <a:xfrm>
            <a:off x="6446520" y="2971800"/>
            <a:ext cx="4800600" cy="640080"/>
          </a:xfrm>
          <a:prstGeom prst="rect">
            <a:avLst/>
          </a:prstGeom>
          <a:noFill/>
          <a:ln/>
        </p:spPr>
        <p:txBody>
          <a:bodyPr wrap="square" rtlCol="0" anchor="t"/>
          <a:lstStyle/>
          <a:p>
            <a:pPr indent="0" marL="0">
              <a:buNone/>
            </a:pPr>
            <a:r>
              <a:rPr lang="en-US" sz="1150" dirty="0">
                <a:solidFill>
                  <a:srgbClr val="5B6472"/>
                </a:solidFill>
                <a:latin typeface="Calibri" pitchFamily="34" charset="0"/>
                <a:ea typeface="Calibri" pitchFamily="34" charset="-122"/>
                <a:cs typeface="Calibri" pitchFamily="34" charset="-120"/>
              </a:rPr>
              <a:t>Qué es un IDE y qué herramientas usaremos en la cursada</a:t>
            </a:r>
            <a:endParaRPr lang="en-US" sz="1150" dirty="0"/>
          </a:p>
        </p:txBody>
      </p:sp>
      <p:sp>
        <p:nvSpPr>
          <p:cNvPr id="12" name="Shape 10"/>
          <p:cNvSpPr/>
          <p:nvPr/>
        </p:nvSpPr>
        <p:spPr>
          <a:xfrm>
            <a:off x="640080" y="3977640"/>
            <a:ext cx="5257800" cy="1965960"/>
          </a:xfrm>
          <a:prstGeom prst="roundRect">
            <a:avLst>
              <a:gd name="adj" fmla="val 3721"/>
            </a:avLst>
          </a:prstGeom>
          <a:solidFill>
            <a:srgbClr val="F4F5F7"/>
          </a:solidFill>
          <a:ln w="12700">
            <a:solidFill>
              <a:srgbClr val="E1E4E9"/>
            </a:solidFill>
            <a:prstDash val="solid"/>
          </a:ln>
        </p:spPr>
        <p:txBody>
          <a:bodyPr/>
          <a:p/>
        </p:txBody>
      </p:sp>
      <p:sp>
        <p:nvSpPr>
          <p:cNvPr id="13" name="Text 11"/>
          <p:cNvSpPr/>
          <p:nvPr/>
        </p:nvSpPr>
        <p:spPr>
          <a:xfrm>
            <a:off x="868680" y="4160520"/>
            <a:ext cx="1188720" cy="640080"/>
          </a:xfrm>
          <a:prstGeom prst="rect">
            <a:avLst/>
          </a:prstGeom>
          <a:noFill/>
          <a:ln/>
        </p:spPr>
        <p:txBody>
          <a:bodyPr wrap="square" rtlCol="0" anchor="ctr"/>
          <a:lstStyle/>
          <a:p>
            <a:pPr indent="0" marL="0">
              <a:buNone/>
            </a:pPr>
            <a:r>
              <a:rPr lang="en-US" sz="2600" b="1" dirty="0">
                <a:solidFill>
                  <a:srgbClr val="C7CDD9"/>
                </a:solidFill>
                <a:latin typeface="Calibri" pitchFamily="34" charset="0"/>
                <a:ea typeface="Calibri" pitchFamily="34" charset="-122"/>
                <a:cs typeface="Calibri" pitchFamily="34" charset="-120"/>
              </a:rPr>
              <a:t>03</a:t>
            </a:r>
            <a:endParaRPr lang="en-US" sz="2600" dirty="0"/>
          </a:p>
        </p:txBody>
      </p:sp>
      <p:sp>
        <p:nvSpPr>
          <p:cNvPr id="14" name="Text 12"/>
          <p:cNvSpPr/>
          <p:nvPr/>
        </p:nvSpPr>
        <p:spPr>
          <a:xfrm>
            <a:off x="868680" y="4754880"/>
            <a:ext cx="4800600" cy="457200"/>
          </a:xfrm>
          <a:prstGeom prst="rect">
            <a:avLst/>
          </a:prstGeom>
          <a:noFill/>
          <a:ln/>
        </p:spPr>
        <p:txBody>
          <a:bodyPr wrap="square" rtlCol="0" anchor="ctr"/>
          <a:lstStyle/>
          <a:p>
            <a:pPr indent="0" marL="0">
              <a:buNone/>
            </a:pPr>
            <a:r>
              <a:rPr lang="en-US" sz="1550" b="1" dirty="0">
                <a:solidFill>
                  <a:srgbClr val="1C1F26"/>
                </a:solidFill>
                <a:latin typeface="Calibri" pitchFamily="34" charset="0"/>
                <a:ea typeface="Calibri" pitchFamily="34" charset="-122"/>
                <a:cs typeface="Calibri" pitchFamily="34" charset="-120"/>
              </a:rPr>
              <a:t>Programas vs. Proyectos</a:t>
            </a:r>
            <a:endParaRPr lang="en-US" sz="1550" dirty="0"/>
          </a:p>
        </p:txBody>
      </p:sp>
      <p:sp>
        <p:nvSpPr>
          <p:cNvPr id="15" name="Text 13"/>
          <p:cNvSpPr/>
          <p:nvPr/>
        </p:nvSpPr>
        <p:spPr>
          <a:xfrm>
            <a:off x="868680" y="5212080"/>
            <a:ext cx="4800600" cy="640080"/>
          </a:xfrm>
          <a:prstGeom prst="rect">
            <a:avLst/>
          </a:prstGeom>
          <a:noFill/>
          <a:ln/>
        </p:spPr>
        <p:txBody>
          <a:bodyPr wrap="square" rtlCol="0" anchor="t"/>
          <a:lstStyle/>
          <a:p>
            <a:pPr indent="0" marL="0">
              <a:buNone/>
            </a:pPr>
            <a:r>
              <a:rPr lang="en-US" sz="1150" dirty="0">
                <a:solidFill>
                  <a:srgbClr val="5B6472"/>
                </a:solidFill>
                <a:latin typeface="Calibri" pitchFamily="34" charset="0"/>
                <a:ea typeface="Calibri" pitchFamily="34" charset="-122"/>
                <a:cs typeface="Calibri" pitchFamily="34" charset="-120"/>
              </a:rPr>
              <a:t>La distinción que va a organizar todo el código que escribamos</a:t>
            </a:r>
            <a:endParaRPr lang="en-US" sz="1150" dirty="0"/>
          </a:p>
        </p:txBody>
      </p:sp>
      <p:sp>
        <p:nvSpPr>
          <p:cNvPr id="16" name="Shape 14"/>
          <p:cNvSpPr/>
          <p:nvPr/>
        </p:nvSpPr>
        <p:spPr>
          <a:xfrm>
            <a:off x="6217920" y="3977640"/>
            <a:ext cx="5257800" cy="1965960"/>
          </a:xfrm>
          <a:prstGeom prst="roundRect">
            <a:avLst>
              <a:gd name="adj" fmla="val 3721"/>
            </a:avLst>
          </a:prstGeom>
          <a:solidFill>
            <a:srgbClr val="F4F5F7"/>
          </a:solidFill>
          <a:ln w="12700">
            <a:solidFill>
              <a:srgbClr val="E1E4E9"/>
            </a:solidFill>
            <a:prstDash val="solid"/>
          </a:ln>
        </p:spPr>
        <p:txBody>
          <a:bodyPr/>
          <a:p/>
        </p:txBody>
      </p:sp>
      <p:sp>
        <p:nvSpPr>
          <p:cNvPr id="17" name="Text 15"/>
          <p:cNvSpPr/>
          <p:nvPr/>
        </p:nvSpPr>
        <p:spPr>
          <a:xfrm>
            <a:off x="6446520" y="4160520"/>
            <a:ext cx="1188720" cy="640080"/>
          </a:xfrm>
          <a:prstGeom prst="rect">
            <a:avLst/>
          </a:prstGeom>
          <a:noFill/>
          <a:ln/>
        </p:spPr>
        <p:txBody>
          <a:bodyPr wrap="square" rtlCol="0" anchor="ctr"/>
          <a:lstStyle/>
          <a:p>
            <a:pPr indent="0" marL="0">
              <a:buNone/>
            </a:pPr>
            <a:r>
              <a:rPr lang="en-US" sz="2600" b="1" dirty="0">
                <a:solidFill>
                  <a:srgbClr val="C7CDD9"/>
                </a:solidFill>
                <a:latin typeface="Calibri" pitchFamily="34" charset="0"/>
                <a:ea typeface="Calibri" pitchFamily="34" charset="-122"/>
                <a:cs typeface="Calibri" pitchFamily="34" charset="-120"/>
              </a:rPr>
              <a:t>04</a:t>
            </a:r>
            <a:endParaRPr lang="en-US" sz="2600" dirty="0"/>
          </a:p>
        </p:txBody>
      </p:sp>
      <p:sp>
        <p:nvSpPr>
          <p:cNvPr id="18" name="Text 16"/>
          <p:cNvSpPr/>
          <p:nvPr/>
        </p:nvSpPr>
        <p:spPr>
          <a:xfrm>
            <a:off x="6446520" y="4754880"/>
            <a:ext cx="4800600" cy="457200"/>
          </a:xfrm>
          <a:prstGeom prst="rect">
            <a:avLst/>
          </a:prstGeom>
          <a:noFill/>
          <a:ln/>
        </p:spPr>
        <p:txBody>
          <a:bodyPr wrap="square" rtlCol="0" anchor="ctr"/>
          <a:lstStyle/>
          <a:p>
            <a:pPr indent="0" marL="0">
              <a:buNone/>
            </a:pPr>
            <a:r>
              <a:rPr lang="en-US" sz="1550" b="1" dirty="0">
                <a:solidFill>
                  <a:srgbClr val="1C1F26"/>
                </a:solidFill>
                <a:latin typeface="Calibri" pitchFamily="34" charset="0"/>
                <a:ea typeface="Calibri" pitchFamily="34" charset="-122"/>
                <a:cs typeface="Calibri" pitchFamily="34" charset="-120"/>
              </a:rPr>
              <a:t>Actividad práctica</a:t>
            </a:r>
            <a:endParaRPr lang="en-US" sz="1550" dirty="0"/>
          </a:p>
        </p:txBody>
      </p:sp>
      <p:sp>
        <p:nvSpPr>
          <p:cNvPr id="19" name="Text 17"/>
          <p:cNvSpPr/>
          <p:nvPr/>
        </p:nvSpPr>
        <p:spPr>
          <a:xfrm>
            <a:off x="6446520" y="5212080"/>
            <a:ext cx="4800600" cy="640080"/>
          </a:xfrm>
          <a:prstGeom prst="rect">
            <a:avLst/>
          </a:prstGeom>
          <a:noFill/>
          <a:ln/>
        </p:spPr>
        <p:txBody>
          <a:bodyPr wrap="square" rtlCol="0" anchor="t"/>
          <a:lstStyle/>
          <a:p>
            <a:pPr indent="0" marL="0">
              <a:buNone/>
            </a:pPr>
            <a:r>
              <a:rPr lang="en-US" sz="1150" dirty="0">
                <a:solidFill>
                  <a:srgbClr val="5B6472"/>
                </a:solidFill>
                <a:latin typeface="Calibri" pitchFamily="34" charset="0"/>
                <a:ea typeface="Calibri" pitchFamily="34" charset="-122"/>
                <a:cs typeface="Calibri" pitchFamily="34" charset="-120"/>
              </a:rPr>
              <a:t>Instalación del entorno y primer programa en Python</a:t>
            </a:r>
            <a:endParaRPr lang="en-US" sz="1150" dirty="0"/>
          </a:p>
        </p:txBody>
      </p:sp>
      <p:sp>
        <p:nvSpPr>
          <p:cNvPr id="20" name="Text 18"/>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PROGRAMACIÓN II · UAI · Unidad 1 · Clase 1</a:t>
            </a:r>
            <a:endParaRPr lang="en-US" sz="900" dirty="0"/>
          </a:p>
        </p:txBody>
      </p:sp>
      <p:sp>
        <p:nvSpPr>
          <p:cNvPr id="21" name="Text 1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MATERIAL DE ESTUDIO · 1 DE 12</a:t>
            </a:r>
            <a:endParaRPr lang="en-US" sz="1300" dirty="0"/>
          </a:p>
        </p:txBody>
      </p:sp>
      <p:sp>
        <p:nvSpPr>
          <p:cNvPr id="3" name="Text 1"/>
          <p:cNvSpPr/>
          <p:nvPr/>
        </p:nvSpPr>
        <p:spPr>
          <a:xfrm>
            <a:off x="640080" y="777240"/>
            <a:ext cx="10881360" cy="731520"/>
          </a:xfrm>
          <a:prstGeom prst="rect">
            <a:avLst/>
          </a:prstGeom>
          <a:noFill/>
          <a:ln/>
        </p:spPr>
        <p:txBody>
          <a:bodyPr wrap="square" rtlCol="0" anchor="ctr"/>
          <a:lstStyle/>
          <a:p>
            <a:pPr indent="0" marL="0">
              <a:buNone/>
            </a:pPr>
            <a:r>
              <a:rPr lang="en-US" sz="2800" b="1" dirty="0">
                <a:solidFill>
                  <a:srgbClr val="1C1F26"/>
                </a:solidFill>
                <a:latin typeface="Calibri" pitchFamily="34" charset="0"/>
                <a:ea typeface="Calibri" pitchFamily="34" charset="-122"/>
                <a:cs typeface="Calibri" pitchFamily="34" charset="-120"/>
              </a:rPr>
              <a:t>¿Qué es el software?</a:t>
            </a:r>
            <a:endParaRPr lang="en-US" sz="2800" dirty="0"/>
          </a:p>
        </p:txBody>
      </p:sp>
      <p:sp>
        <p:nvSpPr>
          <p:cNvPr id="4" name="Text 2"/>
          <p:cNvSpPr/>
          <p:nvPr/>
        </p:nvSpPr>
        <p:spPr>
          <a:xfrm>
            <a:off x="640080" y="1691640"/>
            <a:ext cx="10881360" cy="822960"/>
          </a:xfrm>
          <a:prstGeom prst="rect">
            <a:avLst/>
          </a:prstGeom>
          <a:noFill/>
          <a:ln/>
        </p:spPr>
        <p:txBody>
          <a:bodyPr wrap="square" rtlCol="0" anchor="ctr"/>
          <a:lstStyle/>
          <a:p>
            <a:pPr indent="0" marL="0">
              <a:lnSpc>
                <a:spcPct val="125000"/>
              </a:lnSpc>
              <a:buNone/>
            </a:pPr>
            <a:r>
              <a:rPr lang="en-US" sz="1450" dirty="0">
                <a:solidFill>
                  <a:srgbClr val="1C1F26"/>
                </a:solidFill>
                <a:latin typeface="Calibri" pitchFamily="34" charset="0"/>
                <a:ea typeface="Calibri" pitchFamily="34" charset="-122"/>
                <a:cs typeface="Calibri" pitchFamily="34" charset="-120"/>
              </a:rPr>
              <a:t>Es el conjunto de instrucciones, datos y documentación que le indican a una computadora cómo realizar una tarea. A diferencia del hardware, no es un componente físico: es lógica ejecutable.</a:t>
            </a:r>
            <a:endParaRPr lang="en-US" sz="1450" dirty="0"/>
          </a:p>
        </p:txBody>
      </p:sp>
      <p:sp>
        <p:nvSpPr>
          <p:cNvPr id="5" name="Shape 3"/>
          <p:cNvSpPr/>
          <p:nvPr/>
        </p:nvSpPr>
        <p:spPr>
          <a:xfrm>
            <a:off x="640080" y="2743200"/>
            <a:ext cx="3520440" cy="3200400"/>
          </a:xfrm>
          <a:prstGeom prst="roundRect">
            <a:avLst>
              <a:gd name="adj" fmla="val 2571"/>
            </a:avLst>
          </a:prstGeom>
          <a:solidFill>
            <a:srgbClr val="F4F5F7"/>
          </a:solidFill>
          <a:ln w="12700">
            <a:solidFill>
              <a:srgbClr val="E1E4E9"/>
            </a:solidFill>
            <a:prstDash val="solid"/>
          </a:ln>
        </p:spPr>
        <p:txBody>
          <a:bodyPr/>
          <a:p/>
        </p:txBody>
      </p:sp>
      <p:sp>
        <p:nvSpPr>
          <p:cNvPr id="6" name="Text 4"/>
          <p:cNvSpPr/>
          <p:nvPr/>
        </p:nvSpPr>
        <p:spPr>
          <a:xfrm>
            <a:off x="868680" y="2971800"/>
            <a:ext cx="3063240" cy="640080"/>
          </a:xfrm>
          <a:prstGeom prst="rect">
            <a:avLst/>
          </a:prstGeom>
          <a:noFill/>
          <a:ln/>
        </p:spPr>
        <p:txBody>
          <a:bodyPr wrap="square" rtlCol="0" anchor="t"/>
          <a:lstStyle/>
          <a:p>
            <a:pPr indent="0" marL="0">
              <a:buNone/>
            </a:pPr>
            <a:r>
              <a:rPr lang="en-US" sz="1500" b="1" dirty="0">
                <a:solidFill>
                  <a:srgbClr val="16233F"/>
                </a:solidFill>
                <a:latin typeface="Calibri" pitchFamily="34" charset="0"/>
                <a:ea typeface="Calibri" pitchFamily="34" charset="-122"/>
                <a:cs typeface="Calibri" pitchFamily="34" charset="-120"/>
              </a:rPr>
              <a:t>Software de sistema</a:t>
            </a:r>
            <a:endParaRPr lang="en-US" sz="1500" dirty="0"/>
          </a:p>
        </p:txBody>
      </p:sp>
      <p:sp>
        <p:nvSpPr>
          <p:cNvPr id="7" name="Text 5"/>
          <p:cNvSpPr/>
          <p:nvPr/>
        </p:nvSpPr>
        <p:spPr>
          <a:xfrm>
            <a:off x="868680" y="3611880"/>
            <a:ext cx="3063240" cy="685800"/>
          </a:xfrm>
          <a:prstGeom prst="rect">
            <a:avLst/>
          </a:prstGeom>
          <a:noFill/>
          <a:ln/>
        </p:spPr>
        <p:txBody>
          <a:bodyPr wrap="square" rtlCol="0" anchor="t"/>
          <a:lstStyle/>
          <a:p>
            <a:pPr indent="0" marL="0">
              <a:lnSpc>
                <a:spcPct val="120000"/>
              </a:lnSpc>
              <a:buNone/>
            </a:pPr>
            <a:r>
              <a:rPr lang="en-US" sz="1200" dirty="0">
                <a:solidFill>
                  <a:srgbClr val="5B6472"/>
                </a:solidFill>
                <a:latin typeface="Calibri" pitchFamily="34" charset="0"/>
                <a:ea typeface="Calibri" pitchFamily="34" charset="-122"/>
                <a:cs typeface="Calibri" pitchFamily="34" charset="-120"/>
              </a:rPr>
              <a:t>Administra los recursos del hardware y sirve de base al resto de los programas.</a:t>
            </a:r>
            <a:endParaRPr lang="en-US" sz="1200" dirty="0"/>
          </a:p>
        </p:txBody>
      </p:sp>
      <p:sp>
        <p:nvSpPr>
          <p:cNvPr id="8" name="Shape 6"/>
          <p:cNvSpPr/>
          <p:nvPr/>
        </p:nvSpPr>
        <p:spPr>
          <a:xfrm>
            <a:off x="868680" y="4389120"/>
            <a:ext cx="3063240" cy="0"/>
          </a:xfrm>
          <a:prstGeom prst="line">
            <a:avLst/>
          </a:prstGeom>
          <a:noFill/>
          <a:ln w="12700">
            <a:solidFill>
              <a:srgbClr val="E1E4E9"/>
            </a:solidFill>
            <a:prstDash val="solid"/>
          </a:ln>
        </p:spPr>
        <p:txBody>
          <a:bodyPr/>
          <a:p/>
        </p:txBody>
      </p:sp>
      <p:sp>
        <p:nvSpPr>
          <p:cNvPr id="9" name="Text 7"/>
          <p:cNvSpPr/>
          <p:nvPr/>
        </p:nvSpPr>
        <p:spPr>
          <a:xfrm>
            <a:off x="868680" y="4480560"/>
            <a:ext cx="3063240" cy="228600"/>
          </a:xfrm>
          <a:prstGeom prst="rect">
            <a:avLst/>
          </a:prstGeom>
          <a:noFill/>
          <a:ln/>
        </p:spPr>
        <p:txBody>
          <a:bodyPr wrap="square" rtlCol="0" anchor="ctr"/>
          <a:lstStyle/>
          <a:p>
            <a:pPr indent="0" marL="0">
              <a:buNone/>
            </a:pPr>
            <a:r>
              <a:rPr lang="en-US" sz="900" b="1" spc="100" kern="0" dirty="0">
                <a:solidFill>
                  <a:srgbClr val="5B6472"/>
                </a:solidFill>
                <a:latin typeface="Calibri" pitchFamily="34" charset="0"/>
                <a:ea typeface="Calibri" pitchFamily="34" charset="-122"/>
                <a:cs typeface="Calibri" pitchFamily="34" charset="-120"/>
              </a:rPr>
              <a:t>EJEMPLOS</a:t>
            </a:r>
            <a:endParaRPr lang="en-US" sz="900" dirty="0"/>
          </a:p>
        </p:txBody>
      </p:sp>
      <p:sp>
        <p:nvSpPr>
          <p:cNvPr id="10" name="Text 8"/>
          <p:cNvSpPr/>
          <p:nvPr/>
        </p:nvSpPr>
        <p:spPr>
          <a:xfrm>
            <a:off x="868680" y="5349240"/>
            <a:ext cx="3063240" cy="457200"/>
          </a:xfrm>
          <a:prstGeom prst="rect">
            <a:avLst/>
          </a:prstGeom>
          <a:noFill/>
          <a:ln/>
        </p:spPr>
        <p:txBody>
          <a:bodyPr wrap="square" rtlCol="0" anchor="ctr"/>
          <a:lstStyle/>
          <a:p>
            <a:pPr indent="0" marL="0" algn="ctr">
              <a:buNone/>
            </a:pPr>
            <a:r>
              <a:rPr lang="en-US" sz="1100" dirty="0">
                <a:solidFill>
                  <a:srgbClr val="1C1F26"/>
                </a:solidFill>
                <a:latin typeface="Calibri" pitchFamily="34" charset="0"/>
                <a:ea typeface="Calibri" pitchFamily="34" charset="-122"/>
                <a:cs typeface="Calibri" pitchFamily="34" charset="-120"/>
              </a:rPr>
              <a:t>Sistemas operativos, drivers, firmware</a:t>
            </a:r>
            <a:endParaRPr lang="en-US" sz="1100" dirty="0"/>
          </a:p>
        </p:txBody>
      </p:sp>
      <p:sp>
        <p:nvSpPr>
          <p:cNvPr id="11" name="Shape 9"/>
          <p:cNvSpPr/>
          <p:nvPr/>
        </p:nvSpPr>
        <p:spPr>
          <a:xfrm>
            <a:off x="4416552" y="2743200"/>
            <a:ext cx="3520440" cy="3200400"/>
          </a:xfrm>
          <a:prstGeom prst="roundRect">
            <a:avLst>
              <a:gd name="adj" fmla="val 2571"/>
            </a:avLst>
          </a:prstGeom>
          <a:solidFill>
            <a:srgbClr val="F4F5F7"/>
          </a:solidFill>
          <a:ln w="12700">
            <a:solidFill>
              <a:srgbClr val="E1E4E9"/>
            </a:solidFill>
            <a:prstDash val="solid"/>
          </a:ln>
        </p:spPr>
        <p:txBody>
          <a:bodyPr/>
          <a:p/>
        </p:txBody>
      </p:sp>
      <p:sp>
        <p:nvSpPr>
          <p:cNvPr id="12" name="Text 10"/>
          <p:cNvSpPr/>
          <p:nvPr/>
        </p:nvSpPr>
        <p:spPr>
          <a:xfrm>
            <a:off x="4645152" y="2971800"/>
            <a:ext cx="3063240" cy="640080"/>
          </a:xfrm>
          <a:prstGeom prst="rect">
            <a:avLst/>
          </a:prstGeom>
          <a:noFill/>
          <a:ln/>
        </p:spPr>
        <p:txBody>
          <a:bodyPr wrap="square" rtlCol="0" anchor="t"/>
          <a:lstStyle/>
          <a:p>
            <a:pPr indent="0" marL="0">
              <a:buNone/>
            </a:pPr>
            <a:r>
              <a:rPr lang="en-US" sz="1500" b="1" dirty="0">
                <a:solidFill>
                  <a:srgbClr val="16233F"/>
                </a:solidFill>
                <a:latin typeface="Calibri" pitchFamily="34" charset="0"/>
                <a:ea typeface="Calibri" pitchFamily="34" charset="-122"/>
                <a:cs typeface="Calibri" pitchFamily="34" charset="-120"/>
              </a:rPr>
              <a:t>Software de aplicación</a:t>
            </a:r>
            <a:endParaRPr lang="en-US" sz="1500" dirty="0"/>
          </a:p>
        </p:txBody>
      </p:sp>
      <p:sp>
        <p:nvSpPr>
          <p:cNvPr id="13" name="Text 11"/>
          <p:cNvSpPr/>
          <p:nvPr/>
        </p:nvSpPr>
        <p:spPr>
          <a:xfrm>
            <a:off x="4645152" y="3611880"/>
            <a:ext cx="3063240" cy="685800"/>
          </a:xfrm>
          <a:prstGeom prst="rect">
            <a:avLst/>
          </a:prstGeom>
          <a:noFill/>
          <a:ln/>
        </p:spPr>
        <p:txBody>
          <a:bodyPr wrap="square" rtlCol="0" anchor="t"/>
          <a:lstStyle/>
          <a:p>
            <a:pPr indent="0" marL="0">
              <a:lnSpc>
                <a:spcPct val="120000"/>
              </a:lnSpc>
              <a:buNone/>
            </a:pPr>
            <a:r>
              <a:rPr lang="en-US" sz="1200" dirty="0">
                <a:solidFill>
                  <a:srgbClr val="5B6472"/>
                </a:solidFill>
                <a:latin typeface="Calibri" pitchFamily="34" charset="0"/>
                <a:ea typeface="Calibri" pitchFamily="34" charset="-122"/>
                <a:cs typeface="Calibri" pitchFamily="34" charset="-120"/>
              </a:rPr>
              <a:t>Resuelve tareas concretas para el usuario final.</a:t>
            </a:r>
            <a:endParaRPr lang="en-US" sz="1200" dirty="0"/>
          </a:p>
        </p:txBody>
      </p:sp>
      <p:sp>
        <p:nvSpPr>
          <p:cNvPr id="14" name="Shape 12"/>
          <p:cNvSpPr/>
          <p:nvPr/>
        </p:nvSpPr>
        <p:spPr>
          <a:xfrm>
            <a:off x="4645152" y="4389120"/>
            <a:ext cx="3063240" cy="0"/>
          </a:xfrm>
          <a:prstGeom prst="line">
            <a:avLst/>
          </a:prstGeom>
          <a:noFill/>
          <a:ln w="12700">
            <a:solidFill>
              <a:srgbClr val="E1E4E9"/>
            </a:solidFill>
            <a:prstDash val="solid"/>
          </a:ln>
        </p:spPr>
        <p:txBody>
          <a:bodyPr/>
          <a:p/>
        </p:txBody>
      </p:sp>
      <p:sp>
        <p:nvSpPr>
          <p:cNvPr id="15" name="Text 13"/>
          <p:cNvSpPr/>
          <p:nvPr/>
        </p:nvSpPr>
        <p:spPr>
          <a:xfrm>
            <a:off x="4645152" y="4480560"/>
            <a:ext cx="3063240" cy="228600"/>
          </a:xfrm>
          <a:prstGeom prst="rect">
            <a:avLst/>
          </a:prstGeom>
          <a:noFill/>
          <a:ln/>
        </p:spPr>
        <p:txBody>
          <a:bodyPr wrap="square" rtlCol="0" anchor="ctr"/>
          <a:lstStyle/>
          <a:p>
            <a:pPr indent="0" marL="0">
              <a:buNone/>
            </a:pPr>
            <a:r>
              <a:rPr lang="en-US" sz="900" b="1" spc="100" kern="0" dirty="0">
                <a:solidFill>
                  <a:srgbClr val="5B6472"/>
                </a:solidFill>
                <a:latin typeface="Calibri" pitchFamily="34" charset="0"/>
                <a:ea typeface="Calibri" pitchFamily="34" charset="-122"/>
                <a:cs typeface="Calibri" pitchFamily="34" charset="-120"/>
              </a:rPr>
              <a:t>EJEMPLOS</a:t>
            </a:r>
            <a:endParaRPr lang="en-US" sz="900" dirty="0"/>
          </a:p>
        </p:txBody>
      </p:sp>
      <p:sp>
        <p:nvSpPr>
          <p:cNvPr id="16" name="Text 14"/>
          <p:cNvSpPr/>
          <p:nvPr/>
        </p:nvSpPr>
        <p:spPr>
          <a:xfrm>
            <a:off x="4645152" y="5349240"/>
            <a:ext cx="3063240" cy="457200"/>
          </a:xfrm>
          <a:prstGeom prst="rect">
            <a:avLst/>
          </a:prstGeom>
          <a:noFill/>
          <a:ln/>
        </p:spPr>
        <p:txBody>
          <a:bodyPr wrap="square" rtlCol="0" anchor="ctr"/>
          <a:lstStyle/>
          <a:p>
            <a:pPr indent="0" marL="0" algn="ctr">
              <a:buNone/>
            </a:pPr>
            <a:r>
              <a:rPr lang="en-US" sz="1100" dirty="0">
                <a:solidFill>
                  <a:srgbClr val="1C1F26"/>
                </a:solidFill>
                <a:latin typeface="Calibri" pitchFamily="34" charset="0"/>
                <a:ea typeface="Calibri" pitchFamily="34" charset="-122"/>
                <a:cs typeface="Calibri" pitchFamily="34" charset="-120"/>
              </a:rPr>
              <a:t>Editores de texto, planillas, videojuegos</a:t>
            </a:r>
            <a:endParaRPr lang="en-US" sz="1100" dirty="0"/>
          </a:p>
        </p:txBody>
      </p:sp>
      <p:sp>
        <p:nvSpPr>
          <p:cNvPr id="17" name="Shape 15"/>
          <p:cNvSpPr/>
          <p:nvPr/>
        </p:nvSpPr>
        <p:spPr>
          <a:xfrm>
            <a:off x="8193024" y="2743200"/>
            <a:ext cx="3520440" cy="3200400"/>
          </a:xfrm>
          <a:prstGeom prst="roundRect">
            <a:avLst>
              <a:gd name="adj" fmla="val 2571"/>
            </a:avLst>
          </a:prstGeom>
          <a:solidFill>
            <a:srgbClr val="16233F"/>
          </a:solidFill>
          <a:ln/>
        </p:spPr>
        <p:txBody>
          <a:bodyPr/>
          <a:p/>
        </p:txBody>
      </p:sp>
      <p:sp>
        <p:nvSpPr>
          <p:cNvPr id="18" name="Text 16"/>
          <p:cNvSpPr/>
          <p:nvPr/>
        </p:nvSpPr>
        <p:spPr>
          <a:xfrm>
            <a:off x="8421624" y="2971800"/>
            <a:ext cx="3063240" cy="640080"/>
          </a:xfrm>
          <a:prstGeom prst="rect">
            <a:avLst/>
          </a:prstGeom>
          <a:noFill/>
          <a:ln/>
        </p:spPr>
        <p:txBody>
          <a:bodyPr wrap="square" rtlCol="0" anchor="t"/>
          <a:lstStyle/>
          <a:p>
            <a:pPr indent="0" marL="0">
              <a:buNone/>
            </a:pPr>
            <a:r>
              <a:rPr lang="en-US" sz="1500" b="1" dirty="0">
                <a:solidFill>
                  <a:srgbClr val="C9A24B"/>
                </a:solidFill>
                <a:latin typeface="Calibri" pitchFamily="34" charset="0"/>
                <a:ea typeface="Calibri" pitchFamily="34" charset="-122"/>
                <a:cs typeface="Calibri" pitchFamily="34" charset="-120"/>
              </a:rPr>
              <a:t>Software de programación</a:t>
            </a:r>
            <a:endParaRPr lang="en-US" sz="1500" dirty="0"/>
          </a:p>
        </p:txBody>
      </p:sp>
      <p:sp>
        <p:nvSpPr>
          <p:cNvPr id="19" name="Text 17"/>
          <p:cNvSpPr/>
          <p:nvPr/>
        </p:nvSpPr>
        <p:spPr>
          <a:xfrm>
            <a:off x="8421624" y="3611880"/>
            <a:ext cx="3063240" cy="685800"/>
          </a:xfrm>
          <a:prstGeom prst="rect">
            <a:avLst/>
          </a:prstGeom>
          <a:noFill/>
          <a:ln/>
        </p:spPr>
        <p:txBody>
          <a:bodyPr wrap="square" rtlCol="0" anchor="t"/>
          <a:lstStyle/>
          <a:p>
            <a:pPr indent="0" marL="0">
              <a:lnSpc>
                <a:spcPct val="120000"/>
              </a:lnSpc>
              <a:buNone/>
            </a:pPr>
            <a:r>
              <a:rPr lang="en-US" sz="1200" dirty="0">
                <a:solidFill>
                  <a:srgbClr val="E6E9EF"/>
                </a:solidFill>
                <a:latin typeface="Calibri" pitchFamily="34" charset="0"/>
                <a:ea typeface="Calibri" pitchFamily="34" charset="-122"/>
                <a:cs typeface="Calibri" pitchFamily="34" charset="-120"/>
              </a:rPr>
              <a:t>Herramientas para crear otro software.</a:t>
            </a:r>
            <a:endParaRPr lang="en-US" sz="1200" dirty="0"/>
          </a:p>
        </p:txBody>
      </p:sp>
      <p:sp>
        <p:nvSpPr>
          <p:cNvPr id="20" name="Shape 18"/>
          <p:cNvSpPr/>
          <p:nvPr/>
        </p:nvSpPr>
        <p:spPr>
          <a:xfrm>
            <a:off x="8421624" y="4389120"/>
            <a:ext cx="3063240" cy="0"/>
          </a:xfrm>
          <a:prstGeom prst="line">
            <a:avLst/>
          </a:prstGeom>
          <a:noFill/>
          <a:ln w="12700">
            <a:solidFill>
              <a:srgbClr val="3A4A6C"/>
            </a:solidFill>
            <a:prstDash val="solid"/>
          </a:ln>
        </p:spPr>
        <p:txBody>
          <a:bodyPr/>
          <a:p/>
        </p:txBody>
      </p:sp>
      <p:sp>
        <p:nvSpPr>
          <p:cNvPr id="21" name="Text 19"/>
          <p:cNvSpPr/>
          <p:nvPr/>
        </p:nvSpPr>
        <p:spPr>
          <a:xfrm>
            <a:off x="8421624" y="4480560"/>
            <a:ext cx="3063240" cy="228600"/>
          </a:xfrm>
          <a:prstGeom prst="rect">
            <a:avLst/>
          </a:prstGeom>
          <a:noFill/>
          <a:ln/>
        </p:spPr>
        <p:txBody>
          <a:bodyPr wrap="square" rtlCol="0" anchor="ctr"/>
          <a:lstStyle/>
          <a:p>
            <a:pPr indent="0" marL="0">
              <a:buNone/>
            </a:pPr>
            <a:r>
              <a:rPr lang="en-US" sz="900" b="1" spc="100" kern="0" dirty="0">
                <a:solidFill>
                  <a:srgbClr val="8F97A8"/>
                </a:solidFill>
                <a:latin typeface="Calibri" pitchFamily="34" charset="0"/>
                <a:ea typeface="Calibri" pitchFamily="34" charset="-122"/>
                <a:cs typeface="Calibri" pitchFamily="34" charset="-120"/>
              </a:rPr>
              <a:t>EJEMPLOS</a:t>
            </a:r>
            <a:endParaRPr lang="en-US" sz="900" dirty="0"/>
          </a:p>
        </p:txBody>
      </p:sp>
      <p:sp>
        <p:nvSpPr>
          <p:cNvPr id="22" name="Text 20"/>
          <p:cNvSpPr/>
          <p:nvPr/>
        </p:nvSpPr>
        <p:spPr>
          <a:xfrm>
            <a:off x="8421624" y="5349240"/>
            <a:ext cx="3063240" cy="457200"/>
          </a:xfrm>
          <a:prstGeom prst="rect">
            <a:avLst/>
          </a:prstGeom>
          <a:noFill/>
          <a:ln/>
        </p:spPr>
        <p:txBody>
          <a:bodyPr wrap="square" rtlCol="0" anchor="ctr"/>
          <a:lstStyle/>
          <a:p>
            <a:pPr indent="0" marL="0" algn="ctr">
              <a:buNone/>
            </a:pPr>
            <a:r>
              <a:rPr lang="en-US" sz="1100" dirty="0">
                <a:solidFill>
                  <a:srgbClr val="FFFFFF"/>
                </a:solidFill>
                <a:latin typeface="Calibri" pitchFamily="34" charset="0"/>
                <a:ea typeface="Calibri" pitchFamily="34" charset="-122"/>
                <a:cs typeface="Calibri" pitchFamily="34" charset="-120"/>
              </a:rPr>
              <a:t>Compiladores, intérpretes, IDEs</a:t>
            </a:r>
            <a:endParaRPr lang="en-US" sz="1100" dirty="0"/>
          </a:p>
        </p:txBody>
      </p:sp>
      <p:sp>
        <p:nvSpPr>
          <p:cNvPr id="23" name="Text 21"/>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PROGRAMACIÓN II · UAI · Unidad 1 · Clase 1</a:t>
            </a:r>
            <a:endParaRPr lang="en-US" sz="900" dirty="0"/>
          </a:p>
        </p:txBody>
      </p:sp>
      <p:sp>
        <p:nvSpPr>
          <p:cNvPr id="24" name="Text 22"/>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pic>
        <p:nvPicPr>
          <p:cNvPr id="25" name="Picture 24" descr="windows.png"/>
          <p:cNvPicPr>
            <a:picLocks noChangeAspect="1"/>
          </p:cNvPicPr>
          <p:nvPr/>
        </p:nvPicPr>
        <p:blipFill>
          <a:blip r:embed="rId3"/>
          <a:stretch>
            <a:fillRect/>
          </a:stretch>
        </p:blipFill>
        <p:spPr>
          <a:xfrm>
            <a:off x="1277874" y="4754880"/>
            <a:ext cx="475488" cy="475488"/>
          </a:xfrm>
          <a:prstGeom prst="rect">
            <a:avLst/>
          </a:prstGeom>
        </p:spPr>
      </p:pic>
      <p:pic>
        <p:nvPicPr>
          <p:cNvPr id="26" name="Picture 25" descr="linux.png"/>
          <p:cNvPicPr>
            <a:picLocks noChangeAspect="1"/>
          </p:cNvPicPr>
          <p:nvPr/>
        </p:nvPicPr>
        <p:blipFill>
          <a:blip r:embed="rId4"/>
          <a:stretch>
            <a:fillRect/>
          </a:stretch>
        </p:blipFill>
        <p:spPr>
          <a:xfrm>
            <a:off x="2162556" y="4754880"/>
            <a:ext cx="475488" cy="475488"/>
          </a:xfrm>
          <a:prstGeom prst="rect">
            <a:avLst/>
          </a:prstGeom>
        </p:spPr>
      </p:pic>
      <p:pic>
        <p:nvPicPr>
          <p:cNvPr id="27" name="Picture 26" descr="apple.png"/>
          <p:cNvPicPr>
            <a:picLocks noChangeAspect="1"/>
          </p:cNvPicPr>
          <p:nvPr/>
        </p:nvPicPr>
        <p:blipFill>
          <a:blip r:embed="rId5"/>
          <a:stretch>
            <a:fillRect/>
          </a:stretch>
        </p:blipFill>
        <p:spPr>
          <a:xfrm>
            <a:off x="3047238" y="4754880"/>
            <a:ext cx="475488" cy="475488"/>
          </a:xfrm>
          <a:prstGeom prst="rect">
            <a:avLst/>
          </a:prstGeom>
        </p:spPr>
      </p:pic>
      <p:pic>
        <p:nvPicPr>
          <p:cNvPr id="28" name="Picture 27" descr="word.png"/>
          <p:cNvPicPr>
            <a:picLocks noChangeAspect="1"/>
          </p:cNvPicPr>
          <p:nvPr/>
        </p:nvPicPr>
        <p:blipFill>
          <a:blip r:embed="rId6"/>
          <a:stretch>
            <a:fillRect/>
          </a:stretch>
        </p:blipFill>
        <p:spPr>
          <a:xfrm>
            <a:off x="5054346" y="4754880"/>
            <a:ext cx="475488" cy="475488"/>
          </a:xfrm>
          <a:prstGeom prst="rect">
            <a:avLst/>
          </a:prstGeom>
        </p:spPr>
      </p:pic>
      <p:pic>
        <p:nvPicPr>
          <p:cNvPr id="29" name="Picture 28" descr="excel.png"/>
          <p:cNvPicPr>
            <a:picLocks noChangeAspect="1"/>
          </p:cNvPicPr>
          <p:nvPr/>
        </p:nvPicPr>
        <p:blipFill>
          <a:blip r:embed="rId7"/>
          <a:stretch>
            <a:fillRect/>
          </a:stretch>
        </p:blipFill>
        <p:spPr>
          <a:xfrm>
            <a:off x="5939028" y="4754880"/>
            <a:ext cx="475488" cy="475488"/>
          </a:xfrm>
          <a:prstGeom prst="rect">
            <a:avLst/>
          </a:prstGeom>
        </p:spPr>
      </p:pic>
      <p:pic>
        <p:nvPicPr>
          <p:cNvPr id="30" name="Picture 29" descr="gamepad.png"/>
          <p:cNvPicPr>
            <a:picLocks noChangeAspect="1"/>
          </p:cNvPicPr>
          <p:nvPr/>
        </p:nvPicPr>
        <p:blipFill>
          <a:blip r:embed="rId8"/>
          <a:stretch>
            <a:fillRect/>
          </a:stretch>
        </p:blipFill>
        <p:spPr>
          <a:xfrm>
            <a:off x="6823710" y="4754880"/>
            <a:ext cx="475488" cy="475488"/>
          </a:xfrm>
          <a:prstGeom prst="rect">
            <a:avLst/>
          </a:prstGeom>
        </p:spPr>
      </p:pic>
      <p:pic>
        <p:nvPicPr>
          <p:cNvPr id="31" name="Picture 30" descr="terminal.png"/>
          <p:cNvPicPr>
            <a:picLocks noChangeAspect="1"/>
          </p:cNvPicPr>
          <p:nvPr/>
        </p:nvPicPr>
        <p:blipFill>
          <a:blip r:embed="rId9"/>
          <a:stretch>
            <a:fillRect/>
          </a:stretch>
        </p:blipFill>
        <p:spPr>
          <a:xfrm>
            <a:off x="8830818" y="4754880"/>
            <a:ext cx="475488" cy="475488"/>
          </a:xfrm>
          <a:prstGeom prst="rect">
            <a:avLst/>
          </a:prstGeom>
        </p:spPr>
      </p:pic>
      <p:pic>
        <p:nvPicPr>
          <p:cNvPr id="32" name="Picture 31" descr="python.png"/>
          <p:cNvPicPr>
            <a:picLocks noChangeAspect="1"/>
          </p:cNvPicPr>
          <p:nvPr/>
        </p:nvPicPr>
        <p:blipFill>
          <a:blip r:embed="rId10"/>
          <a:stretch>
            <a:fillRect/>
          </a:stretch>
        </p:blipFill>
        <p:spPr>
          <a:xfrm>
            <a:off x="9715500" y="4754880"/>
            <a:ext cx="475488" cy="475488"/>
          </a:xfrm>
          <a:prstGeom prst="rect">
            <a:avLst/>
          </a:prstGeom>
        </p:spPr>
      </p:pic>
      <p:pic>
        <p:nvPicPr>
          <p:cNvPr id="33" name="Picture 32" descr="code.png"/>
          <p:cNvPicPr>
            <a:picLocks noChangeAspect="1"/>
          </p:cNvPicPr>
          <p:nvPr/>
        </p:nvPicPr>
        <p:blipFill>
          <a:blip r:embed="rId11"/>
          <a:stretch>
            <a:fillRect/>
          </a:stretch>
        </p:blipFill>
        <p:spPr>
          <a:xfrm>
            <a:off x="10600182" y="4754880"/>
            <a:ext cx="475488" cy="4754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MATERIAL DE ESTUDIO · 2 DE 12</a:t>
            </a:r>
            <a:endParaRPr lang="en-US" sz="1300" dirty="0"/>
          </a:p>
        </p:txBody>
      </p:sp>
      <p:sp>
        <p:nvSpPr>
          <p:cNvPr id="3" name="Text 1"/>
          <p:cNvSpPr/>
          <p:nvPr/>
        </p:nvSpPr>
        <p:spPr>
          <a:xfrm>
            <a:off x="640080" y="777240"/>
            <a:ext cx="10881360" cy="731520"/>
          </a:xfrm>
          <a:prstGeom prst="rect">
            <a:avLst/>
          </a:prstGeom>
          <a:noFill/>
          <a:ln/>
        </p:spPr>
        <p:txBody>
          <a:bodyPr wrap="square" rtlCol="0" anchor="ctr"/>
          <a:lstStyle/>
          <a:p>
            <a:pPr indent="0" marL="0">
              <a:buNone/>
            </a:pPr>
            <a:r>
              <a:rPr lang="en-US" sz="2800" b="1" dirty="0">
                <a:solidFill>
                  <a:srgbClr val="1C1F26"/>
                </a:solidFill>
                <a:latin typeface="Calibri" pitchFamily="34" charset="0"/>
                <a:ea typeface="Calibri" pitchFamily="34" charset="-122"/>
                <a:cs typeface="Calibri" pitchFamily="34" charset="-120"/>
              </a:rPr>
              <a:t>Entorno Integrado de Desarrollo (IDE)</a:t>
            </a:r>
            <a:endParaRPr lang="en-US" sz="2800" dirty="0"/>
          </a:p>
        </p:txBody>
      </p:sp>
      <p:sp>
        <p:nvSpPr>
          <p:cNvPr id="4" name="Text 2"/>
          <p:cNvSpPr/>
          <p:nvPr/>
        </p:nvSpPr>
        <p:spPr>
          <a:xfrm>
            <a:off x="640080" y="1691640"/>
            <a:ext cx="5120640" cy="1188720"/>
          </a:xfrm>
          <a:prstGeom prst="rect">
            <a:avLst/>
          </a:prstGeom>
          <a:noFill/>
          <a:ln/>
        </p:spPr>
        <p:txBody>
          <a:bodyPr wrap="square" rtlCol="0" anchor="t"/>
          <a:lstStyle/>
          <a:p>
            <a:pPr indent="0" marL="0">
              <a:lnSpc>
                <a:spcPct val="125000"/>
              </a:lnSpc>
              <a:buNone/>
            </a:pPr>
            <a:r>
              <a:rPr lang="en-US" sz="1400" dirty="0">
                <a:solidFill>
                  <a:srgbClr val="1C1F26"/>
                </a:solidFill>
                <a:latin typeface="Calibri" pitchFamily="34" charset="0"/>
                <a:ea typeface="Calibri" pitchFamily="34" charset="-122"/>
                <a:cs typeface="Calibri" pitchFamily="34" charset="-120"/>
              </a:rPr>
              <a:t>Un IDE reúne en una sola aplicación las herramientas necesarias para escribir, ejecutar y depurar código, evitando pasar por programas separados para cada tarea.</a:t>
            </a:r>
            <a:endParaRPr lang="en-US" sz="1400" dirty="0"/>
          </a:p>
        </p:txBody>
      </p:sp>
      <p:sp>
        <p:nvSpPr>
          <p:cNvPr id="5" name="Shape 3"/>
          <p:cNvSpPr/>
          <p:nvPr/>
        </p:nvSpPr>
        <p:spPr>
          <a:xfrm>
            <a:off x="640080" y="3054096"/>
            <a:ext cx="118872" cy="118872"/>
          </a:xfrm>
          <a:prstGeom prst="ellipse">
            <a:avLst/>
          </a:prstGeom>
          <a:solidFill>
            <a:srgbClr val="C9A24B"/>
          </a:solidFill>
          <a:ln/>
        </p:spPr>
        <p:txBody>
          <a:bodyPr/>
          <a:p/>
        </p:txBody>
      </p:sp>
      <p:sp>
        <p:nvSpPr>
          <p:cNvPr id="6" name="Text 4"/>
          <p:cNvSpPr/>
          <p:nvPr/>
        </p:nvSpPr>
        <p:spPr>
          <a:xfrm>
            <a:off x="914400" y="2971800"/>
            <a:ext cx="4846320" cy="475488"/>
          </a:xfrm>
          <a:prstGeom prst="rect">
            <a:avLst/>
          </a:prstGeom>
          <a:noFill/>
          <a:ln/>
        </p:spPr>
        <p:txBody>
          <a:bodyPr wrap="square" rtlCol="0" anchor="t"/>
          <a:lstStyle/>
          <a:p>
            <a:pPr indent="0" marL="0">
              <a:buNone/>
            </a:pPr>
            <a:r>
              <a:rPr lang="en-US" sz="1300" dirty="0">
                <a:solidFill>
                  <a:srgbClr val="1C1F26"/>
                </a:solidFill>
                <a:latin typeface="Calibri" pitchFamily="34" charset="0"/>
                <a:ea typeface="Calibri" pitchFamily="34" charset="-122"/>
                <a:cs typeface="Calibri" pitchFamily="34" charset="-120"/>
              </a:rPr>
              <a:t>Editor de código con resaltado de sintaxis</a:t>
            </a:r>
            <a:endParaRPr lang="en-US" sz="1300" dirty="0"/>
          </a:p>
        </p:txBody>
      </p:sp>
      <p:sp>
        <p:nvSpPr>
          <p:cNvPr id="7" name="Shape 5"/>
          <p:cNvSpPr/>
          <p:nvPr/>
        </p:nvSpPr>
        <p:spPr>
          <a:xfrm>
            <a:off x="640080" y="3529584"/>
            <a:ext cx="118872" cy="118872"/>
          </a:xfrm>
          <a:prstGeom prst="ellipse">
            <a:avLst/>
          </a:prstGeom>
          <a:solidFill>
            <a:srgbClr val="C9A24B"/>
          </a:solidFill>
          <a:ln/>
        </p:spPr>
        <p:txBody>
          <a:bodyPr/>
          <a:p/>
        </p:txBody>
      </p:sp>
      <p:sp>
        <p:nvSpPr>
          <p:cNvPr id="8" name="Text 6"/>
          <p:cNvSpPr/>
          <p:nvPr/>
        </p:nvSpPr>
        <p:spPr>
          <a:xfrm>
            <a:off x="914400" y="3447288"/>
            <a:ext cx="4846320" cy="475488"/>
          </a:xfrm>
          <a:prstGeom prst="rect">
            <a:avLst/>
          </a:prstGeom>
          <a:noFill/>
          <a:ln/>
        </p:spPr>
        <p:txBody>
          <a:bodyPr wrap="square" rtlCol="0" anchor="t"/>
          <a:lstStyle/>
          <a:p>
            <a:pPr indent="0" marL="0">
              <a:buNone/>
            </a:pPr>
            <a:r>
              <a:rPr lang="en-US" sz="1300" dirty="0">
                <a:solidFill>
                  <a:srgbClr val="1C1F26"/>
                </a:solidFill>
                <a:latin typeface="Calibri" pitchFamily="34" charset="0"/>
                <a:ea typeface="Calibri" pitchFamily="34" charset="-122"/>
                <a:cs typeface="Calibri" pitchFamily="34" charset="-120"/>
              </a:rPr>
              <a:t>Compilador / intérprete integrado</a:t>
            </a:r>
            <a:endParaRPr lang="en-US" sz="1300" dirty="0"/>
          </a:p>
        </p:txBody>
      </p:sp>
      <p:sp>
        <p:nvSpPr>
          <p:cNvPr id="9" name="Shape 7"/>
          <p:cNvSpPr/>
          <p:nvPr/>
        </p:nvSpPr>
        <p:spPr>
          <a:xfrm>
            <a:off x="640080" y="4005072"/>
            <a:ext cx="118872" cy="118872"/>
          </a:xfrm>
          <a:prstGeom prst="ellipse">
            <a:avLst/>
          </a:prstGeom>
          <a:solidFill>
            <a:srgbClr val="C9A24B"/>
          </a:solidFill>
          <a:ln/>
        </p:spPr>
        <p:txBody>
          <a:bodyPr/>
          <a:p/>
        </p:txBody>
      </p:sp>
      <p:sp>
        <p:nvSpPr>
          <p:cNvPr id="10" name="Text 8"/>
          <p:cNvSpPr/>
          <p:nvPr/>
        </p:nvSpPr>
        <p:spPr>
          <a:xfrm>
            <a:off x="914400" y="3922776"/>
            <a:ext cx="4846320" cy="475488"/>
          </a:xfrm>
          <a:prstGeom prst="rect">
            <a:avLst/>
          </a:prstGeom>
          <a:noFill/>
          <a:ln/>
        </p:spPr>
        <p:txBody>
          <a:bodyPr wrap="square" rtlCol="0" anchor="t"/>
          <a:lstStyle/>
          <a:p>
            <a:pPr indent="0" marL="0">
              <a:buNone/>
            </a:pPr>
            <a:r>
              <a:rPr lang="en-US" sz="1300" dirty="0">
                <a:solidFill>
                  <a:srgbClr val="1C1F26"/>
                </a:solidFill>
                <a:latin typeface="Calibri" pitchFamily="34" charset="0"/>
                <a:ea typeface="Calibri" pitchFamily="34" charset="-122"/>
                <a:cs typeface="Calibri" pitchFamily="34" charset="-120"/>
              </a:rPr>
              <a:t>Depurador (debugger) paso a paso</a:t>
            </a:r>
            <a:endParaRPr lang="en-US" sz="1300" dirty="0"/>
          </a:p>
        </p:txBody>
      </p:sp>
      <p:sp>
        <p:nvSpPr>
          <p:cNvPr id="11" name="Shape 9"/>
          <p:cNvSpPr/>
          <p:nvPr/>
        </p:nvSpPr>
        <p:spPr>
          <a:xfrm>
            <a:off x="640080" y="4480560"/>
            <a:ext cx="118872" cy="118872"/>
          </a:xfrm>
          <a:prstGeom prst="ellipse">
            <a:avLst/>
          </a:prstGeom>
          <a:solidFill>
            <a:srgbClr val="C9A24B"/>
          </a:solidFill>
          <a:ln/>
        </p:spPr>
        <p:txBody>
          <a:bodyPr/>
          <a:p/>
        </p:txBody>
      </p:sp>
      <p:sp>
        <p:nvSpPr>
          <p:cNvPr id="12" name="Text 10"/>
          <p:cNvSpPr/>
          <p:nvPr/>
        </p:nvSpPr>
        <p:spPr>
          <a:xfrm>
            <a:off x="914400" y="4398264"/>
            <a:ext cx="4846320" cy="475488"/>
          </a:xfrm>
          <a:prstGeom prst="rect">
            <a:avLst/>
          </a:prstGeom>
          <a:noFill/>
          <a:ln/>
        </p:spPr>
        <p:txBody>
          <a:bodyPr wrap="square" rtlCol="0" anchor="t"/>
          <a:lstStyle/>
          <a:p>
            <a:pPr indent="0" marL="0">
              <a:buNone/>
            </a:pPr>
            <a:r>
              <a:rPr lang="en-US" sz="1300" dirty="0">
                <a:solidFill>
                  <a:srgbClr val="1C1F26"/>
                </a:solidFill>
                <a:latin typeface="Calibri" pitchFamily="34" charset="0"/>
                <a:ea typeface="Calibri" pitchFamily="34" charset="-122"/>
                <a:cs typeface="Calibri" pitchFamily="34" charset="-120"/>
              </a:rPr>
              <a:t>Gestor de archivos y de dependencias</a:t>
            </a:r>
            <a:endParaRPr lang="en-US" sz="1300" dirty="0"/>
          </a:p>
        </p:txBody>
      </p:sp>
      <p:sp>
        <p:nvSpPr>
          <p:cNvPr id="13" name="Shape 11"/>
          <p:cNvSpPr/>
          <p:nvPr/>
        </p:nvSpPr>
        <p:spPr>
          <a:xfrm>
            <a:off x="640080" y="4956048"/>
            <a:ext cx="118872" cy="118872"/>
          </a:xfrm>
          <a:prstGeom prst="ellipse">
            <a:avLst/>
          </a:prstGeom>
          <a:solidFill>
            <a:srgbClr val="C9A24B"/>
          </a:solidFill>
          <a:ln/>
        </p:spPr>
        <p:txBody>
          <a:bodyPr/>
          <a:p/>
        </p:txBody>
      </p:sp>
      <p:sp>
        <p:nvSpPr>
          <p:cNvPr id="14" name="Text 12"/>
          <p:cNvSpPr/>
          <p:nvPr/>
        </p:nvSpPr>
        <p:spPr>
          <a:xfrm>
            <a:off x="914400" y="4873752"/>
            <a:ext cx="4846320" cy="475488"/>
          </a:xfrm>
          <a:prstGeom prst="rect">
            <a:avLst/>
          </a:prstGeom>
          <a:noFill/>
          <a:ln/>
        </p:spPr>
        <p:txBody>
          <a:bodyPr wrap="square" rtlCol="0" anchor="t"/>
          <a:lstStyle/>
          <a:p>
            <a:pPr indent="0" marL="0">
              <a:buNone/>
            </a:pPr>
            <a:r>
              <a:rPr lang="en-US" sz="1300" dirty="0">
                <a:solidFill>
                  <a:srgbClr val="1C1F26"/>
                </a:solidFill>
                <a:latin typeface="Calibri" pitchFamily="34" charset="0"/>
                <a:ea typeface="Calibri" pitchFamily="34" charset="-122"/>
                <a:cs typeface="Calibri" pitchFamily="34" charset="-120"/>
              </a:rPr>
              <a:t>Control de versiones (Git) integrado</a:t>
            </a:r>
            <a:endParaRPr lang="en-US" sz="1300" dirty="0"/>
          </a:p>
        </p:txBody>
      </p:sp>
      <p:sp>
        <p:nvSpPr>
          <p:cNvPr id="15" name="Shape 13"/>
          <p:cNvSpPr/>
          <p:nvPr/>
        </p:nvSpPr>
        <p:spPr>
          <a:xfrm>
            <a:off x="6263640" y="1691640"/>
            <a:ext cx="5257800" cy="1417320"/>
          </a:xfrm>
          <a:prstGeom prst="roundRect">
            <a:avLst>
              <a:gd name="adj" fmla="val 5161"/>
            </a:avLst>
          </a:prstGeom>
          <a:solidFill>
            <a:srgbClr val="16233F"/>
          </a:solidFill>
          <a:ln/>
        </p:spPr>
        <p:txBody>
          <a:bodyPr/>
          <a:p/>
        </p:txBody>
      </p:sp>
      <p:sp>
        <p:nvSpPr>
          <p:cNvPr id="16" name="Text 14"/>
          <p:cNvSpPr/>
          <p:nvPr/>
        </p:nvSpPr>
        <p:spPr>
          <a:xfrm>
            <a:off x="6492240" y="1856232"/>
            <a:ext cx="4846320" cy="365760"/>
          </a:xfrm>
          <a:prstGeom prst="rect">
            <a:avLst/>
          </a:prstGeom>
          <a:noFill/>
          <a:ln/>
        </p:spPr>
        <p:txBody>
          <a:bodyPr wrap="square" rtlCol="0" anchor="ctr"/>
          <a:lstStyle/>
          <a:p>
            <a:pPr indent="0" marL="0">
              <a:buNone/>
            </a:pPr>
            <a:r>
              <a:rPr lang="en-US" sz="1500" b="1" dirty="0">
                <a:solidFill>
                  <a:srgbClr val="C9A24B"/>
                </a:solidFill>
                <a:latin typeface="Calibri" pitchFamily="34" charset="0"/>
                <a:ea typeface="Calibri" pitchFamily="34" charset="-122"/>
                <a:cs typeface="Calibri" pitchFamily="34" charset="-120"/>
              </a:rPr>
              <a:t>VS Code</a:t>
            </a:r>
            <a:endParaRPr lang="en-US" sz="1500" dirty="0"/>
          </a:p>
        </p:txBody>
      </p:sp>
      <p:sp>
        <p:nvSpPr>
          <p:cNvPr id="17" name="Text 15"/>
          <p:cNvSpPr/>
          <p:nvPr/>
        </p:nvSpPr>
        <p:spPr>
          <a:xfrm>
            <a:off x="6492240" y="2258568"/>
            <a:ext cx="4846320" cy="731520"/>
          </a:xfrm>
          <a:prstGeom prst="rect">
            <a:avLst/>
          </a:prstGeom>
          <a:noFill/>
          <a:ln/>
        </p:spPr>
        <p:txBody>
          <a:bodyPr wrap="square" rtlCol="0" anchor="t"/>
          <a:lstStyle/>
          <a:p>
            <a:pPr indent="0" marL="0">
              <a:buNone/>
            </a:pPr>
            <a:r>
              <a:rPr lang="en-US" sz="1200" dirty="0">
                <a:solidFill>
                  <a:srgbClr val="E6E9EF"/>
                </a:solidFill>
                <a:latin typeface="Calibri" pitchFamily="34" charset="0"/>
                <a:ea typeface="Calibri" pitchFamily="34" charset="-122"/>
                <a:cs typeface="Calibri" pitchFamily="34" charset="-120"/>
              </a:rPr>
              <a:t>Editor liviano y extensible. El más usado en la cursada.</a:t>
            </a:r>
            <a:endParaRPr lang="en-US" sz="1200" dirty="0"/>
          </a:p>
        </p:txBody>
      </p:sp>
      <p:sp>
        <p:nvSpPr>
          <p:cNvPr id="18" name="Shape 16"/>
          <p:cNvSpPr/>
          <p:nvPr/>
        </p:nvSpPr>
        <p:spPr>
          <a:xfrm>
            <a:off x="6263640" y="3264408"/>
            <a:ext cx="5257800" cy="1417320"/>
          </a:xfrm>
          <a:prstGeom prst="roundRect">
            <a:avLst>
              <a:gd name="adj" fmla="val 5161"/>
            </a:avLst>
          </a:prstGeom>
          <a:solidFill>
            <a:srgbClr val="F4F5F7"/>
          </a:solidFill>
          <a:ln w="12700">
            <a:solidFill>
              <a:srgbClr val="E1E4E9"/>
            </a:solidFill>
            <a:prstDash val="solid"/>
          </a:ln>
        </p:spPr>
        <p:txBody>
          <a:bodyPr/>
          <a:p/>
        </p:txBody>
      </p:sp>
      <p:sp>
        <p:nvSpPr>
          <p:cNvPr id="19" name="Text 17"/>
          <p:cNvSpPr/>
          <p:nvPr/>
        </p:nvSpPr>
        <p:spPr>
          <a:xfrm>
            <a:off x="6492240" y="3429000"/>
            <a:ext cx="4846320" cy="365760"/>
          </a:xfrm>
          <a:prstGeom prst="rect">
            <a:avLst/>
          </a:prstGeom>
          <a:noFill/>
          <a:ln/>
        </p:spPr>
        <p:txBody>
          <a:bodyPr wrap="square" rtlCol="0" anchor="ctr"/>
          <a:lstStyle/>
          <a:p>
            <a:pPr indent="0" marL="0">
              <a:buNone/>
            </a:pPr>
            <a:r>
              <a:rPr lang="en-US" sz="1500" b="1" dirty="0">
                <a:solidFill>
                  <a:srgbClr val="16233F"/>
                </a:solidFill>
                <a:latin typeface="Calibri" pitchFamily="34" charset="0"/>
                <a:ea typeface="Calibri" pitchFamily="34" charset="-122"/>
                <a:cs typeface="Calibri" pitchFamily="34" charset="-120"/>
              </a:rPr>
              <a:t>PyCharm</a:t>
            </a:r>
            <a:endParaRPr lang="en-US" sz="1500" dirty="0"/>
          </a:p>
        </p:txBody>
      </p:sp>
      <p:sp>
        <p:nvSpPr>
          <p:cNvPr id="20" name="Text 18"/>
          <p:cNvSpPr/>
          <p:nvPr/>
        </p:nvSpPr>
        <p:spPr>
          <a:xfrm>
            <a:off x="6492240" y="3831336"/>
            <a:ext cx="4846320" cy="731520"/>
          </a:xfrm>
          <a:prstGeom prst="rect">
            <a:avLst/>
          </a:prstGeom>
          <a:noFill/>
          <a:ln/>
        </p:spPr>
        <p:txBody>
          <a:bodyPr wrap="square" rtlCol="0" anchor="t"/>
          <a:lstStyle/>
          <a:p>
            <a:pPr indent="0" marL="0">
              <a:buNone/>
            </a:pPr>
            <a:r>
              <a:rPr lang="en-US" sz="1200" dirty="0">
                <a:solidFill>
                  <a:srgbClr val="5B6472"/>
                </a:solidFill>
                <a:latin typeface="Calibri" pitchFamily="34" charset="0"/>
                <a:ea typeface="Calibri" pitchFamily="34" charset="-122"/>
                <a:cs typeface="Calibri" pitchFamily="34" charset="-120"/>
              </a:rPr>
              <a:t>IDE completo, orientado específicamente a Python.</a:t>
            </a:r>
            <a:endParaRPr lang="en-US" sz="1200" dirty="0"/>
          </a:p>
        </p:txBody>
      </p:sp>
      <p:sp>
        <p:nvSpPr>
          <p:cNvPr id="21" name="Shape 19"/>
          <p:cNvSpPr/>
          <p:nvPr/>
        </p:nvSpPr>
        <p:spPr>
          <a:xfrm>
            <a:off x="6263640" y="4837176"/>
            <a:ext cx="5257800" cy="1417320"/>
          </a:xfrm>
          <a:prstGeom prst="roundRect">
            <a:avLst>
              <a:gd name="adj" fmla="val 5161"/>
            </a:avLst>
          </a:prstGeom>
          <a:solidFill>
            <a:srgbClr val="F4F5F7"/>
          </a:solidFill>
          <a:ln w="12700">
            <a:solidFill>
              <a:srgbClr val="E1E4E9"/>
            </a:solidFill>
            <a:prstDash val="solid"/>
          </a:ln>
        </p:spPr>
        <p:txBody>
          <a:bodyPr/>
          <a:p/>
        </p:txBody>
      </p:sp>
      <p:sp>
        <p:nvSpPr>
          <p:cNvPr id="22" name="Text 20"/>
          <p:cNvSpPr/>
          <p:nvPr/>
        </p:nvSpPr>
        <p:spPr>
          <a:xfrm>
            <a:off x="6492240" y="5001768"/>
            <a:ext cx="4846320" cy="365760"/>
          </a:xfrm>
          <a:prstGeom prst="rect">
            <a:avLst/>
          </a:prstGeom>
          <a:noFill/>
          <a:ln/>
        </p:spPr>
        <p:txBody>
          <a:bodyPr wrap="square" rtlCol="0" anchor="ctr"/>
          <a:lstStyle/>
          <a:p>
            <a:pPr indent="0" marL="0">
              <a:buNone/>
            </a:pPr>
            <a:r>
              <a:rPr lang="en-US" sz="1500" b="1" dirty="0">
                <a:solidFill>
                  <a:srgbClr val="16233F"/>
                </a:solidFill>
                <a:latin typeface="Calibri" pitchFamily="34" charset="0"/>
                <a:ea typeface="Calibri" pitchFamily="34" charset="-122"/>
                <a:cs typeface="Calibri" pitchFamily="34" charset="-120"/>
              </a:rPr>
              <a:t>Jupyter Notebook</a:t>
            </a:r>
            <a:endParaRPr lang="en-US" sz="1500" dirty="0"/>
          </a:p>
        </p:txBody>
      </p:sp>
      <p:sp>
        <p:nvSpPr>
          <p:cNvPr id="23" name="Text 21"/>
          <p:cNvSpPr/>
          <p:nvPr/>
        </p:nvSpPr>
        <p:spPr>
          <a:xfrm>
            <a:off x="6492240" y="5404104"/>
            <a:ext cx="4846320" cy="731520"/>
          </a:xfrm>
          <a:prstGeom prst="rect">
            <a:avLst/>
          </a:prstGeom>
          <a:noFill/>
          <a:ln/>
        </p:spPr>
        <p:txBody>
          <a:bodyPr wrap="square" rtlCol="0" anchor="t"/>
          <a:lstStyle/>
          <a:p>
            <a:pPr indent="0" marL="0">
              <a:buNone/>
            </a:pPr>
            <a:r>
              <a:rPr lang="en-US" sz="1200" dirty="0">
                <a:solidFill>
                  <a:srgbClr val="5B6472"/>
                </a:solidFill>
                <a:latin typeface="Calibri" pitchFamily="34" charset="0"/>
                <a:ea typeface="Calibri" pitchFamily="34" charset="-122"/>
                <a:cs typeface="Calibri" pitchFamily="34" charset="-120"/>
              </a:rPr>
              <a:t>Ideal para experimentar y para la parte de Machine Learning.</a:t>
            </a:r>
            <a:endParaRPr lang="en-US" sz="1200" dirty="0"/>
          </a:p>
        </p:txBody>
      </p:sp>
      <p:sp>
        <p:nvSpPr>
          <p:cNvPr id="24" name="Text 2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PROGRAMACIÓN II · UAI · Unidad 1 · Clase 1</a:t>
            </a:r>
            <a:endParaRPr lang="en-US" sz="900" dirty="0"/>
          </a:p>
        </p:txBody>
      </p:sp>
      <p:sp>
        <p:nvSpPr>
          <p:cNvPr id="25" name="Text 23"/>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MATERIAL DE ESTUDIO · 3 DE 12</a:t>
            </a:r>
            <a:endParaRPr lang="en-US" sz="1300" dirty="0"/>
          </a:p>
        </p:txBody>
      </p:sp>
      <p:sp>
        <p:nvSpPr>
          <p:cNvPr id="3" name="Text 1"/>
          <p:cNvSpPr/>
          <p:nvPr/>
        </p:nvSpPr>
        <p:spPr>
          <a:xfrm>
            <a:off x="640080" y="777240"/>
            <a:ext cx="10881360" cy="731520"/>
          </a:xfrm>
          <a:prstGeom prst="rect">
            <a:avLst/>
          </a:prstGeom>
          <a:noFill/>
          <a:ln/>
        </p:spPr>
        <p:txBody>
          <a:bodyPr wrap="square" rtlCol="0" anchor="ctr"/>
          <a:lstStyle/>
          <a:p>
            <a:pPr indent="0" marL="0">
              <a:buNone/>
            </a:pPr>
            <a:r>
              <a:rPr lang="en-US" sz="2800" b="1" dirty="0">
                <a:solidFill>
                  <a:srgbClr val="1C1F26"/>
                </a:solidFill>
                <a:latin typeface="Calibri" pitchFamily="34" charset="0"/>
                <a:ea typeface="Calibri" pitchFamily="34" charset="-122"/>
                <a:cs typeface="Calibri" pitchFamily="34" charset="-120"/>
              </a:rPr>
              <a:t>Instalar el entorno: Python, VS Code y Git</a:t>
            </a:r>
            <a:endParaRPr lang="en-US" sz="2800" dirty="0"/>
          </a:p>
        </p:txBody>
      </p:sp>
      <p:sp>
        <p:nvSpPr>
          <p:cNvPr id="4" name="Text 2"/>
          <p:cNvSpPr/>
          <p:nvPr/>
        </p:nvSpPr>
        <p:spPr>
          <a:xfrm>
            <a:off x="640080" y="1691640"/>
            <a:ext cx="5120640" cy="1188720"/>
          </a:xfrm>
          <a:prstGeom prst="rect">
            <a:avLst/>
          </a:prstGeom>
          <a:noFill/>
          <a:ln/>
        </p:spPr>
        <p:txBody>
          <a:bodyPr wrap="square" rtlCol="0" anchor="t"/>
          <a:lstStyle/>
          <a:p>
            <a:pPr indent="0" marL="0">
              <a:lnSpc>
                <a:spcPct val="125000"/>
              </a:lnSpc>
              <a:buNone/>
            </a:pPr>
            <a:r>
              <a:rPr lang="en-US" sz="1400" dirty="0">
                <a:solidFill>
                  <a:srgbClr val="1C1F26"/>
                </a:solidFill>
                <a:latin typeface="Calibri" pitchFamily="34" charset="0"/>
                <a:ea typeface="Calibri" pitchFamily="34" charset="-122"/>
                <a:cs typeface="Calibri" pitchFamily="34" charset="-120"/>
              </a:rPr>
              <a:t>Antes de programar necesitamos preparar el entorno: instalar Python, el editor VS Code, sus extensiones para Python y Git — con el que vamos a versionar y entregar los TPs de la cursada.</a:t>
            </a:r>
            <a:endParaRPr lang="en-US" sz="1400" dirty="0"/>
          </a:p>
        </p:txBody>
      </p:sp>
      <p:sp>
        <p:nvSpPr>
          <p:cNvPr id="5" name="Shape 3"/>
          <p:cNvSpPr/>
          <p:nvPr/>
        </p:nvSpPr>
        <p:spPr>
          <a:xfrm>
            <a:off x="640080" y="3054096"/>
            <a:ext cx="118872" cy="118872"/>
          </a:xfrm>
          <a:prstGeom prst="ellipse">
            <a:avLst/>
          </a:prstGeom>
          <a:solidFill>
            <a:srgbClr val="C9A24B"/>
          </a:solidFill>
          <a:ln/>
        </p:spPr>
        <p:txBody>
          <a:bodyPr/>
          <a:p/>
        </p:txBody>
      </p:sp>
      <p:sp>
        <p:nvSpPr>
          <p:cNvPr id="6" name="Text 4"/>
          <p:cNvSpPr/>
          <p:nvPr/>
        </p:nvSpPr>
        <p:spPr>
          <a:xfrm>
            <a:off x="914400" y="2971800"/>
            <a:ext cx="4846320" cy="475488"/>
          </a:xfrm>
          <a:prstGeom prst="rect">
            <a:avLst/>
          </a:prstGeom>
          <a:noFill/>
          <a:ln/>
        </p:spPr>
        <p:txBody>
          <a:bodyPr wrap="square" rtlCol="0" anchor="t"/>
          <a:lstStyle/>
          <a:p>
            <a:pPr indent="0" marL="0">
              <a:buNone/>
            </a:pPr>
            <a:r>
              <a:rPr lang="en-US" sz="1300" dirty="0">
                <a:solidFill>
                  <a:srgbClr val="1C1F26"/>
                </a:solidFill>
                <a:latin typeface="Calibri" pitchFamily="34" charset="0"/>
                <a:ea typeface="Calibri" pitchFamily="34" charset="-122"/>
                <a:cs typeface="Calibri" pitchFamily="34" charset="-120"/>
              </a:rPr>
              <a:t>Descargar e instalar Python 3 desde https://www.python.org/downloads/ (tildar "Add to PATH").</a:t>
            </a:r>
            <a:endParaRPr lang="en-US" sz="1300" dirty="0"/>
          </a:p>
        </p:txBody>
      </p:sp>
      <p:sp>
        <p:nvSpPr>
          <p:cNvPr id="7" name="Shape 5"/>
          <p:cNvSpPr/>
          <p:nvPr/>
        </p:nvSpPr>
        <p:spPr>
          <a:xfrm>
            <a:off x="640080" y="3529584"/>
            <a:ext cx="118872" cy="118872"/>
          </a:xfrm>
          <a:prstGeom prst="ellipse">
            <a:avLst/>
          </a:prstGeom>
          <a:solidFill>
            <a:srgbClr val="C9A24B"/>
          </a:solidFill>
          <a:ln/>
        </p:spPr>
        <p:txBody>
          <a:bodyPr/>
          <a:p/>
        </p:txBody>
      </p:sp>
      <p:sp>
        <p:nvSpPr>
          <p:cNvPr id="8" name="Text 6"/>
          <p:cNvSpPr/>
          <p:nvPr/>
        </p:nvSpPr>
        <p:spPr>
          <a:xfrm>
            <a:off x="914400" y="3447288"/>
            <a:ext cx="4846320" cy="475488"/>
          </a:xfrm>
          <a:prstGeom prst="rect">
            <a:avLst/>
          </a:prstGeom>
          <a:noFill/>
          <a:ln/>
        </p:spPr>
        <p:txBody>
          <a:bodyPr wrap="square" rtlCol="0" anchor="t"/>
          <a:lstStyle/>
          <a:p>
            <a:pPr indent="0" marL="0">
              <a:buNone/>
            </a:pPr>
            <a:r>
              <a:rPr lang="en-US" sz="1300" dirty="0">
                <a:solidFill>
                  <a:srgbClr val="1C1F26"/>
                </a:solidFill>
                <a:latin typeface="Calibri" pitchFamily="34" charset="0"/>
                <a:ea typeface="Calibri" pitchFamily="34" charset="-122"/>
                <a:cs typeface="Calibri" pitchFamily="34" charset="-120"/>
              </a:rPr>
              <a:t>Verificar la instalación: abrir una terminal y ejecutar python --version.</a:t>
            </a:r>
            <a:endParaRPr lang="en-US" sz="1300" dirty="0"/>
          </a:p>
        </p:txBody>
      </p:sp>
      <p:sp>
        <p:nvSpPr>
          <p:cNvPr id="9" name="Shape 7"/>
          <p:cNvSpPr/>
          <p:nvPr/>
        </p:nvSpPr>
        <p:spPr>
          <a:xfrm>
            <a:off x="640080" y="4005072"/>
            <a:ext cx="118872" cy="118872"/>
          </a:xfrm>
          <a:prstGeom prst="ellipse">
            <a:avLst/>
          </a:prstGeom>
          <a:solidFill>
            <a:srgbClr val="C9A24B"/>
          </a:solidFill>
          <a:ln/>
        </p:spPr>
        <p:txBody>
          <a:bodyPr/>
          <a:p/>
        </p:txBody>
      </p:sp>
      <p:sp>
        <p:nvSpPr>
          <p:cNvPr id="10" name="Text 8"/>
          <p:cNvSpPr/>
          <p:nvPr/>
        </p:nvSpPr>
        <p:spPr>
          <a:xfrm>
            <a:off x="914400" y="3922776"/>
            <a:ext cx="4846320" cy="475488"/>
          </a:xfrm>
          <a:prstGeom prst="rect">
            <a:avLst/>
          </a:prstGeom>
          <a:noFill/>
          <a:ln/>
        </p:spPr>
        <p:txBody>
          <a:bodyPr wrap="square" rtlCol="0" anchor="t"/>
          <a:lstStyle/>
          <a:p>
            <a:pPr indent="0" marL="0">
              <a:buNone/>
            </a:pPr>
            <a:r>
              <a:rPr lang="en-US" sz="1300" dirty="0">
                <a:solidFill>
                  <a:srgbClr val="1C1F26"/>
                </a:solidFill>
                <a:latin typeface="Calibri" pitchFamily="34" charset="0"/>
                <a:ea typeface="Calibri" pitchFamily="34" charset="-122"/>
                <a:cs typeface="Calibri" pitchFamily="34" charset="-120"/>
              </a:rPr>
              <a:t>Descargar e instalar Visual Studio Code desde https://code.visualstudio.com/download.</a:t>
            </a:r>
            <a:endParaRPr lang="en-US" sz="1300" dirty="0"/>
          </a:p>
        </p:txBody>
      </p:sp>
      <p:sp>
        <p:nvSpPr>
          <p:cNvPr id="11" name="Shape 9"/>
          <p:cNvSpPr/>
          <p:nvPr/>
        </p:nvSpPr>
        <p:spPr>
          <a:xfrm>
            <a:off x="640080" y="4480560"/>
            <a:ext cx="118872" cy="118872"/>
          </a:xfrm>
          <a:prstGeom prst="ellipse">
            <a:avLst/>
          </a:prstGeom>
          <a:solidFill>
            <a:srgbClr val="C9A24B"/>
          </a:solidFill>
          <a:ln/>
        </p:spPr>
        <p:txBody>
          <a:bodyPr/>
          <a:p/>
        </p:txBody>
      </p:sp>
      <p:sp>
        <p:nvSpPr>
          <p:cNvPr id="12" name="Text 10"/>
          <p:cNvSpPr/>
          <p:nvPr/>
        </p:nvSpPr>
        <p:spPr>
          <a:xfrm>
            <a:off x="914400" y="4398264"/>
            <a:ext cx="4846320" cy="475488"/>
          </a:xfrm>
          <a:prstGeom prst="rect">
            <a:avLst/>
          </a:prstGeom>
          <a:noFill/>
          <a:ln/>
        </p:spPr>
        <p:txBody>
          <a:bodyPr wrap="square" rtlCol="0" anchor="t"/>
          <a:lstStyle/>
          <a:p>
            <a:pPr indent="0" marL="0">
              <a:buNone/>
            </a:pPr>
            <a:r>
              <a:rPr lang="en-US" sz="1300" dirty="0">
                <a:solidFill>
                  <a:srgbClr val="1C1F26"/>
                </a:solidFill>
                <a:latin typeface="Calibri" pitchFamily="34" charset="0"/>
                <a:ea typeface="Calibri" pitchFamily="34" charset="-122"/>
                <a:cs typeface="Calibri" pitchFamily="34" charset="-120"/>
              </a:rPr>
              <a:t>Instalar la extensión oficial "Python" (Microsoft) desde el Marketplace de VS Code.</a:t>
            </a:r>
            <a:endParaRPr lang="en-US" sz="1300" dirty="0"/>
          </a:p>
        </p:txBody>
      </p:sp>
      <p:sp>
        <p:nvSpPr>
          <p:cNvPr id="13" name="Shape 11"/>
          <p:cNvSpPr/>
          <p:nvPr/>
        </p:nvSpPr>
        <p:spPr>
          <a:xfrm>
            <a:off x="640080" y="4956048"/>
            <a:ext cx="118872" cy="118872"/>
          </a:xfrm>
          <a:prstGeom prst="ellipse">
            <a:avLst/>
          </a:prstGeom>
          <a:solidFill>
            <a:srgbClr val="C9A24B"/>
          </a:solidFill>
          <a:ln/>
        </p:spPr>
        <p:txBody>
          <a:bodyPr/>
          <a:p/>
        </p:txBody>
      </p:sp>
      <p:sp>
        <p:nvSpPr>
          <p:cNvPr id="14" name="Text 12"/>
          <p:cNvSpPr/>
          <p:nvPr/>
        </p:nvSpPr>
        <p:spPr>
          <a:xfrm>
            <a:off x="914400" y="4873752"/>
            <a:ext cx="4846320" cy="475488"/>
          </a:xfrm>
          <a:prstGeom prst="rect">
            <a:avLst/>
          </a:prstGeom>
          <a:noFill/>
          <a:ln/>
        </p:spPr>
        <p:txBody>
          <a:bodyPr wrap="square" rtlCol="0" anchor="t"/>
          <a:lstStyle/>
          <a:p>
            <a:pPr indent="0" marL="0">
              <a:buNone/>
            </a:pPr>
            <a:r>
              <a:rPr lang="en-US" sz="1300" dirty="0">
                <a:solidFill>
                  <a:srgbClr val="1C1F26"/>
                </a:solidFill>
                <a:latin typeface="Calibri" pitchFamily="34" charset="0"/>
                <a:ea typeface="Calibri" pitchFamily="34" charset="-122"/>
                <a:cs typeface="Calibri" pitchFamily="34" charset="-120"/>
              </a:rPr>
              <a:t>Instalar Git desde https://git-scm.com/downloads y la extensión "GitLens" en VS Code.</a:t>
            </a:r>
            <a:endParaRPr lang="en-US" sz="1300" dirty="0"/>
          </a:p>
        </p:txBody>
      </p:sp>
      <p:sp>
        <p:nvSpPr>
          <p:cNvPr id="15" name="Shape 13"/>
          <p:cNvSpPr/>
          <p:nvPr/>
        </p:nvSpPr>
        <p:spPr>
          <a:xfrm>
            <a:off x="6263640" y="1691640"/>
            <a:ext cx="5257800" cy="1417320"/>
          </a:xfrm>
          <a:prstGeom prst="roundRect">
            <a:avLst>
              <a:gd name="adj" fmla="val 5161"/>
            </a:avLst>
          </a:prstGeom>
          <a:solidFill>
            <a:srgbClr val="16233F"/>
          </a:solidFill>
          <a:ln/>
        </p:spPr>
        <p:txBody>
          <a:bodyPr/>
          <a:p/>
        </p:txBody>
      </p:sp>
      <p:sp>
        <p:nvSpPr>
          <p:cNvPr id="16" name="Text 14"/>
          <p:cNvSpPr/>
          <p:nvPr/>
        </p:nvSpPr>
        <p:spPr>
          <a:xfrm>
            <a:off x="6492240" y="1856232"/>
            <a:ext cx="4846320" cy="365760"/>
          </a:xfrm>
          <a:prstGeom prst="rect">
            <a:avLst/>
          </a:prstGeom>
          <a:noFill/>
          <a:ln/>
        </p:spPr>
        <p:txBody>
          <a:bodyPr wrap="square" rtlCol="0" anchor="ctr"/>
          <a:lstStyle/>
          <a:p>
            <a:pPr indent="0" marL="0">
              <a:buNone/>
            </a:pPr>
            <a:r>
              <a:rPr lang="en-US" sz="1500" b="1" dirty="0">
                <a:solidFill>
                  <a:srgbClr val="C9A24B"/>
                </a:solidFill>
                <a:latin typeface="Calibri" pitchFamily="34" charset="0"/>
                <a:ea typeface="Calibri" pitchFamily="34" charset="-122"/>
                <a:cs typeface="Calibri" pitchFamily="34" charset="-120"/>
              </a:rPr>
              <a:t>Extensión Python</a:t>
            </a:r>
            <a:endParaRPr lang="en-US" sz="1500" dirty="0"/>
          </a:p>
        </p:txBody>
      </p:sp>
      <p:sp>
        <p:nvSpPr>
          <p:cNvPr id="17" name="Text 15"/>
          <p:cNvSpPr/>
          <p:nvPr/>
        </p:nvSpPr>
        <p:spPr>
          <a:xfrm>
            <a:off x="6492240" y="2258568"/>
            <a:ext cx="4846320" cy="731520"/>
          </a:xfrm>
          <a:prstGeom prst="rect">
            <a:avLst/>
          </a:prstGeom>
          <a:noFill/>
          <a:ln/>
        </p:spPr>
        <p:txBody>
          <a:bodyPr wrap="square" rtlCol="0" anchor="t"/>
          <a:lstStyle/>
          <a:p>
            <a:pPr indent="0" marL="0">
              <a:buNone/>
            </a:pPr>
            <a:r>
              <a:rPr lang="en-US" sz="1200" dirty="0">
                <a:solidFill>
                  <a:srgbClr val="E6E9EF"/>
                </a:solidFill>
                <a:latin typeface="Calibri" pitchFamily="34" charset="0"/>
                <a:ea typeface="Calibri" pitchFamily="34" charset="-122"/>
                <a:cs typeface="Calibri" pitchFamily="34" charset="-120"/>
              </a:rPr>
              <a:t>Autocompletado, resaltado de errores y ejecución de código integrados a VS Code.</a:t>
            </a:r>
            <a:endParaRPr lang="en-US" sz="1200" dirty="0"/>
          </a:p>
        </p:txBody>
      </p:sp>
      <p:sp>
        <p:nvSpPr>
          <p:cNvPr id="18" name="Shape 16"/>
          <p:cNvSpPr/>
          <p:nvPr/>
        </p:nvSpPr>
        <p:spPr>
          <a:xfrm>
            <a:off x="6263640" y="3264408"/>
            <a:ext cx="5257800" cy="1417320"/>
          </a:xfrm>
          <a:prstGeom prst="roundRect">
            <a:avLst>
              <a:gd name="adj" fmla="val 5161"/>
            </a:avLst>
          </a:prstGeom>
          <a:solidFill>
            <a:srgbClr val="F4F5F7"/>
          </a:solidFill>
          <a:ln w="12700">
            <a:solidFill>
              <a:srgbClr val="E1E4E9"/>
            </a:solidFill>
            <a:prstDash val="solid"/>
          </a:ln>
        </p:spPr>
        <p:txBody>
          <a:bodyPr/>
          <a:p/>
        </p:txBody>
      </p:sp>
      <p:sp>
        <p:nvSpPr>
          <p:cNvPr id="19" name="Text 17"/>
          <p:cNvSpPr/>
          <p:nvPr/>
        </p:nvSpPr>
        <p:spPr>
          <a:xfrm>
            <a:off x="6492240" y="3429000"/>
            <a:ext cx="4846320" cy="365760"/>
          </a:xfrm>
          <a:prstGeom prst="rect">
            <a:avLst/>
          </a:prstGeom>
          <a:noFill/>
          <a:ln/>
        </p:spPr>
        <p:txBody>
          <a:bodyPr wrap="square" rtlCol="0" anchor="ctr"/>
          <a:lstStyle/>
          <a:p>
            <a:pPr indent="0" marL="0">
              <a:buNone/>
            </a:pPr>
            <a:r>
              <a:rPr lang="en-US" sz="1500" b="1" dirty="0">
                <a:solidFill>
                  <a:srgbClr val="16233F"/>
                </a:solidFill>
                <a:latin typeface="Calibri" pitchFamily="34" charset="0"/>
                <a:ea typeface="Calibri" pitchFamily="34" charset="-122"/>
                <a:cs typeface="Calibri" pitchFamily="34" charset="-120"/>
              </a:rPr>
              <a:t>Git</a:t>
            </a:r>
            <a:endParaRPr lang="en-US" sz="1500" dirty="0"/>
          </a:p>
        </p:txBody>
      </p:sp>
      <p:sp>
        <p:nvSpPr>
          <p:cNvPr id="20" name="Text 18"/>
          <p:cNvSpPr/>
          <p:nvPr/>
        </p:nvSpPr>
        <p:spPr>
          <a:xfrm>
            <a:off x="6492240" y="3831336"/>
            <a:ext cx="4846320" cy="731520"/>
          </a:xfrm>
          <a:prstGeom prst="rect">
            <a:avLst/>
          </a:prstGeom>
          <a:noFill/>
          <a:ln/>
        </p:spPr>
        <p:txBody>
          <a:bodyPr wrap="square" rtlCol="0" anchor="t"/>
          <a:lstStyle/>
          <a:p>
            <a:pPr indent="0" marL="0">
              <a:buNone/>
            </a:pPr>
            <a:r>
              <a:rPr lang="en-US" sz="1200" dirty="0">
                <a:solidFill>
                  <a:srgbClr val="5B6472"/>
                </a:solidFill>
                <a:latin typeface="Calibri" pitchFamily="34" charset="0"/>
                <a:ea typeface="Calibri" pitchFamily="34" charset="-122"/>
                <a:cs typeface="Calibri" pitchFamily="34" charset="-120"/>
              </a:rPr>
              <a:t>Control de versiones: es la herramienta con la que vamos a subir y entregar los TPs de la cursada.</a:t>
            </a:r>
            <a:endParaRPr lang="en-US" sz="1200" dirty="0"/>
          </a:p>
        </p:txBody>
      </p:sp>
      <p:sp>
        <p:nvSpPr>
          <p:cNvPr id="21" name="Shape 19"/>
          <p:cNvSpPr/>
          <p:nvPr/>
        </p:nvSpPr>
        <p:spPr>
          <a:xfrm>
            <a:off x="6263640" y="4837176"/>
            <a:ext cx="5257800" cy="1417320"/>
          </a:xfrm>
          <a:prstGeom prst="roundRect">
            <a:avLst>
              <a:gd name="adj" fmla="val 5161"/>
            </a:avLst>
          </a:prstGeom>
          <a:solidFill>
            <a:srgbClr val="F4F5F7"/>
          </a:solidFill>
          <a:ln w="12700">
            <a:solidFill>
              <a:srgbClr val="E1E4E9"/>
            </a:solidFill>
            <a:prstDash val="solid"/>
          </a:ln>
        </p:spPr>
        <p:txBody>
          <a:bodyPr/>
          <a:p/>
        </p:txBody>
      </p:sp>
      <p:sp>
        <p:nvSpPr>
          <p:cNvPr id="22" name="Text 20"/>
          <p:cNvSpPr/>
          <p:nvPr/>
        </p:nvSpPr>
        <p:spPr>
          <a:xfrm>
            <a:off x="6492240" y="5001768"/>
            <a:ext cx="4846320" cy="365760"/>
          </a:xfrm>
          <a:prstGeom prst="rect">
            <a:avLst/>
          </a:prstGeom>
          <a:noFill/>
          <a:ln/>
        </p:spPr>
        <p:txBody>
          <a:bodyPr wrap="square" rtlCol="0" anchor="ctr"/>
          <a:lstStyle/>
          <a:p>
            <a:pPr indent="0" marL="0">
              <a:buNone/>
            </a:pPr>
            <a:r>
              <a:rPr lang="en-US" sz="1500" b="1" dirty="0">
                <a:solidFill>
                  <a:srgbClr val="16233F"/>
                </a:solidFill>
                <a:latin typeface="Calibri" pitchFamily="34" charset="0"/>
                <a:ea typeface="Calibri" pitchFamily="34" charset="-122"/>
                <a:cs typeface="Calibri" pitchFamily="34" charset="-120"/>
              </a:rPr>
              <a:t>GitLens</a:t>
            </a:r>
            <a:endParaRPr lang="en-US" sz="1500" dirty="0"/>
          </a:p>
        </p:txBody>
      </p:sp>
      <p:sp>
        <p:nvSpPr>
          <p:cNvPr id="23" name="Text 21"/>
          <p:cNvSpPr/>
          <p:nvPr/>
        </p:nvSpPr>
        <p:spPr>
          <a:xfrm>
            <a:off x="6492240" y="5404104"/>
            <a:ext cx="4846320" cy="731520"/>
          </a:xfrm>
          <a:prstGeom prst="rect">
            <a:avLst/>
          </a:prstGeom>
          <a:noFill/>
          <a:ln/>
        </p:spPr>
        <p:txBody>
          <a:bodyPr wrap="square" rtlCol="0" anchor="t"/>
          <a:lstStyle/>
          <a:p>
            <a:pPr indent="0" marL="0">
              <a:buNone/>
            </a:pPr>
            <a:r>
              <a:rPr lang="en-US" sz="1200" dirty="0">
                <a:solidFill>
                  <a:srgbClr val="5B6472"/>
                </a:solidFill>
                <a:latin typeface="Calibri" pitchFamily="34" charset="0"/>
                <a:ea typeface="Calibri" pitchFamily="34" charset="-122"/>
                <a:cs typeface="Calibri" pitchFamily="34" charset="-120"/>
              </a:rPr>
              <a:t>Extensión que suma historial y control de versiones de Git dentro del editor.</a:t>
            </a:r>
            <a:endParaRPr lang="en-US" sz="1200" dirty="0"/>
          </a:p>
        </p:txBody>
      </p:sp>
      <p:sp>
        <p:nvSpPr>
          <p:cNvPr id="24" name="Text 2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PROGRAMACIÓN II · UAI · Unidad 1 · Clase 1</a:t>
            </a:r>
            <a:endParaRPr lang="en-US" sz="900" dirty="0"/>
          </a:p>
        </p:txBody>
      </p:sp>
      <p:sp>
        <p:nvSpPr>
          <p:cNvPr id="25" name="Text 23"/>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
        <p:nvSpPr>
          <p:cNvPr id="13" name="Shape 11"/>
          <p:cNvSpPr/>
          <p:nvPr/>
        </p:nvSpPr>
        <p:spPr>
          <a:xfrm>
            <a:off x="640080" y="5431536"/>
            <a:ext cx="118872" cy="118872"/>
          </a:xfrm>
          <a:prstGeom prst="ellipse">
            <a:avLst/>
          </a:prstGeom>
          <a:solidFill>
            <a:srgbClr val="C9A24B"/>
          </a:solidFill>
          <a:ln/>
        </p:spPr>
        <p:txBody>
          <a:bodyPr/>
          <a:p/>
        </p:txBody>
      </p:sp>
      <p:sp>
        <p:nvSpPr>
          <p:cNvPr id="14" name="Text 12"/>
          <p:cNvSpPr/>
          <p:nvPr/>
        </p:nvSpPr>
        <p:spPr>
          <a:xfrm>
            <a:off x="914400" y="5349240"/>
            <a:ext cx="4846320" cy="548640"/>
          </a:xfrm>
          <a:prstGeom prst="rect">
            <a:avLst/>
          </a:prstGeom>
          <a:noFill/>
          <a:ln/>
        </p:spPr>
        <p:txBody>
          <a:bodyPr wrap="square" rtlCol="0" anchor="t"/>
          <a:lstStyle/>
          <a:p>
            <a:pPr indent="0" marL="0">
              <a:buNone/>
            </a:pPr>
            <a:r>
              <a:rPr lang="en-US" sz="1300" dirty="0">
                <a:solidFill>
                  <a:srgbClr val="1C1F26"/>
                </a:solidFill>
                <a:latin typeface="Calibri" pitchFamily="34" charset="0"/>
                <a:ea typeface="Calibri" pitchFamily="34" charset="-122"/>
                <a:cs typeface="Calibri" pitchFamily="34" charset="-120"/>
              </a:rPr>
              <a:t>Repo del curso para entregar los TPs:</a:t>
            </a:r>
            <a:endParaRPr lang="en-US" sz="1300" dirty="0"/>
          </a:p>
          <a:p>
            <a:r>
              <a:rPr sz="1300" b="1">
                <a:solidFill>
                  <a:srgbClr val="16233F"/>
                </a:solidFill>
              </a:rPr>
              <a:t>github.com/coedomaximiliano/COL-PII-2026-2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MATERIAL DE ESTUDIO · 4 DE 12</a:t>
            </a:r>
            <a:endParaRPr lang="en-US" sz="1300" dirty="0"/>
          </a:p>
        </p:txBody>
      </p:sp>
      <p:sp>
        <p:nvSpPr>
          <p:cNvPr id="3" name="Text 1"/>
          <p:cNvSpPr/>
          <p:nvPr/>
        </p:nvSpPr>
        <p:spPr>
          <a:xfrm>
            <a:off x="640080" y="777240"/>
            <a:ext cx="10881360" cy="731520"/>
          </a:xfrm>
          <a:prstGeom prst="rect">
            <a:avLst/>
          </a:prstGeom>
          <a:noFill/>
          <a:ln/>
        </p:spPr>
        <p:txBody>
          <a:bodyPr wrap="square" rtlCol="0" anchor="ctr"/>
          <a:lstStyle/>
          <a:p>
            <a:pPr indent="0" marL="0">
              <a:buNone/>
            </a:pPr>
            <a:r>
              <a:rPr lang="en-US" sz="2800" b="1" dirty="0">
                <a:solidFill>
                  <a:srgbClr val="1C1F26"/>
                </a:solidFill>
                <a:latin typeface="Calibri" pitchFamily="34" charset="0"/>
                <a:ea typeface="Calibri" pitchFamily="34" charset="-122"/>
                <a:cs typeface="Calibri" pitchFamily="34" charset="-120"/>
              </a:rPr>
              <a:t>Programas vs. Proyectos</a:t>
            </a:r>
            <a:endParaRPr lang="en-US" sz="2800" dirty="0"/>
          </a:p>
        </p:txBody>
      </p:sp>
      <p:sp>
        <p:nvSpPr>
          <p:cNvPr id="4" name="Text 2"/>
          <p:cNvSpPr/>
          <p:nvPr/>
        </p:nvSpPr>
        <p:spPr>
          <a:xfrm>
            <a:off x="640080" y="1600200"/>
            <a:ext cx="10881360" cy="457200"/>
          </a:xfrm>
          <a:prstGeom prst="rect">
            <a:avLst/>
          </a:prstGeom>
          <a:noFill/>
          <a:ln/>
        </p:spPr>
        <p:txBody>
          <a:bodyPr wrap="square" rtlCol="0" anchor="ctr"/>
          <a:lstStyle/>
          <a:p>
            <a:pPr indent="0" marL="0">
              <a:buNone/>
            </a:pPr>
            <a:r>
              <a:rPr lang="en-US" sz="1350" dirty="0">
                <a:solidFill>
                  <a:srgbClr val="1C1F26"/>
                </a:solidFill>
                <a:latin typeface="Calibri" pitchFamily="34" charset="0"/>
                <a:ea typeface="Calibri" pitchFamily="34" charset="-122"/>
                <a:cs typeface="Calibri" pitchFamily="34" charset="-120"/>
              </a:rPr>
              <a:t>Esta distinción va a acompañarnos toda la cursada: casi todo lo que construyamos en Python II será un proyecto, no un simple programa.</a:t>
            </a:r>
            <a:endParaRPr lang="en-US" sz="1350" dirty="0"/>
          </a:p>
        </p:txBody>
      </p:sp>
      <p:sp>
        <p:nvSpPr>
          <p:cNvPr id="5" name="Shape 3"/>
          <p:cNvSpPr/>
          <p:nvPr/>
        </p:nvSpPr>
        <p:spPr>
          <a:xfrm>
            <a:off x="640080" y="2194560"/>
            <a:ext cx="10835640" cy="411480"/>
          </a:xfrm>
          <a:prstGeom prst="roundRect">
            <a:avLst>
              <a:gd name="adj" fmla="val 11111"/>
            </a:avLst>
          </a:prstGeom>
          <a:solidFill>
            <a:srgbClr val="16233F"/>
          </a:solidFill>
          <a:ln/>
        </p:spPr>
        <p:txBody>
          <a:bodyPr/>
          <a:p/>
        </p:txBody>
      </p:sp>
      <p:sp>
        <p:nvSpPr>
          <p:cNvPr id="6" name="Text 4"/>
          <p:cNvSpPr/>
          <p:nvPr/>
        </p:nvSpPr>
        <p:spPr>
          <a:xfrm>
            <a:off x="640080" y="2194560"/>
            <a:ext cx="3108960" cy="411480"/>
          </a:xfrm>
          <a:prstGeom prst="rect">
            <a:avLst/>
          </a:prstGeom>
          <a:noFill/>
          <a:ln/>
        </p:spPr>
        <p:txBody>
          <a:bodyPr wrap="square"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ASPECTO</a:t>
            </a:r>
            <a:endParaRPr lang="en-US" sz="1100" dirty="0"/>
          </a:p>
        </p:txBody>
      </p:sp>
      <p:sp>
        <p:nvSpPr>
          <p:cNvPr id="7" name="Text 5"/>
          <p:cNvSpPr/>
          <p:nvPr/>
        </p:nvSpPr>
        <p:spPr>
          <a:xfrm>
            <a:off x="3840480" y="2194560"/>
            <a:ext cx="3566160" cy="411480"/>
          </a:xfrm>
          <a:prstGeom prst="rect">
            <a:avLst/>
          </a:prstGeom>
          <a:noFill/>
          <a:ln/>
        </p:spPr>
        <p:txBody>
          <a:bodyPr wrap="square" rtlCol="0" anchor="ctr"/>
          <a:lstStyle/>
          <a:p>
            <a:pPr indent="0" marL="0">
              <a:buNone/>
            </a:pPr>
            <a:r>
              <a:rPr lang="en-US" sz="1100" b="1" spc="100" kern="0" dirty="0">
                <a:solidFill>
                  <a:srgbClr val="C9A24B"/>
                </a:solidFill>
                <a:latin typeface="Calibri" pitchFamily="34" charset="0"/>
                <a:ea typeface="Calibri" pitchFamily="34" charset="-122"/>
                <a:cs typeface="Calibri" pitchFamily="34" charset="-120"/>
              </a:rPr>
              <a:t>PROGRAMA</a:t>
            </a:r>
            <a:endParaRPr lang="en-US" sz="1100" dirty="0"/>
          </a:p>
        </p:txBody>
      </p:sp>
      <p:sp>
        <p:nvSpPr>
          <p:cNvPr id="8" name="Text 6"/>
          <p:cNvSpPr/>
          <p:nvPr/>
        </p:nvSpPr>
        <p:spPr>
          <a:xfrm>
            <a:off x="7452360" y="2194560"/>
            <a:ext cx="3566160" cy="411480"/>
          </a:xfrm>
          <a:prstGeom prst="rect">
            <a:avLst/>
          </a:prstGeom>
          <a:noFill/>
          <a:ln/>
        </p:spPr>
        <p:txBody>
          <a:bodyPr wrap="square" rtlCol="0" anchor="ctr"/>
          <a:lstStyle/>
          <a:p>
            <a:pPr indent="0" marL="0">
              <a:buNone/>
            </a:pPr>
            <a:r>
              <a:rPr lang="en-US" sz="1100" b="1" spc="100" kern="0" dirty="0">
                <a:solidFill>
                  <a:srgbClr val="C9A24B"/>
                </a:solidFill>
                <a:latin typeface="Calibri" pitchFamily="34" charset="0"/>
                <a:ea typeface="Calibri" pitchFamily="34" charset="-122"/>
                <a:cs typeface="Calibri" pitchFamily="34" charset="-120"/>
              </a:rPr>
              <a:t>PROYECTO</a:t>
            </a:r>
            <a:endParaRPr lang="en-US" sz="1100" dirty="0"/>
          </a:p>
        </p:txBody>
      </p:sp>
      <p:sp>
        <p:nvSpPr>
          <p:cNvPr id="9" name="Shape 7"/>
          <p:cNvSpPr/>
          <p:nvPr/>
        </p:nvSpPr>
        <p:spPr>
          <a:xfrm>
            <a:off x="640080" y="2606040"/>
            <a:ext cx="10835640" cy="777240"/>
          </a:xfrm>
          <a:prstGeom prst="rect">
            <a:avLst/>
          </a:prstGeom>
          <a:solidFill>
            <a:srgbClr val="FFFFFF"/>
          </a:solidFill>
          <a:ln w="9525">
            <a:solidFill>
              <a:srgbClr val="E1E4E9"/>
            </a:solidFill>
            <a:prstDash val="solid"/>
          </a:ln>
        </p:spPr>
        <p:txBody>
          <a:bodyPr/>
          <a:p/>
        </p:txBody>
      </p:sp>
      <p:sp>
        <p:nvSpPr>
          <p:cNvPr id="10" name="Text 8"/>
          <p:cNvSpPr/>
          <p:nvPr/>
        </p:nvSpPr>
        <p:spPr>
          <a:xfrm>
            <a:off x="640080" y="2606040"/>
            <a:ext cx="3108960" cy="777240"/>
          </a:xfrm>
          <a:prstGeom prst="rect">
            <a:avLst/>
          </a:prstGeom>
          <a:noFill/>
          <a:ln/>
        </p:spPr>
        <p:txBody>
          <a:bodyPr wrap="square" rtlCol="0" anchor="ctr"/>
          <a:lstStyle/>
          <a:p>
            <a:pPr indent="0" marL="0">
              <a:buNone/>
            </a:pPr>
            <a:r>
              <a:rPr lang="en-US" sz="1200" b="1" dirty="0">
                <a:solidFill>
                  <a:srgbClr val="16233F"/>
                </a:solidFill>
                <a:latin typeface="Calibri" pitchFamily="34" charset="0"/>
                <a:ea typeface="Calibri" pitchFamily="34" charset="-122"/>
                <a:cs typeface="Calibri" pitchFamily="34" charset="-120"/>
              </a:rPr>
              <a:t>Alcance</a:t>
            </a:r>
            <a:endParaRPr lang="en-US" sz="1200" dirty="0"/>
          </a:p>
        </p:txBody>
      </p:sp>
      <p:sp>
        <p:nvSpPr>
          <p:cNvPr id="11" name="Text 9"/>
          <p:cNvSpPr/>
          <p:nvPr/>
        </p:nvSpPr>
        <p:spPr>
          <a:xfrm>
            <a:off x="3840480" y="2606040"/>
            <a:ext cx="3566160" cy="777240"/>
          </a:xfrm>
          <a:prstGeom prst="rect">
            <a:avLst/>
          </a:prstGeom>
          <a:noFill/>
          <a:ln/>
        </p:spPr>
        <p:txBody>
          <a:bodyPr wrap="square" rtlCol="0" anchor="ctr"/>
          <a:lstStyle/>
          <a:p>
            <a:pPr indent="0" marL="0">
              <a:buNone/>
            </a:pPr>
            <a:r>
              <a:rPr lang="en-US" sz="1100" dirty="0">
                <a:solidFill>
                  <a:srgbClr val="1C1F26"/>
                </a:solidFill>
                <a:latin typeface="Calibri" pitchFamily="34" charset="0"/>
                <a:ea typeface="Calibri" pitchFamily="34" charset="-122"/>
                <a:cs typeface="Calibri" pitchFamily="34" charset="-120"/>
              </a:rPr>
              <a:t>Una única unidad ejecutable, generalmente un solo archivo.</a:t>
            </a:r>
            <a:endParaRPr lang="en-US" sz="1100" dirty="0"/>
          </a:p>
        </p:txBody>
      </p:sp>
      <p:sp>
        <p:nvSpPr>
          <p:cNvPr id="12" name="Text 10"/>
          <p:cNvSpPr/>
          <p:nvPr/>
        </p:nvSpPr>
        <p:spPr>
          <a:xfrm>
            <a:off x="7452360" y="2606040"/>
            <a:ext cx="3566160" cy="777240"/>
          </a:xfrm>
          <a:prstGeom prst="rect">
            <a:avLst/>
          </a:prstGeom>
          <a:noFill/>
          <a:ln/>
        </p:spPr>
        <p:txBody>
          <a:bodyPr wrap="square" rtlCol="0" anchor="ctr"/>
          <a:lstStyle/>
          <a:p>
            <a:pPr indent="0" marL="0">
              <a:buNone/>
            </a:pPr>
            <a:r>
              <a:rPr lang="en-US" sz="1100" dirty="0">
                <a:solidFill>
                  <a:srgbClr val="1C1F26"/>
                </a:solidFill>
                <a:latin typeface="Calibri" pitchFamily="34" charset="0"/>
                <a:ea typeface="Calibri" pitchFamily="34" charset="-122"/>
                <a:cs typeface="Calibri" pitchFamily="34" charset="-120"/>
              </a:rPr>
              <a:t>Conjunto organizado de módulos, paquetes y recursos.</a:t>
            </a:r>
            <a:endParaRPr lang="en-US" sz="1100" dirty="0"/>
          </a:p>
        </p:txBody>
      </p:sp>
      <p:sp>
        <p:nvSpPr>
          <p:cNvPr id="13" name="Shape 11"/>
          <p:cNvSpPr/>
          <p:nvPr/>
        </p:nvSpPr>
        <p:spPr>
          <a:xfrm>
            <a:off x="640080" y="3383280"/>
            <a:ext cx="10835640" cy="777240"/>
          </a:xfrm>
          <a:prstGeom prst="rect">
            <a:avLst/>
          </a:prstGeom>
          <a:solidFill>
            <a:srgbClr val="F4F5F7"/>
          </a:solidFill>
          <a:ln w="9525">
            <a:solidFill>
              <a:srgbClr val="E1E4E9"/>
            </a:solidFill>
            <a:prstDash val="solid"/>
          </a:ln>
        </p:spPr>
        <p:txBody>
          <a:bodyPr/>
          <a:p/>
        </p:txBody>
      </p:sp>
      <p:sp>
        <p:nvSpPr>
          <p:cNvPr id="14" name="Text 12"/>
          <p:cNvSpPr/>
          <p:nvPr/>
        </p:nvSpPr>
        <p:spPr>
          <a:xfrm>
            <a:off x="640080" y="3383280"/>
            <a:ext cx="3108960" cy="777240"/>
          </a:xfrm>
          <a:prstGeom prst="rect">
            <a:avLst/>
          </a:prstGeom>
          <a:noFill/>
          <a:ln/>
        </p:spPr>
        <p:txBody>
          <a:bodyPr wrap="square" rtlCol="0" anchor="ctr"/>
          <a:lstStyle/>
          <a:p>
            <a:pPr indent="0" marL="0">
              <a:buNone/>
            </a:pPr>
            <a:r>
              <a:rPr lang="en-US" sz="1200" b="1" dirty="0">
                <a:solidFill>
                  <a:srgbClr val="16233F"/>
                </a:solidFill>
                <a:latin typeface="Calibri" pitchFamily="34" charset="0"/>
                <a:ea typeface="Calibri" pitchFamily="34" charset="-122"/>
                <a:cs typeface="Calibri" pitchFamily="34" charset="-120"/>
              </a:rPr>
              <a:t>Estructura</a:t>
            </a:r>
            <a:endParaRPr lang="en-US" sz="1200" dirty="0"/>
          </a:p>
        </p:txBody>
      </p:sp>
      <p:sp>
        <p:nvSpPr>
          <p:cNvPr id="15" name="Text 13"/>
          <p:cNvSpPr/>
          <p:nvPr/>
        </p:nvSpPr>
        <p:spPr>
          <a:xfrm>
            <a:off x="3840480" y="3383280"/>
            <a:ext cx="3566160" cy="777240"/>
          </a:xfrm>
          <a:prstGeom prst="rect">
            <a:avLst/>
          </a:prstGeom>
          <a:noFill/>
          <a:ln/>
        </p:spPr>
        <p:txBody>
          <a:bodyPr wrap="square" rtlCol="0" anchor="ctr"/>
          <a:lstStyle/>
          <a:p>
            <a:pPr indent="0" marL="0">
              <a:buNone/>
            </a:pPr>
            <a:r>
              <a:rPr lang="en-US" sz="1100" dirty="0">
                <a:solidFill>
                  <a:srgbClr val="1C1F26"/>
                </a:solidFill>
                <a:latin typeface="Calibri" pitchFamily="34" charset="0"/>
                <a:ea typeface="Calibri" pitchFamily="34" charset="-122"/>
                <a:cs typeface="Calibri" pitchFamily="34" charset="-120"/>
              </a:rPr>
              <a:t>Sin carpetas ni configuración adicional.</a:t>
            </a:r>
            <a:endParaRPr lang="en-US" sz="1100" dirty="0"/>
          </a:p>
        </p:txBody>
      </p:sp>
      <p:sp>
        <p:nvSpPr>
          <p:cNvPr id="16" name="Text 14"/>
          <p:cNvSpPr/>
          <p:nvPr/>
        </p:nvSpPr>
        <p:spPr>
          <a:xfrm>
            <a:off x="7452360" y="3383280"/>
            <a:ext cx="3566160" cy="777240"/>
          </a:xfrm>
          <a:prstGeom prst="rect">
            <a:avLst/>
          </a:prstGeom>
          <a:noFill/>
          <a:ln/>
        </p:spPr>
        <p:txBody>
          <a:bodyPr wrap="square" rtlCol="0" anchor="ctr"/>
          <a:lstStyle/>
          <a:p>
            <a:pPr indent="0" marL="0">
              <a:buNone/>
            </a:pPr>
            <a:r>
              <a:rPr lang="en-US" sz="1100" dirty="0">
                <a:solidFill>
                  <a:srgbClr val="1C1F26"/>
                </a:solidFill>
                <a:latin typeface="Calibri" pitchFamily="34" charset="0"/>
                <a:ea typeface="Calibri" pitchFamily="34" charset="-122"/>
                <a:cs typeface="Calibri" pitchFamily="34" charset="-120"/>
              </a:rPr>
              <a:t>Estructura de carpetas, dependencias y configuración propia.</a:t>
            </a:r>
            <a:endParaRPr lang="en-US" sz="1100" dirty="0"/>
          </a:p>
        </p:txBody>
      </p:sp>
      <p:sp>
        <p:nvSpPr>
          <p:cNvPr id="17" name="Shape 15"/>
          <p:cNvSpPr/>
          <p:nvPr/>
        </p:nvSpPr>
        <p:spPr>
          <a:xfrm>
            <a:off x="640080" y="4160520"/>
            <a:ext cx="10835640" cy="777240"/>
          </a:xfrm>
          <a:prstGeom prst="rect">
            <a:avLst/>
          </a:prstGeom>
          <a:solidFill>
            <a:srgbClr val="FFFFFF"/>
          </a:solidFill>
          <a:ln w="9525">
            <a:solidFill>
              <a:srgbClr val="E1E4E9"/>
            </a:solidFill>
            <a:prstDash val="solid"/>
          </a:ln>
        </p:spPr>
        <p:txBody>
          <a:bodyPr/>
          <a:p/>
        </p:txBody>
      </p:sp>
      <p:sp>
        <p:nvSpPr>
          <p:cNvPr id="18" name="Text 16"/>
          <p:cNvSpPr/>
          <p:nvPr/>
        </p:nvSpPr>
        <p:spPr>
          <a:xfrm>
            <a:off x="640080" y="4160520"/>
            <a:ext cx="3108960" cy="777240"/>
          </a:xfrm>
          <a:prstGeom prst="rect">
            <a:avLst/>
          </a:prstGeom>
          <a:noFill/>
          <a:ln/>
        </p:spPr>
        <p:txBody>
          <a:bodyPr wrap="square" rtlCol="0" anchor="ctr"/>
          <a:lstStyle/>
          <a:p>
            <a:pPr indent="0" marL="0">
              <a:buNone/>
            </a:pPr>
            <a:r>
              <a:rPr lang="en-US" sz="1200" b="1" dirty="0">
                <a:solidFill>
                  <a:srgbClr val="16233F"/>
                </a:solidFill>
                <a:latin typeface="Calibri" pitchFamily="34" charset="0"/>
                <a:ea typeface="Calibri" pitchFamily="34" charset="-122"/>
                <a:cs typeface="Calibri" pitchFamily="34" charset="-120"/>
              </a:rPr>
              <a:t>Objetivo</a:t>
            </a:r>
            <a:endParaRPr lang="en-US" sz="1200" dirty="0"/>
          </a:p>
        </p:txBody>
      </p:sp>
      <p:sp>
        <p:nvSpPr>
          <p:cNvPr id="19" name="Text 17"/>
          <p:cNvSpPr/>
          <p:nvPr/>
        </p:nvSpPr>
        <p:spPr>
          <a:xfrm>
            <a:off x="3840480" y="4160520"/>
            <a:ext cx="3566160" cy="777240"/>
          </a:xfrm>
          <a:prstGeom prst="rect">
            <a:avLst/>
          </a:prstGeom>
          <a:noFill/>
          <a:ln/>
        </p:spPr>
        <p:txBody>
          <a:bodyPr wrap="square" rtlCol="0" anchor="ctr"/>
          <a:lstStyle/>
          <a:p>
            <a:pPr indent="0" marL="0">
              <a:buNone/>
            </a:pPr>
            <a:r>
              <a:rPr lang="en-US" sz="1100" dirty="0">
                <a:solidFill>
                  <a:srgbClr val="1C1F26"/>
                </a:solidFill>
                <a:latin typeface="Calibri" pitchFamily="34" charset="0"/>
                <a:ea typeface="Calibri" pitchFamily="34" charset="-122"/>
                <a:cs typeface="Calibri" pitchFamily="34" charset="-120"/>
              </a:rPr>
              <a:t>Resolver una tarea puntual y acotada.</a:t>
            </a:r>
            <a:endParaRPr lang="en-US" sz="1100" dirty="0"/>
          </a:p>
        </p:txBody>
      </p:sp>
      <p:sp>
        <p:nvSpPr>
          <p:cNvPr id="20" name="Text 18"/>
          <p:cNvSpPr/>
          <p:nvPr/>
        </p:nvSpPr>
        <p:spPr>
          <a:xfrm>
            <a:off x="7452360" y="4160520"/>
            <a:ext cx="3566160" cy="777240"/>
          </a:xfrm>
          <a:prstGeom prst="rect">
            <a:avLst/>
          </a:prstGeom>
          <a:noFill/>
          <a:ln/>
        </p:spPr>
        <p:txBody>
          <a:bodyPr wrap="square" rtlCol="0" anchor="ctr"/>
          <a:lstStyle/>
          <a:p>
            <a:pPr indent="0" marL="0">
              <a:buNone/>
            </a:pPr>
            <a:r>
              <a:rPr lang="en-US" sz="1100" dirty="0">
                <a:solidFill>
                  <a:srgbClr val="1C1F26"/>
                </a:solidFill>
                <a:latin typeface="Calibri" pitchFamily="34" charset="0"/>
                <a:ea typeface="Calibri" pitchFamily="34" charset="-122"/>
                <a:cs typeface="Calibri" pitchFamily="34" charset="-120"/>
              </a:rPr>
              <a:t>Resolver un problema completo, mantenible en el tiempo.</a:t>
            </a:r>
            <a:endParaRPr lang="en-US" sz="1100" dirty="0"/>
          </a:p>
        </p:txBody>
      </p:sp>
      <p:sp>
        <p:nvSpPr>
          <p:cNvPr id="21" name="Shape 19"/>
          <p:cNvSpPr/>
          <p:nvPr/>
        </p:nvSpPr>
        <p:spPr>
          <a:xfrm>
            <a:off x="640080" y="4937760"/>
            <a:ext cx="10835640" cy="777240"/>
          </a:xfrm>
          <a:prstGeom prst="rect">
            <a:avLst/>
          </a:prstGeom>
          <a:solidFill>
            <a:srgbClr val="F4F5F7"/>
          </a:solidFill>
          <a:ln w="9525">
            <a:solidFill>
              <a:srgbClr val="E1E4E9"/>
            </a:solidFill>
            <a:prstDash val="solid"/>
          </a:ln>
        </p:spPr>
        <p:txBody>
          <a:bodyPr/>
          <a:p/>
        </p:txBody>
      </p:sp>
      <p:sp>
        <p:nvSpPr>
          <p:cNvPr id="22" name="Text 20"/>
          <p:cNvSpPr/>
          <p:nvPr/>
        </p:nvSpPr>
        <p:spPr>
          <a:xfrm>
            <a:off x="640080" y="4937760"/>
            <a:ext cx="3108960" cy="777240"/>
          </a:xfrm>
          <a:prstGeom prst="rect">
            <a:avLst/>
          </a:prstGeom>
          <a:noFill/>
          <a:ln/>
        </p:spPr>
        <p:txBody>
          <a:bodyPr wrap="square" rtlCol="0" anchor="ctr"/>
          <a:lstStyle/>
          <a:p>
            <a:pPr indent="0" marL="0">
              <a:buNone/>
            </a:pPr>
            <a:r>
              <a:rPr lang="en-US" sz="1200" b="1" dirty="0">
                <a:solidFill>
                  <a:srgbClr val="16233F"/>
                </a:solidFill>
                <a:latin typeface="Calibri" pitchFamily="34" charset="0"/>
                <a:ea typeface="Calibri" pitchFamily="34" charset="-122"/>
                <a:cs typeface="Calibri" pitchFamily="34" charset="-120"/>
              </a:rPr>
              <a:t>Ejemplo en la cursada</a:t>
            </a:r>
            <a:endParaRPr lang="en-US" sz="1200" dirty="0"/>
          </a:p>
        </p:txBody>
      </p:sp>
      <p:sp>
        <p:nvSpPr>
          <p:cNvPr id="23" name="Text 21"/>
          <p:cNvSpPr/>
          <p:nvPr/>
        </p:nvSpPr>
        <p:spPr>
          <a:xfrm>
            <a:off x="3840480" y="4937760"/>
            <a:ext cx="3566160" cy="777240"/>
          </a:xfrm>
          <a:prstGeom prst="rect">
            <a:avLst/>
          </a:prstGeom>
          <a:noFill/>
          <a:ln/>
        </p:spPr>
        <p:txBody>
          <a:bodyPr wrap="square" rtlCol="0" anchor="ctr"/>
          <a:lstStyle/>
          <a:p>
            <a:pPr indent="0" marL="0">
              <a:buNone/>
            </a:pPr>
            <a:r>
              <a:rPr lang="en-US" sz="1100" dirty="0">
                <a:solidFill>
                  <a:srgbClr val="1C1F26"/>
                </a:solidFill>
                <a:latin typeface="Calibri" pitchFamily="34" charset="0"/>
                <a:ea typeface="Calibri" pitchFamily="34" charset="-122"/>
                <a:cs typeface="Calibri" pitchFamily="34" charset="-120"/>
              </a:rPr>
              <a:t>Un script que calcula un promedio.</a:t>
            </a:r>
            <a:endParaRPr lang="en-US" sz="1100" dirty="0"/>
          </a:p>
        </p:txBody>
      </p:sp>
      <p:sp>
        <p:nvSpPr>
          <p:cNvPr id="24" name="Text 22"/>
          <p:cNvSpPr/>
          <p:nvPr/>
        </p:nvSpPr>
        <p:spPr>
          <a:xfrm>
            <a:off x="7452360" y="4937760"/>
            <a:ext cx="3566160" cy="777240"/>
          </a:xfrm>
          <a:prstGeom prst="rect">
            <a:avLst/>
          </a:prstGeom>
          <a:noFill/>
          <a:ln/>
        </p:spPr>
        <p:txBody>
          <a:bodyPr wrap="square" rtlCol="0" anchor="ctr"/>
          <a:lstStyle/>
          <a:p>
            <a:pPr indent="0" marL="0">
              <a:buNone/>
            </a:pPr>
            <a:r>
              <a:rPr lang="en-US" sz="1100" dirty="0">
                <a:solidFill>
                  <a:srgbClr val="1C1F26"/>
                </a:solidFill>
                <a:latin typeface="Calibri" pitchFamily="34" charset="0"/>
                <a:ea typeface="Calibri" pitchFamily="34" charset="-122"/>
                <a:cs typeface="Calibri" pitchFamily="34" charset="-120"/>
              </a:rPr>
              <a:t>El sistema que integra clases, archivos y persistencia.</a:t>
            </a:r>
            <a:endParaRPr lang="en-US" sz="1100" dirty="0"/>
          </a:p>
        </p:txBody>
      </p:sp>
      <p:sp>
        <p:nvSpPr>
          <p:cNvPr id="25" name="Text 23"/>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PROGRAMACIÓN II · UAI · Unidad 1 · Clase 1</a:t>
            </a:r>
            <a:endParaRPr lang="en-US" sz="900" dirty="0"/>
          </a:p>
        </p:txBody>
      </p:sp>
      <p:sp>
        <p:nvSpPr>
          <p:cNvPr id="26" name="Text 2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6233F"/>
        </a:solidFill>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MATERIAL DE ESTUDIO · 5 DE 12</a:t>
            </a:r>
            <a:endParaRPr lang="en-US" sz="1300" dirty="0"/>
          </a:p>
        </p:txBody>
      </p:sp>
      <p:sp>
        <p:nvSpPr>
          <p:cNvPr id="3" name="Text 1"/>
          <p:cNvSpPr/>
          <p:nvPr/>
        </p:nvSpPr>
        <p:spPr>
          <a:xfrm>
            <a:off x="640080" y="777240"/>
            <a:ext cx="10881360" cy="8229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Por qué esta distinción importa para toda la materia</a:t>
            </a:r>
            <a:endParaRPr lang="en-US" sz="2600" dirty="0"/>
          </a:p>
        </p:txBody>
      </p:sp>
      <p:sp>
        <p:nvSpPr>
          <p:cNvPr id="4" name="Shape 2"/>
          <p:cNvSpPr/>
          <p:nvPr/>
        </p:nvSpPr>
        <p:spPr>
          <a:xfrm>
            <a:off x="640080" y="2185416"/>
            <a:ext cx="118872" cy="118872"/>
          </a:xfrm>
          <a:prstGeom prst="ellipse">
            <a:avLst/>
          </a:prstGeom>
          <a:solidFill>
            <a:srgbClr val="C9A24B"/>
          </a:solidFill>
          <a:ln/>
        </p:spPr>
        <p:txBody>
          <a:bodyPr/>
          <a:p/>
        </p:txBody>
      </p:sp>
      <p:sp>
        <p:nvSpPr>
          <p:cNvPr id="5" name="Text 3"/>
          <p:cNvSpPr/>
          <p:nvPr/>
        </p:nvSpPr>
        <p:spPr>
          <a:xfrm>
            <a:off x="914400" y="2103120"/>
            <a:ext cx="10149840" cy="914400"/>
          </a:xfrm>
          <a:prstGeom prst="rect">
            <a:avLst/>
          </a:prstGeom>
          <a:noFill/>
          <a:ln/>
        </p:spPr>
        <p:txBody>
          <a:bodyPr wrap="square" rtlCol="0" anchor="t"/>
          <a:lstStyle/>
          <a:p>
            <a:pPr indent="0" marL="0">
              <a:buNone/>
            </a:pPr>
            <a:r>
              <a:rPr lang="en-US" sz="1600" dirty="0">
                <a:solidFill>
                  <a:srgbClr val="E6E9EF"/>
                </a:solidFill>
                <a:latin typeface="Calibri" pitchFamily="34" charset="0"/>
                <a:ea typeface="Calibri" pitchFamily="34" charset="-122"/>
                <a:cs typeface="Calibri" pitchFamily="34" charset="-120"/>
              </a:rPr>
              <a:t>A partir de la Unidad 2 vamos a organizar el código en clases y objetos: eso solo tiene sentido dentro de un proyecto.</a:t>
            </a:r>
            <a:endParaRPr lang="en-US" sz="1600" dirty="0"/>
          </a:p>
        </p:txBody>
      </p:sp>
      <p:sp>
        <p:nvSpPr>
          <p:cNvPr id="6" name="Shape 4"/>
          <p:cNvSpPr/>
          <p:nvPr/>
        </p:nvSpPr>
        <p:spPr>
          <a:xfrm>
            <a:off x="640080" y="3099816"/>
            <a:ext cx="118872" cy="118872"/>
          </a:xfrm>
          <a:prstGeom prst="ellipse">
            <a:avLst/>
          </a:prstGeom>
          <a:solidFill>
            <a:srgbClr val="C9A24B"/>
          </a:solidFill>
          <a:ln/>
        </p:spPr>
        <p:txBody>
          <a:bodyPr/>
          <a:p/>
        </p:txBody>
      </p:sp>
      <p:sp>
        <p:nvSpPr>
          <p:cNvPr id="7" name="Text 5"/>
          <p:cNvSpPr/>
          <p:nvPr/>
        </p:nvSpPr>
        <p:spPr>
          <a:xfrm>
            <a:off x="914400" y="3017520"/>
            <a:ext cx="10149840" cy="914400"/>
          </a:xfrm>
          <a:prstGeom prst="rect">
            <a:avLst/>
          </a:prstGeom>
          <a:noFill/>
          <a:ln/>
        </p:spPr>
        <p:txBody>
          <a:bodyPr wrap="square" rtlCol="0" anchor="t"/>
          <a:lstStyle/>
          <a:p>
            <a:pPr indent="0" marL="0">
              <a:buNone/>
            </a:pPr>
            <a:r>
              <a:rPr lang="en-US" sz="1600" dirty="0">
                <a:solidFill>
                  <a:srgbClr val="E6E9EF"/>
                </a:solidFill>
                <a:latin typeface="Calibri" pitchFamily="34" charset="0"/>
                <a:ea typeface="Calibri" pitchFamily="34" charset="-122"/>
                <a:cs typeface="Calibri" pitchFamily="34" charset="-120"/>
              </a:rPr>
              <a:t>Los trabajos prácticos de la cursada se entregan como proyecto, con su carpeta y organización propia.</a:t>
            </a:r>
            <a:endParaRPr lang="en-US" sz="1600" dirty="0"/>
          </a:p>
        </p:txBody>
      </p:sp>
      <p:sp>
        <p:nvSpPr>
          <p:cNvPr id="8" name="Shape 6"/>
          <p:cNvSpPr/>
          <p:nvPr/>
        </p:nvSpPr>
        <p:spPr>
          <a:xfrm>
            <a:off x="640080" y="4014216"/>
            <a:ext cx="118872" cy="118872"/>
          </a:xfrm>
          <a:prstGeom prst="ellipse">
            <a:avLst/>
          </a:prstGeom>
          <a:solidFill>
            <a:srgbClr val="C9A24B"/>
          </a:solidFill>
          <a:ln/>
        </p:spPr>
        <p:txBody>
          <a:bodyPr/>
          <a:p/>
        </p:txBody>
      </p:sp>
      <p:sp>
        <p:nvSpPr>
          <p:cNvPr id="9" name="Text 7"/>
          <p:cNvSpPr/>
          <p:nvPr/>
        </p:nvSpPr>
        <p:spPr>
          <a:xfrm>
            <a:off x="914400" y="3931920"/>
            <a:ext cx="10149840" cy="914400"/>
          </a:xfrm>
          <a:prstGeom prst="rect">
            <a:avLst/>
          </a:prstGeom>
          <a:noFill/>
          <a:ln/>
        </p:spPr>
        <p:txBody>
          <a:bodyPr wrap="square" rtlCol="0" anchor="t"/>
          <a:lstStyle/>
          <a:p>
            <a:pPr indent="0" marL="0">
              <a:buNone/>
            </a:pPr>
            <a:r>
              <a:rPr lang="en-US" sz="1600" dirty="0">
                <a:solidFill>
                  <a:srgbClr val="E6E9EF"/>
                </a:solidFill>
                <a:latin typeface="Calibri" pitchFamily="34" charset="0"/>
                <a:ea typeface="Calibri" pitchFamily="34" charset="-122"/>
                <a:cs typeface="Calibri" pitchFamily="34" charset="-120"/>
              </a:rPr>
              <a:t>Entender esta diferencia hoy evita errores de organización más adelante, cuando el código crezca.</a:t>
            </a:r>
            <a:endParaRPr lang="en-US" sz="1600" dirty="0"/>
          </a:p>
        </p:txBody>
      </p:sp>
      <p:sp>
        <p:nvSpPr>
          <p:cNvPr id="10" name="Text 8"/>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PROGRAMACIÓN II · UAI · Unidad 1 · Clase 1</a:t>
            </a:r>
            <a:endParaRPr lang="en-US" sz="900" dirty="0"/>
          </a:p>
        </p:txBody>
      </p:sp>
      <p:sp>
        <p:nvSpPr>
          <p:cNvPr id="11" name="Text 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457200"/>
            <a:ext cx="9144000" cy="365760"/>
          </a:xfrm>
          <a:prstGeom prst="rect">
            <a:avLst/>
          </a:prstGeom>
          <a:noFill/>
        </p:spPr>
        <p:txBody>
          <a:bodyPr wrap="square" anchor="t">
            <a:spAutoFit/>
          </a:bodyPr>
          <a:lstStyle/>
          <a:p>
            <a:pPr algn="l"/>
            <a:r>
              <a:rPr sz="1300" b="1" i="0">
                <a:solidFill>
                  <a:srgbClr val="C9A24B"/>
                </a:solidFill>
                <a:latin typeface="Calibri"/>
              </a:rPr>
              <a:t>MATERIAL DE ESTUDIO · 6 DE 12</a:t>
            </a:r>
          </a:p>
        </p:txBody>
      </p:sp>
      <p:sp>
        <p:nvSpPr>
          <p:cNvPr id="3" name="TextBox 2"/>
          <p:cNvSpPr txBox="1"/>
          <p:nvPr/>
        </p:nvSpPr>
        <p:spPr>
          <a:xfrm>
            <a:off x="640080" y="777240"/>
            <a:ext cx="10881360" cy="731520"/>
          </a:xfrm>
          <a:prstGeom prst="rect">
            <a:avLst/>
          </a:prstGeom>
          <a:noFill/>
        </p:spPr>
        <p:txBody>
          <a:bodyPr wrap="square" anchor="t">
            <a:spAutoFit/>
          </a:bodyPr>
          <a:lstStyle/>
          <a:p>
            <a:pPr algn="l"/>
            <a:r>
              <a:rPr sz="2800" b="1" i="0">
                <a:solidFill>
                  <a:srgbClr val="1C1F26"/>
                </a:solidFill>
                <a:latin typeface="Calibri"/>
              </a:rPr>
              <a:t>Proyecto vs. Software (1/3): Naturaleza y Duración</a:t>
            </a:r>
          </a:p>
        </p:txBody>
      </p:sp>
      <p:sp>
        <p:nvSpPr>
          <p:cNvPr id="4" name="TextBox 3"/>
          <p:cNvSpPr txBox="1"/>
          <p:nvPr/>
        </p:nvSpPr>
        <p:spPr>
          <a:xfrm>
            <a:off x="640080" y="1600200"/>
            <a:ext cx="10881360" cy="548640"/>
          </a:xfrm>
          <a:prstGeom prst="rect">
            <a:avLst/>
          </a:prstGeom>
          <a:noFill/>
        </p:spPr>
        <p:txBody>
          <a:bodyPr wrap="square" anchor="t">
            <a:spAutoFit/>
          </a:bodyPr>
          <a:lstStyle/>
          <a:p>
            <a:pPr algn="l">
              <a:lnSpc>
                <a:spcPct val="115000"/>
              </a:lnSpc>
            </a:pPr>
            <a:r>
              <a:rPr sz="1400" b="0" i="0">
                <a:solidFill>
                  <a:srgbClr val="5B6472"/>
                </a:solidFill>
                <a:latin typeface="Calibri"/>
              </a:rPr>
              <a:t>Un proyecto de software y el software en sí no son lo mismo: el proyecto termina, pero el producto que deja atrás sigue vivo.</a:t>
            </a:r>
          </a:p>
        </p:txBody>
      </p:sp>
      <p:sp>
        <p:nvSpPr>
          <p:cNvPr id="5" name="Rounded Rectangle 4"/>
          <p:cNvSpPr/>
          <p:nvPr/>
        </p:nvSpPr>
        <p:spPr>
          <a:xfrm>
            <a:off x="640080" y="2331720"/>
            <a:ext cx="5257800" cy="3931920"/>
          </a:xfrm>
          <a:prstGeom prst="roundRect">
            <a:avLst>
              <a:gd name="adj" fmla="val 35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606040"/>
            <a:ext cx="4617720" cy="457200"/>
          </a:xfrm>
          <a:prstGeom prst="rect">
            <a:avLst/>
          </a:prstGeom>
          <a:noFill/>
        </p:spPr>
        <p:txBody>
          <a:bodyPr wrap="square" anchor="t">
            <a:spAutoFit/>
          </a:bodyPr>
          <a:lstStyle/>
          <a:p>
            <a:pPr algn="l"/>
            <a:r>
              <a:rPr sz="2000" b="1" i="0">
                <a:solidFill>
                  <a:srgbClr val="16233F"/>
                </a:solidFill>
                <a:latin typeface="Calibri"/>
              </a:rPr>
              <a:t>PROYECTO</a:t>
            </a:r>
          </a:p>
        </p:txBody>
      </p:sp>
      <p:sp>
        <p:nvSpPr>
          <p:cNvPr id="7" name="TextBox 6"/>
          <p:cNvSpPr txBox="1"/>
          <p:nvPr/>
        </p:nvSpPr>
        <p:spPr>
          <a:xfrm>
            <a:off x="960120" y="3154680"/>
            <a:ext cx="4617720" cy="1280160"/>
          </a:xfrm>
          <a:prstGeom prst="rect">
            <a:avLst/>
          </a:prstGeom>
          <a:noFill/>
        </p:spPr>
        <p:txBody>
          <a:bodyPr wrap="square" anchor="t">
            <a:spAutoFit/>
          </a:bodyPr>
          <a:lstStyle/>
          <a:p>
            <a:pPr algn="l">
              <a:lnSpc>
                <a:spcPct val="115000"/>
              </a:lnSpc>
            </a:pPr>
            <a:r>
              <a:rPr sz="1450" b="0" i="0">
                <a:solidFill>
                  <a:srgbClr val="1C1F26"/>
                </a:solidFill>
                <a:latin typeface="Calibri"/>
              </a:rPr>
              <a:t>Es finito: arranca y termina en fechas definidas, con un presupuesto y un alcance delimitado de antemano.</a:t>
            </a:r>
          </a:p>
        </p:txBody>
      </p:sp>
      <p:sp>
        <p:nvSpPr>
          <p:cNvPr id="8" name="TextBox 7"/>
          <p:cNvSpPr txBox="1"/>
          <p:nvPr/>
        </p:nvSpPr>
        <p:spPr>
          <a:xfrm>
            <a:off x="960120" y="4480560"/>
            <a:ext cx="4617720" cy="1554480"/>
          </a:xfrm>
          <a:prstGeom prst="rect">
            <a:avLst/>
          </a:prstGeom>
          <a:noFill/>
        </p:spPr>
        <p:txBody>
          <a:bodyPr wrap="square">
            <a:spAutoFit/>
          </a:bodyPr>
          <a:lstStyle/>
          <a:p>
            <a:pPr marL="256032" indent="-256032">
              <a:spcAft>
                <a:spcPts val="1000"/>
              </a:spcAft>
            </a:pPr>
            <a:r>
              <a:rPr sz="1300">
                <a:solidFill>
                  <a:srgbClr val="C9A24B"/>
                </a:solidFill>
                <a:latin typeface="Calibri"/>
              </a:rPr>
              <a:t>●  </a:t>
            </a:r>
            <a:r>
              <a:rPr sz="1300">
                <a:solidFill>
                  <a:srgbClr val="1C1F26"/>
                </a:solidFill>
                <a:latin typeface="Calibri"/>
              </a:rPr>
              <a:t>Tiene un inicio y un cierre formal.</a:t>
            </a:r>
          </a:p>
          <a:p>
            <a:pPr marL="256032" indent="-256032">
              <a:spcAft>
                <a:spcPts val="1000"/>
              </a:spcAft>
            </a:pPr>
            <a:r>
              <a:rPr sz="1300">
                <a:solidFill>
                  <a:srgbClr val="C9A24B"/>
                </a:solidFill>
                <a:latin typeface="Calibri"/>
              </a:rPr>
              <a:t>●  </a:t>
            </a:r>
            <a:r>
              <a:rPr sz="1300">
                <a:solidFill>
                  <a:srgbClr val="1C1F26"/>
                </a:solidFill>
                <a:latin typeface="Calibri"/>
              </a:rPr>
              <a:t>El equipo se arma y se disuelve junto con el proyecto.</a:t>
            </a:r>
          </a:p>
          <a:p>
            <a:pPr marL="256032" indent="-256032">
              <a:spcAft>
                <a:spcPts val="1000"/>
              </a:spcAft>
            </a:pPr>
            <a:r>
              <a:rPr sz="1300">
                <a:solidFill>
                  <a:srgbClr val="C9A24B"/>
                </a:solidFill>
                <a:latin typeface="Calibri"/>
              </a:rPr>
              <a:t>●  </a:t>
            </a:r>
            <a:r>
              <a:rPr sz="1300">
                <a:solidFill>
                  <a:srgbClr val="1C1F26"/>
                </a:solidFill>
                <a:latin typeface="Calibri"/>
              </a:rPr>
              <a:t>Ejemplo: los 4 meses que dura el desarrollo de la primera versión de una app.</a:t>
            </a:r>
          </a:p>
        </p:txBody>
      </p:sp>
      <p:sp>
        <p:nvSpPr>
          <p:cNvPr id="9" name="Rounded Rectangle 8"/>
          <p:cNvSpPr/>
          <p:nvPr/>
        </p:nvSpPr>
        <p:spPr>
          <a:xfrm>
            <a:off x="6263640" y="2331720"/>
            <a:ext cx="5257800" cy="3931920"/>
          </a:xfrm>
          <a:prstGeom prst="roundRect">
            <a:avLst>
              <a:gd name="adj" fmla="val 3500"/>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606040"/>
            <a:ext cx="4617720" cy="457200"/>
          </a:xfrm>
          <a:prstGeom prst="rect">
            <a:avLst/>
          </a:prstGeom>
          <a:noFill/>
        </p:spPr>
        <p:txBody>
          <a:bodyPr wrap="square" anchor="t">
            <a:spAutoFit/>
          </a:bodyPr>
          <a:lstStyle/>
          <a:p>
            <a:pPr algn="l"/>
            <a:r>
              <a:rPr sz="2000" b="1" i="0">
                <a:solidFill>
                  <a:srgbClr val="C9A24B"/>
                </a:solidFill>
                <a:latin typeface="Calibri"/>
              </a:rPr>
              <a:t>SOFTWARE</a:t>
            </a:r>
          </a:p>
        </p:txBody>
      </p:sp>
      <p:sp>
        <p:nvSpPr>
          <p:cNvPr id="11" name="TextBox 10"/>
          <p:cNvSpPr txBox="1"/>
          <p:nvPr/>
        </p:nvSpPr>
        <p:spPr>
          <a:xfrm>
            <a:off x="6583680" y="3154680"/>
            <a:ext cx="4617720" cy="1280160"/>
          </a:xfrm>
          <a:prstGeom prst="rect">
            <a:avLst/>
          </a:prstGeom>
          <a:noFill/>
        </p:spPr>
        <p:txBody>
          <a:bodyPr wrap="square" anchor="t">
            <a:spAutoFit/>
          </a:bodyPr>
          <a:lstStyle/>
          <a:p>
            <a:pPr algn="l">
              <a:lnSpc>
                <a:spcPct val="115000"/>
              </a:lnSpc>
            </a:pPr>
            <a:r>
              <a:rPr sz="1450" b="0" i="0">
                <a:solidFill>
                  <a:srgbClr val="FFFFFF"/>
                </a:solidFill>
                <a:latin typeface="Calibri"/>
              </a:rPr>
              <a:t>Es un activo vivo: una vez lanzado, sigue existiendo y evolucionando mucho después de que el proyecto que lo originó terminó.</a:t>
            </a:r>
          </a:p>
        </p:txBody>
      </p:sp>
      <p:sp>
        <p:nvSpPr>
          <p:cNvPr id="12" name="TextBox 11"/>
          <p:cNvSpPr txBox="1"/>
          <p:nvPr/>
        </p:nvSpPr>
        <p:spPr>
          <a:xfrm>
            <a:off x="6583680" y="4480560"/>
            <a:ext cx="4617720" cy="1554480"/>
          </a:xfrm>
          <a:prstGeom prst="rect">
            <a:avLst/>
          </a:prstGeom>
          <a:noFill/>
        </p:spPr>
        <p:txBody>
          <a:bodyPr wrap="square">
            <a:spAutoFit/>
          </a:bodyPr>
          <a:lstStyle/>
          <a:p>
            <a:pPr marL="256032" indent="-256032">
              <a:spcAft>
                <a:spcPts val="1000"/>
              </a:spcAft>
            </a:pPr>
            <a:r>
              <a:rPr sz="1300">
                <a:solidFill>
                  <a:srgbClr val="C9A24B"/>
                </a:solidFill>
                <a:latin typeface="Calibri"/>
              </a:rPr>
              <a:t>●  </a:t>
            </a:r>
            <a:r>
              <a:rPr sz="1300">
                <a:solidFill>
                  <a:srgbClr val="FFFFFF"/>
                </a:solidFill>
                <a:latin typeface="Calibri"/>
              </a:rPr>
              <a:t>Requiere mantenimiento, parches y actualizaciones constantes.</a:t>
            </a:r>
          </a:p>
          <a:p>
            <a:pPr marL="256032" indent="-256032">
              <a:spcAft>
                <a:spcPts val="1000"/>
              </a:spcAft>
            </a:pPr>
            <a:r>
              <a:rPr sz="1300">
                <a:solidFill>
                  <a:srgbClr val="C9A24B"/>
                </a:solidFill>
                <a:latin typeface="Calibri"/>
              </a:rPr>
              <a:t>●  </a:t>
            </a:r>
            <a:r>
              <a:rPr sz="1300">
                <a:solidFill>
                  <a:srgbClr val="FFFFFF"/>
                </a:solidFill>
                <a:latin typeface="Calibri"/>
              </a:rPr>
              <a:t>No tiene una fecha de “fin” natural mientras siga en uso.</a:t>
            </a:r>
          </a:p>
          <a:p>
            <a:pPr marL="256032" indent="-256032">
              <a:spcAft>
                <a:spcPts val="1000"/>
              </a:spcAft>
            </a:pPr>
            <a:r>
              <a:rPr sz="1300">
                <a:solidFill>
                  <a:srgbClr val="C9A24B"/>
                </a:solidFill>
                <a:latin typeface="Calibri"/>
              </a:rPr>
              <a:t>●  </a:t>
            </a:r>
            <a:r>
              <a:rPr sz="1300">
                <a:solidFill>
                  <a:srgbClr val="FFFFFF"/>
                </a:solidFill>
                <a:latin typeface="Calibri"/>
              </a:rPr>
              <a:t>Ejemplo: esa misma app, 5 años después, sigue recibiendo actualizaciones.</a:t>
            </a:r>
          </a:p>
        </p:txBody>
      </p:sp>
      <p:sp>
        <p:nvSpPr>
          <p:cNvPr id="13" name="TextBox 12"/>
          <p:cNvSpPr txBox="1"/>
          <p:nvPr/>
        </p:nvSpPr>
        <p:spPr>
          <a:xfrm>
            <a:off x="457200" y="6473952"/>
            <a:ext cx="9144000" cy="274320"/>
          </a:xfrm>
          <a:prstGeom prst="rect">
            <a:avLst/>
          </a:prstGeom>
          <a:noFill/>
        </p:spPr>
        <p:txBody>
          <a:bodyPr wrap="square" anchor="t">
            <a:spAutoFit/>
          </a:bodyPr>
          <a:lstStyle/>
          <a:p>
            <a:pPr algn="l"/>
            <a:r>
              <a:rPr sz="1000" b="0" i="0">
                <a:solidFill>
                  <a:srgbClr val="5B6472"/>
                </a:solidFill>
                <a:latin typeface="Calibri"/>
              </a:rPr>
              <a:t>PROGRAMACIÓN II · UAI · Unidad 1 · Clase 1</a:t>
            </a:r>
          </a:p>
        </p:txBody>
      </p:sp>
      <p:sp>
        <p:nvSpPr>
          <p:cNvPr id="14" name="TextBox 13"/>
          <p:cNvSpPr txBox="1"/>
          <p:nvPr/>
        </p:nvSpPr>
        <p:spPr>
          <a:xfrm>
            <a:off x="11274552" y="6473952"/>
            <a:ext cx="457200" cy="274320"/>
          </a:xfrm>
          <a:prstGeom prst="rect">
            <a:avLst/>
          </a:prstGeom>
          <a:noFill/>
        </p:spPr>
        <p:txBody>
          <a:bodyPr wrap="square" anchor="t">
            <a:spAutoFit/>
          </a:bodyPr>
          <a:lstStyle/>
          <a:p>
            <a:pPr algn="l"/>
            <a:r>
              <a:rPr sz="1000" b="0" i="0">
                <a:solidFill>
                  <a:srgbClr val="5B6472"/>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457200"/>
            <a:ext cx="9144000" cy="365760"/>
          </a:xfrm>
          <a:prstGeom prst="rect">
            <a:avLst/>
          </a:prstGeom>
          <a:noFill/>
        </p:spPr>
        <p:txBody>
          <a:bodyPr wrap="square" anchor="t">
            <a:spAutoFit/>
          </a:bodyPr>
          <a:lstStyle/>
          <a:p>
            <a:pPr algn="l"/>
            <a:r>
              <a:rPr sz="1300" b="1" i="0">
                <a:solidFill>
                  <a:srgbClr val="C9A24B"/>
                </a:solidFill>
                <a:latin typeface="Calibri"/>
              </a:rPr>
              <a:t>MATERIAL DE ESTUDIO · 7 DE 12</a:t>
            </a:r>
          </a:p>
        </p:txBody>
      </p:sp>
      <p:sp>
        <p:nvSpPr>
          <p:cNvPr id="3" name="TextBox 2"/>
          <p:cNvSpPr txBox="1"/>
          <p:nvPr/>
        </p:nvSpPr>
        <p:spPr>
          <a:xfrm>
            <a:off x="640080" y="777240"/>
            <a:ext cx="10881360" cy="731520"/>
          </a:xfrm>
          <a:prstGeom prst="rect">
            <a:avLst/>
          </a:prstGeom>
          <a:noFill/>
        </p:spPr>
        <p:txBody>
          <a:bodyPr wrap="square" anchor="t">
            <a:spAutoFit/>
          </a:bodyPr>
          <a:lstStyle/>
          <a:p>
            <a:pPr algn="l"/>
            <a:r>
              <a:rPr sz="2800" b="1" i="0">
                <a:solidFill>
                  <a:srgbClr val="1C1F26"/>
                </a:solidFill>
                <a:latin typeface="Calibri"/>
              </a:rPr>
              <a:t>Proyecto vs. Software (2/3): Enfoque de Éxito</a:t>
            </a:r>
          </a:p>
        </p:txBody>
      </p:sp>
      <p:sp>
        <p:nvSpPr>
          <p:cNvPr id="4" name="TextBox 3"/>
          <p:cNvSpPr txBox="1"/>
          <p:nvPr/>
        </p:nvSpPr>
        <p:spPr>
          <a:xfrm>
            <a:off x="640080" y="1600200"/>
            <a:ext cx="10881360" cy="548640"/>
          </a:xfrm>
          <a:prstGeom prst="rect">
            <a:avLst/>
          </a:prstGeom>
          <a:noFill/>
        </p:spPr>
        <p:txBody>
          <a:bodyPr wrap="square" anchor="t">
            <a:spAutoFit/>
          </a:bodyPr>
          <a:lstStyle/>
          <a:p>
            <a:pPr algn="l">
              <a:lnSpc>
                <a:spcPct val="115000"/>
              </a:lnSpc>
            </a:pPr>
            <a:r>
              <a:rPr sz="1400" b="0" i="0">
                <a:solidFill>
                  <a:srgbClr val="5B6472"/>
                </a:solidFill>
                <a:latin typeface="Calibri"/>
              </a:rPr>
              <a:t>¿Cómo se sabe si salió bien? La vara para medir el éxito cambia por completo según de cuál de los dos se trate.</a:t>
            </a:r>
          </a:p>
        </p:txBody>
      </p:sp>
      <p:sp>
        <p:nvSpPr>
          <p:cNvPr id="5" name="Rounded Rectangle 4"/>
          <p:cNvSpPr/>
          <p:nvPr/>
        </p:nvSpPr>
        <p:spPr>
          <a:xfrm>
            <a:off x="640080" y="2331720"/>
            <a:ext cx="5257800" cy="3931920"/>
          </a:xfrm>
          <a:prstGeom prst="roundRect">
            <a:avLst>
              <a:gd name="adj" fmla="val 35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606040"/>
            <a:ext cx="4617720" cy="457200"/>
          </a:xfrm>
          <a:prstGeom prst="rect">
            <a:avLst/>
          </a:prstGeom>
          <a:noFill/>
        </p:spPr>
        <p:txBody>
          <a:bodyPr wrap="square" anchor="t">
            <a:spAutoFit/>
          </a:bodyPr>
          <a:lstStyle/>
          <a:p>
            <a:pPr algn="l"/>
            <a:r>
              <a:rPr sz="2000" b="1" i="0">
                <a:solidFill>
                  <a:srgbClr val="16233F"/>
                </a:solidFill>
                <a:latin typeface="Calibri"/>
              </a:rPr>
              <a:t>PROYECTO</a:t>
            </a:r>
          </a:p>
        </p:txBody>
      </p:sp>
      <p:sp>
        <p:nvSpPr>
          <p:cNvPr id="7" name="TextBox 6"/>
          <p:cNvSpPr txBox="1"/>
          <p:nvPr/>
        </p:nvSpPr>
        <p:spPr>
          <a:xfrm>
            <a:off x="960120" y="3154680"/>
            <a:ext cx="4617720" cy="1280160"/>
          </a:xfrm>
          <a:prstGeom prst="rect">
            <a:avLst/>
          </a:prstGeom>
          <a:noFill/>
        </p:spPr>
        <p:txBody>
          <a:bodyPr wrap="square" anchor="t">
            <a:spAutoFit/>
          </a:bodyPr>
          <a:lstStyle/>
          <a:p>
            <a:pPr algn="l">
              <a:lnSpc>
                <a:spcPct val="115000"/>
              </a:lnSpc>
            </a:pPr>
            <a:r>
              <a:rPr sz="1450" b="0" i="0">
                <a:solidFill>
                  <a:srgbClr val="1C1F26"/>
                </a:solidFill>
                <a:latin typeface="Calibri"/>
              </a:rPr>
              <a:t>Se mide con la llamada "triple restricción": entregar a tiempo, dentro del presupuesto y con las características planeadas.</a:t>
            </a:r>
          </a:p>
        </p:txBody>
      </p:sp>
      <p:sp>
        <p:nvSpPr>
          <p:cNvPr id="8" name="TextBox 7"/>
          <p:cNvSpPr txBox="1"/>
          <p:nvPr/>
        </p:nvSpPr>
        <p:spPr>
          <a:xfrm>
            <a:off x="960120" y="4480560"/>
            <a:ext cx="4617720" cy="1554480"/>
          </a:xfrm>
          <a:prstGeom prst="rect">
            <a:avLst/>
          </a:prstGeom>
          <a:noFill/>
        </p:spPr>
        <p:txBody>
          <a:bodyPr wrap="square">
            <a:spAutoFit/>
          </a:bodyPr>
          <a:lstStyle/>
          <a:p>
            <a:pPr marL="256032" indent="-256032">
              <a:spcAft>
                <a:spcPts val="1000"/>
              </a:spcAft>
            </a:pPr>
            <a:r>
              <a:rPr sz="1300">
                <a:solidFill>
                  <a:srgbClr val="C9A24B"/>
                </a:solidFill>
                <a:latin typeface="Calibri"/>
              </a:rPr>
              <a:t>●  </a:t>
            </a:r>
            <a:r>
              <a:rPr sz="1300">
                <a:solidFill>
                  <a:srgbClr val="1C1F26"/>
                </a:solidFill>
                <a:latin typeface="Calibri"/>
              </a:rPr>
              <a:t>Éxito = cumplir el plan original.</a:t>
            </a:r>
          </a:p>
          <a:p>
            <a:pPr marL="256032" indent="-256032">
              <a:spcAft>
                <a:spcPts val="1000"/>
              </a:spcAft>
            </a:pPr>
            <a:r>
              <a:rPr sz="1300">
                <a:solidFill>
                  <a:srgbClr val="C9A24B"/>
                </a:solidFill>
                <a:latin typeface="Calibri"/>
              </a:rPr>
              <a:t>●  </a:t>
            </a:r>
            <a:r>
              <a:rPr sz="1300">
                <a:solidFill>
                  <a:srgbClr val="1C1F26"/>
                </a:solidFill>
                <a:latin typeface="Calibri"/>
              </a:rPr>
              <a:t>Se evalúa al cierre del proyecto.</a:t>
            </a:r>
          </a:p>
          <a:p>
            <a:pPr marL="256032" indent="-256032">
              <a:spcAft>
                <a:spcPts val="1000"/>
              </a:spcAft>
            </a:pPr>
            <a:r>
              <a:rPr sz="1300">
                <a:solidFill>
                  <a:srgbClr val="C9A24B"/>
                </a:solidFill>
                <a:latin typeface="Calibri"/>
              </a:rPr>
              <a:t>●  </a:t>
            </a:r>
            <a:r>
              <a:rPr sz="1300">
                <a:solidFill>
                  <a:srgbClr val="1C1F26"/>
                </a:solidFill>
                <a:latin typeface="Calibri"/>
              </a:rPr>
              <a:t>Ejemplo: la primera versión salió el día pactado y con todo lo pedido.</a:t>
            </a:r>
          </a:p>
        </p:txBody>
      </p:sp>
      <p:sp>
        <p:nvSpPr>
          <p:cNvPr id="9" name="Rounded Rectangle 8"/>
          <p:cNvSpPr/>
          <p:nvPr/>
        </p:nvSpPr>
        <p:spPr>
          <a:xfrm>
            <a:off x="6263640" y="2331720"/>
            <a:ext cx="5257800" cy="3931920"/>
          </a:xfrm>
          <a:prstGeom prst="roundRect">
            <a:avLst>
              <a:gd name="adj" fmla="val 3500"/>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606040"/>
            <a:ext cx="4617720" cy="457200"/>
          </a:xfrm>
          <a:prstGeom prst="rect">
            <a:avLst/>
          </a:prstGeom>
          <a:noFill/>
        </p:spPr>
        <p:txBody>
          <a:bodyPr wrap="square" anchor="t">
            <a:spAutoFit/>
          </a:bodyPr>
          <a:lstStyle/>
          <a:p>
            <a:pPr algn="l"/>
            <a:r>
              <a:rPr sz="2000" b="1" i="0">
                <a:solidFill>
                  <a:srgbClr val="C9A24B"/>
                </a:solidFill>
                <a:latin typeface="Calibri"/>
              </a:rPr>
              <a:t>SOFTWARE</a:t>
            </a:r>
          </a:p>
        </p:txBody>
      </p:sp>
      <p:sp>
        <p:nvSpPr>
          <p:cNvPr id="11" name="TextBox 10"/>
          <p:cNvSpPr txBox="1"/>
          <p:nvPr/>
        </p:nvSpPr>
        <p:spPr>
          <a:xfrm>
            <a:off x="6583680" y="3154680"/>
            <a:ext cx="4617720" cy="1280160"/>
          </a:xfrm>
          <a:prstGeom prst="rect">
            <a:avLst/>
          </a:prstGeom>
          <a:noFill/>
        </p:spPr>
        <p:txBody>
          <a:bodyPr wrap="square" anchor="t">
            <a:spAutoFit/>
          </a:bodyPr>
          <a:lstStyle/>
          <a:p>
            <a:pPr algn="l">
              <a:lnSpc>
                <a:spcPct val="115000"/>
              </a:lnSpc>
            </a:pPr>
            <a:r>
              <a:rPr sz="1450" b="0" i="0">
                <a:solidFill>
                  <a:srgbClr val="FFFFFF"/>
                </a:solidFill>
                <a:latin typeface="Calibri"/>
              </a:rPr>
              <a:t>Se mide por su utilidad real una vez en manos de los usuarios: adopción, rendimiento y valor a largo plazo.</a:t>
            </a:r>
          </a:p>
        </p:txBody>
      </p:sp>
      <p:sp>
        <p:nvSpPr>
          <p:cNvPr id="12" name="TextBox 11"/>
          <p:cNvSpPr txBox="1"/>
          <p:nvPr/>
        </p:nvSpPr>
        <p:spPr>
          <a:xfrm>
            <a:off x="6583680" y="4480560"/>
            <a:ext cx="4617720" cy="1554480"/>
          </a:xfrm>
          <a:prstGeom prst="rect">
            <a:avLst/>
          </a:prstGeom>
          <a:noFill/>
        </p:spPr>
        <p:txBody>
          <a:bodyPr wrap="square">
            <a:spAutoFit/>
          </a:bodyPr>
          <a:lstStyle/>
          <a:p>
            <a:pPr marL="256032" indent="-256032">
              <a:spcAft>
                <a:spcPts val="1000"/>
              </a:spcAft>
            </a:pPr>
            <a:r>
              <a:rPr sz="1300">
                <a:solidFill>
                  <a:srgbClr val="C9A24B"/>
                </a:solidFill>
                <a:latin typeface="Calibri"/>
              </a:rPr>
              <a:t>●  </a:t>
            </a:r>
            <a:r>
              <a:rPr sz="1300">
                <a:solidFill>
                  <a:srgbClr val="FFFFFF"/>
                </a:solidFill>
                <a:latin typeface="Calibri"/>
              </a:rPr>
              <a:t>Éxito = que la gente lo use y le sirva.</a:t>
            </a:r>
          </a:p>
          <a:p>
            <a:pPr marL="256032" indent="-256032">
              <a:spcAft>
                <a:spcPts val="1000"/>
              </a:spcAft>
            </a:pPr>
            <a:r>
              <a:rPr sz="1300">
                <a:solidFill>
                  <a:srgbClr val="C9A24B"/>
                </a:solidFill>
                <a:latin typeface="Calibri"/>
              </a:rPr>
              <a:t>●  </a:t>
            </a:r>
            <a:r>
              <a:rPr sz="1300">
                <a:solidFill>
                  <a:srgbClr val="FFFFFF"/>
                </a:solidFill>
                <a:latin typeface="Calibri"/>
              </a:rPr>
              <a:t>Se evalúa de forma continua, mucho después del lanzamiento.</a:t>
            </a:r>
          </a:p>
          <a:p>
            <a:pPr marL="256032" indent="-256032">
              <a:spcAft>
                <a:spcPts val="1000"/>
              </a:spcAft>
            </a:pPr>
            <a:r>
              <a:rPr sz="1300">
                <a:solidFill>
                  <a:srgbClr val="C9A24B"/>
                </a:solidFill>
                <a:latin typeface="Calibri"/>
              </a:rPr>
              <a:t>●  </a:t>
            </a:r>
            <a:r>
              <a:rPr sz="1300">
                <a:solidFill>
                  <a:srgbClr val="FFFFFF"/>
                </a:solidFill>
                <a:latin typeface="Calibri"/>
              </a:rPr>
              <a:t>Ejemplo: cuántos usuarios activos tiene la app un año después.</a:t>
            </a:r>
          </a:p>
        </p:txBody>
      </p:sp>
      <p:sp>
        <p:nvSpPr>
          <p:cNvPr id="13" name="TextBox 12"/>
          <p:cNvSpPr txBox="1"/>
          <p:nvPr/>
        </p:nvSpPr>
        <p:spPr>
          <a:xfrm>
            <a:off x="457200" y="6473952"/>
            <a:ext cx="9144000" cy="274320"/>
          </a:xfrm>
          <a:prstGeom prst="rect">
            <a:avLst/>
          </a:prstGeom>
          <a:noFill/>
        </p:spPr>
        <p:txBody>
          <a:bodyPr wrap="square" anchor="t">
            <a:spAutoFit/>
          </a:bodyPr>
          <a:lstStyle/>
          <a:p>
            <a:pPr algn="l"/>
            <a:r>
              <a:rPr sz="1000" b="0" i="0">
                <a:solidFill>
                  <a:srgbClr val="5B6472"/>
                </a:solidFill>
                <a:latin typeface="Calibri"/>
              </a:rPr>
              <a:t>PROGRAMACIÓN II · UAI · Unidad 1 · Clase 1</a:t>
            </a:r>
          </a:p>
        </p:txBody>
      </p:sp>
      <p:sp>
        <p:nvSpPr>
          <p:cNvPr id="14" name="TextBox 13"/>
          <p:cNvSpPr txBox="1"/>
          <p:nvPr/>
        </p:nvSpPr>
        <p:spPr>
          <a:xfrm>
            <a:off x="11274552" y="6473952"/>
            <a:ext cx="457200" cy="274320"/>
          </a:xfrm>
          <a:prstGeom prst="rect">
            <a:avLst/>
          </a:prstGeom>
          <a:noFill/>
        </p:spPr>
        <p:txBody>
          <a:bodyPr wrap="square" anchor="t">
            <a:spAutoFit/>
          </a:bodyPr>
          <a:lstStyle/>
          <a:p>
            <a:pPr algn="l"/>
            <a:r>
              <a:rPr sz="1000" b="0" i="0">
                <a:solidFill>
                  <a:srgbClr val="5B6472"/>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457200"/>
            <a:ext cx="9144000" cy="365760"/>
          </a:xfrm>
          <a:prstGeom prst="rect">
            <a:avLst/>
          </a:prstGeom>
          <a:noFill/>
        </p:spPr>
        <p:txBody>
          <a:bodyPr wrap="square" anchor="t">
            <a:spAutoFit/>
          </a:bodyPr>
          <a:lstStyle/>
          <a:p>
            <a:pPr algn="l"/>
            <a:r>
              <a:rPr sz="1300" b="1" i="0">
                <a:solidFill>
                  <a:srgbClr val="C9A24B"/>
                </a:solidFill>
                <a:latin typeface="Calibri"/>
              </a:rPr>
              <a:t>MATERIAL DE ESTUDIO · 8 DE 12</a:t>
            </a:r>
          </a:p>
        </p:txBody>
      </p:sp>
      <p:sp>
        <p:nvSpPr>
          <p:cNvPr id="3" name="TextBox 2"/>
          <p:cNvSpPr txBox="1"/>
          <p:nvPr/>
        </p:nvSpPr>
        <p:spPr>
          <a:xfrm>
            <a:off x="640080" y="777240"/>
            <a:ext cx="10881360" cy="731520"/>
          </a:xfrm>
          <a:prstGeom prst="rect">
            <a:avLst/>
          </a:prstGeom>
          <a:noFill/>
        </p:spPr>
        <p:txBody>
          <a:bodyPr wrap="square" anchor="t">
            <a:spAutoFit/>
          </a:bodyPr>
          <a:lstStyle/>
          <a:p>
            <a:pPr algn="l"/>
            <a:r>
              <a:rPr sz="2800" b="1" i="0">
                <a:solidFill>
                  <a:srgbClr val="1C1F26"/>
                </a:solidFill>
                <a:latin typeface="Calibri"/>
              </a:rPr>
              <a:t>Proyecto vs. Software (3/3): Alcance</a:t>
            </a:r>
          </a:p>
        </p:txBody>
      </p:sp>
      <p:sp>
        <p:nvSpPr>
          <p:cNvPr id="4" name="TextBox 3"/>
          <p:cNvSpPr txBox="1"/>
          <p:nvPr/>
        </p:nvSpPr>
        <p:spPr>
          <a:xfrm>
            <a:off x="640080" y="1600200"/>
            <a:ext cx="10881360" cy="548640"/>
          </a:xfrm>
          <a:prstGeom prst="rect">
            <a:avLst/>
          </a:prstGeom>
          <a:noFill/>
        </p:spPr>
        <p:txBody>
          <a:bodyPr wrap="square" anchor="t">
            <a:spAutoFit/>
          </a:bodyPr>
          <a:lstStyle/>
          <a:p>
            <a:pPr algn="l">
              <a:lnSpc>
                <a:spcPct val="115000"/>
              </a:lnSpc>
            </a:pPr>
            <a:r>
              <a:rPr sz="1400" b="0" i="0">
                <a:solidFill>
                  <a:srgbClr val="5B6472"/>
                </a:solidFill>
                <a:latin typeface="Calibri"/>
              </a:rPr>
              <a:t>Qué gestiona cada uno: el proyecto organiza el "cómo se construye"; el software es la solución técnica en sí.</a:t>
            </a:r>
          </a:p>
        </p:txBody>
      </p:sp>
      <p:sp>
        <p:nvSpPr>
          <p:cNvPr id="5" name="Rounded Rectangle 4"/>
          <p:cNvSpPr/>
          <p:nvPr/>
        </p:nvSpPr>
        <p:spPr>
          <a:xfrm>
            <a:off x="640080" y="2331720"/>
            <a:ext cx="5257800" cy="3931920"/>
          </a:xfrm>
          <a:prstGeom prst="roundRect">
            <a:avLst>
              <a:gd name="adj" fmla="val 35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606040"/>
            <a:ext cx="4617720" cy="457200"/>
          </a:xfrm>
          <a:prstGeom prst="rect">
            <a:avLst/>
          </a:prstGeom>
          <a:noFill/>
        </p:spPr>
        <p:txBody>
          <a:bodyPr wrap="square" anchor="t">
            <a:spAutoFit/>
          </a:bodyPr>
          <a:lstStyle/>
          <a:p>
            <a:pPr algn="l"/>
            <a:r>
              <a:rPr sz="2000" b="1" i="0">
                <a:solidFill>
                  <a:srgbClr val="16233F"/>
                </a:solidFill>
                <a:latin typeface="Calibri"/>
              </a:rPr>
              <a:t>PROYECTO</a:t>
            </a:r>
          </a:p>
        </p:txBody>
      </p:sp>
      <p:sp>
        <p:nvSpPr>
          <p:cNvPr id="7" name="TextBox 6"/>
          <p:cNvSpPr txBox="1"/>
          <p:nvPr/>
        </p:nvSpPr>
        <p:spPr>
          <a:xfrm>
            <a:off x="960120" y="3154680"/>
            <a:ext cx="4617720" cy="1280160"/>
          </a:xfrm>
          <a:prstGeom prst="rect">
            <a:avLst/>
          </a:prstGeom>
          <a:noFill/>
        </p:spPr>
        <p:txBody>
          <a:bodyPr wrap="square" anchor="t">
            <a:spAutoFit/>
          </a:bodyPr>
          <a:lstStyle/>
          <a:p>
            <a:pPr algn="l">
              <a:lnSpc>
                <a:spcPct val="115000"/>
              </a:lnSpc>
            </a:pPr>
            <a:r>
              <a:rPr sz="1450" b="0" i="0">
                <a:solidFill>
                  <a:srgbClr val="1C1F26"/>
                </a:solidFill>
                <a:latin typeface="Calibri"/>
              </a:rPr>
              <a:t>Administra recursos humanos, financieros, riesgos y cronogramas: la logística necesaria para que el software se construya.</a:t>
            </a:r>
          </a:p>
        </p:txBody>
      </p:sp>
      <p:sp>
        <p:nvSpPr>
          <p:cNvPr id="8" name="TextBox 7"/>
          <p:cNvSpPr txBox="1"/>
          <p:nvPr/>
        </p:nvSpPr>
        <p:spPr>
          <a:xfrm>
            <a:off x="960120" y="4480560"/>
            <a:ext cx="4617720" cy="1554480"/>
          </a:xfrm>
          <a:prstGeom prst="rect">
            <a:avLst/>
          </a:prstGeom>
          <a:noFill/>
        </p:spPr>
        <p:txBody>
          <a:bodyPr wrap="square">
            <a:spAutoFit/>
          </a:bodyPr>
          <a:lstStyle/>
          <a:p>
            <a:pPr marL="256032" indent="-256032">
              <a:spcAft>
                <a:spcPts val="1000"/>
              </a:spcAft>
            </a:pPr>
            <a:r>
              <a:rPr sz="1300">
                <a:solidFill>
                  <a:srgbClr val="C9A24B"/>
                </a:solidFill>
                <a:latin typeface="Calibri"/>
              </a:rPr>
              <a:t>●  </a:t>
            </a:r>
            <a:r>
              <a:rPr sz="1300">
                <a:solidFill>
                  <a:srgbClr val="1C1F26"/>
                </a:solidFill>
                <a:latin typeface="Calibri"/>
              </a:rPr>
              <a:t>Coordina personas, tiempos y plata.</a:t>
            </a:r>
          </a:p>
          <a:p>
            <a:pPr marL="256032" indent="-256032">
              <a:spcAft>
                <a:spcPts val="1000"/>
              </a:spcAft>
            </a:pPr>
            <a:r>
              <a:rPr sz="1300">
                <a:solidFill>
                  <a:srgbClr val="C9A24B"/>
                </a:solidFill>
                <a:latin typeface="Calibri"/>
              </a:rPr>
              <a:t>●  </a:t>
            </a:r>
            <a:r>
              <a:rPr sz="1300">
                <a:solidFill>
                  <a:srgbClr val="1C1F26"/>
                </a:solidFill>
                <a:latin typeface="Calibri"/>
              </a:rPr>
              <a:t>Gestiona los riesgos que puedan retrasar la entrega.</a:t>
            </a:r>
          </a:p>
          <a:p>
            <a:pPr marL="256032" indent="-256032">
              <a:spcAft>
                <a:spcPts val="1000"/>
              </a:spcAft>
            </a:pPr>
            <a:r>
              <a:rPr sz="1300">
                <a:solidFill>
                  <a:srgbClr val="C9A24B"/>
                </a:solidFill>
                <a:latin typeface="Calibri"/>
              </a:rPr>
              <a:t>●  </a:t>
            </a:r>
            <a:r>
              <a:rPr sz="1300">
                <a:solidFill>
                  <a:srgbClr val="1C1F26"/>
                </a:solidFill>
                <a:latin typeface="Calibri"/>
              </a:rPr>
              <a:t>Es la capa de organización alrededor del desarrollo.</a:t>
            </a:r>
          </a:p>
        </p:txBody>
      </p:sp>
      <p:sp>
        <p:nvSpPr>
          <p:cNvPr id="9" name="Rounded Rectangle 8"/>
          <p:cNvSpPr/>
          <p:nvPr/>
        </p:nvSpPr>
        <p:spPr>
          <a:xfrm>
            <a:off x="6263640" y="2331720"/>
            <a:ext cx="5257800" cy="3931920"/>
          </a:xfrm>
          <a:prstGeom prst="roundRect">
            <a:avLst>
              <a:gd name="adj" fmla="val 3500"/>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606040"/>
            <a:ext cx="4617720" cy="457200"/>
          </a:xfrm>
          <a:prstGeom prst="rect">
            <a:avLst/>
          </a:prstGeom>
          <a:noFill/>
        </p:spPr>
        <p:txBody>
          <a:bodyPr wrap="square" anchor="t">
            <a:spAutoFit/>
          </a:bodyPr>
          <a:lstStyle/>
          <a:p>
            <a:pPr algn="l"/>
            <a:r>
              <a:rPr sz="2000" b="1" i="0">
                <a:solidFill>
                  <a:srgbClr val="C9A24B"/>
                </a:solidFill>
                <a:latin typeface="Calibri"/>
              </a:rPr>
              <a:t>SOFTWARE</a:t>
            </a:r>
          </a:p>
        </p:txBody>
      </p:sp>
      <p:sp>
        <p:nvSpPr>
          <p:cNvPr id="11" name="TextBox 10"/>
          <p:cNvSpPr txBox="1"/>
          <p:nvPr/>
        </p:nvSpPr>
        <p:spPr>
          <a:xfrm>
            <a:off x="6583680" y="3154680"/>
            <a:ext cx="4617720" cy="1280160"/>
          </a:xfrm>
          <a:prstGeom prst="rect">
            <a:avLst/>
          </a:prstGeom>
          <a:noFill/>
        </p:spPr>
        <p:txBody>
          <a:bodyPr wrap="square" anchor="t">
            <a:spAutoFit/>
          </a:bodyPr>
          <a:lstStyle/>
          <a:p>
            <a:pPr algn="l">
              <a:lnSpc>
                <a:spcPct val="115000"/>
              </a:lnSpc>
            </a:pPr>
            <a:r>
              <a:rPr sz="1450" b="0" i="0">
                <a:solidFill>
                  <a:srgbClr val="FFFFFF"/>
                </a:solidFill>
                <a:latin typeface="Calibri"/>
              </a:rPr>
              <a:t>Resuelve problemas lógicos mediante código, arquitectura de sistemas y bases de datos: la solución técnica en sí.</a:t>
            </a:r>
          </a:p>
        </p:txBody>
      </p:sp>
      <p:sp>
        <p:nvSpPr>
          <p:cNvPr id="12" name="TextBox 11"/>
          <p:cNvSpPr txBox="1"/>
          <p:nvPr/>
        </p:nvSpPr>
        <p:spPr>
          <a:xfrm>
            <a:off x="6583680" y="4480560"/>
            <a:ext cx="4617720" cy="1554480"/>
          </a:xfrm>
          <a:prstGeom prst="rect">
            <a:avLst/>
          </a:prstGeom>
          <a:noFill/>
        </p:spPr>
        <p:txBody>
          <a:bodyPr wrap="square">
            <a:spAutoFit/>
          </a:bodyPr>
          <a:lstStyle/>
          <a:p>
            <a:pPr marL="256032" indent="-256032">
              <a:spcAft>
                <a:spcPts val="1000"/>
              </a:spcAft>
            </a:pPr>
            <a:r>
              <a:rPr sz="1300">
                <a:solidFill>
                  <a:srgbClr val="C9A24B"/>
                </a:solidFill>
                <a:latin typeface="Calibri"/>
              </a:rPr>
              <a:t>●  </a:t>
            </a:r>
            <a:r>
              <a:rPr sz="1300">
                <a:solidFill>
                  <a:srgbClr val="FFFFFF"/>
                </a:solidFill>
                <a:latin typeface="Calibri"/>
              </a:rPr>
              <a:t>Es el producto: el código que corre.</a:t>
            </a:r>
          </a:p>
          <a:p>
            <a:pPr marL="256032" indent="-256032">
              <a:spcAft>
                <a:spcPts val="1000"/>
              </a:spcAft>
            </a:pPr>
            <a:r>
              <a:rPr sz="1300">
                <a:solidFill>
                  <a:srgbClr val="C9A24B"/>
                </a:solidFill>
                <a:latin typeface="Calibri"/>
              </a:rPr>
              <a:t>●  </a:t>
            </a:r>
            <a:r>
              <a:rPr sz="1300">
                <a:solidFill>
                  <a:srgbClr val="FFFFFF"/>
                </a:solidFill>
                <a:latin typeface="Calibri"/>
              </a:rPr>
              <a:t>Incluye su arquitectura y sus datos.</a:t>
            </a:r>
          </a:p>
          <a:p>
            <a:pPr marL="256032" indent="-256032">
              <a:spcAft>
                <a:spcPts val="1000"/>
              </a:spcAft>
            </a:pPr>
            <a:r>
              <a:rPr sz="1300">
                <a:solidFill>
                  <a:srgbClr val="C9A24B"/>
                </a:solidFill>
                <a:latin typeface="Calibri"/>
              </a:rPr>
              <a:t>●  </a:t>
            </a:r>
            <a:r>
              <a:rPr sz="1300">
                <a:solidFill>
                  <a:srgbClr val="FFFFFF"/>
                </a:solidFill>
                <a:latin typeface="Calibri"/>
              </a:rPr>
              <a:t>Es lo que le queda al usuario en la mano.</a:t>
            </a:r>
          </a:p>
        </p:txBody>
      </p:sp>
      <p:sp>
        <p:nvSpPr>
          <p:cNvPr id="13" name="TextBox 12"/>
          <p:cNvSpPr txBox="1"/>
          <p:nvPr/>
        </p:nvSpPr>
        <p:spPr>
          <a:xfrm>
            <a:off x="457200" y="6473952"/>
            <a:ext cx="9144000" cy="274320"/>
          </a:xfrm>
          <a:prstGeom prst="rect">
            <a:avLst/>
          </a:prstGeom>
          <a:noFill/>
        </p:spPr>
        <p:txBody>
          <a:bodyPr wrap="square" anchor="t">
            <a:spAutoFit/>
          </a:bodyPr>
          <a:lstStyle/>
          <a:p>
            <a:pPr algn="l"/>
            <a:r>
              <a:rPr sz="1000" b="0" i="0">
                <a:solidFill>
                  <a:srgbClr val="5B6472"/>
                </a:solidFill>
                <a:latin typeface="Calibri"/>
              </a:rPr>
              <a:t>PROGRAMACIÓN II · UAI · Unidad 1 · Clase 1</a:t>
            </a:r>
          </a:p>
        </p:txBody>
      </p:sp>
      <p:sp>
        <p:nvSpPr>
          <p:cNvPr id="14" name="TextBox 13"/>
          <p:cNvSpPr txBox="1"/>
          <p:nvPr/>
        </p:nvSpPr>
        <p:spPr>
          <a:xfrm>
            <a:off x="11274552" y="6473952"/>
            <a:ext cx="457200" cy="274320"/>
          </a:xfrm>
          <a:prstGeom prst="rect">
            <a:avLst/>
          </a:prstGeom>
          <a:noFill/>
        </p:spPr>
        <p:txBody>
          <a:bodyPr wrap="square" anchor="t">
            <a:spAutoFit/>
          </a:bodyPr>
          <a:lstStyle/>
          <a:p>
            <a:pPr algn="l"/>
            <a:r>
              <a:rPr sz="1000" b="0" i="0">
                <a:solidFill>
                  <a:srgbClr val="5B6472"/>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457200"/>
            <a:ext cx="9144000" cy="365760"/>
          </a:xfrm>
          <a:prstGeom prst="rect">
            <a:avLst/>
          </a:prstGeom>
          <a:noFill/>
        </p:spPr>
        <p:txBody>
          <a:bodyPr wrap="square" anchor="t">
            <a:spAutoFit/>
          </a:bodyPr>
          <a:lstStyle/>
          <a:p>
            <a:pPr algn="l"/>
            <a:r>
              <a:rPr sz="1300" b="1" i="0">
                <a:solidFill>
                  <a:srgbClr val="C9A24B"/>
                </a:solidFill>
                <a:latin typeface="Calibri"/>
              </a:rPr>
              <a:t>MATERIAL DE ESTUDIO · 9 DE 12</a:t>
            </a:r>
          </a:p>
        </p:txBody>
      </p:sp>
      <p:sp>
        <p:nvSpPr>
          <p:cNvPr id="3" name="TextBox 2"/>
          <p:cNvSpPr txBox="1"/>
          <p:nvPr/>
        </p:nvSpPr>
        <p:spPr>
          <a:xfrm>
            <a:off x="640080" y="777240"/>
            <a:ext cx="10881360" cy="731520"/>
          </a:xfrm>
          <a:prstGeom prst="rect">
            <a:avLst/>
          </a:prstGeom>
          <a:noFill/>
        </p:spPr>
        <p:txBody>
          <a:bodyPr wrap="square" anchor="t">
            <a:spAutoFit/>
          </a:bodyPr>
          <a:lstStyle/>
          <a:p>
            <a:pPr algn="l"/>
            <a:r>
              <a:rPr sz="2800" b="1" i="0">
                <a:solidFill>
                  <a:srgbClr val="1C1F26"/>
                </a:solidFill>
                <a:latin typeface="Calibri"/>
              </a:rPr>
              <a:t>Metodologías de gestión: Cascada vs. Scrum</a:t>
            </a:r>
          </a:p>
        </p:txBody>
      </p:sp>
      <p:sp>
        <p:nvSpPr>
          <p:cNvPr id="4" name="TextBox 3"/>
          <p:cNvSpPr txBox="1"/>
          <p:nvPr/>
        </p:nvSpPr>
        <p:spPr>
          <a:xfrm>
            <a:off x="640080" y="1600200"/>
            <a:ext cx="10881360" cy="548640"/>
          </a:xfrm>
          <a:prstGeom prst="rect">
            <a:avLst/>
          </a:prstGeom>
          <a:noFill/>
        </p:spPr>
        <p:txBody>
          <a:bodyPr wrap="square" anchor="t">
            <a:spAutoFit/>
          </a:bodyPr>
          <a:lstStyle/>
          <a:p>
            <a:pPr algn="l">
              <a:lnSpc>
                <a:spcPct val="115000"/>
              </a:lnSpc>
            </a:pPr>
            <a:r>
              <a:rPr sz="1400" b="0" i="0">
                <a:solidFill>
                  <a:srgbClr val="5B6472"/>
                </a:solidFill>
                <a:latin typeface="Calibri"/>
              </a:rPr>
              <a:t>Son las dos formas más comunes de organizar el trabajo dentro de un proyecto de software.</a:t>
            </a:r>
          </a:p>
        </p:txBody>
      </p:sp>
      <p:sp>
        <p:nvSpPr>
          <p:cNvPr id="5" name="Rounded Rectangle 4"/>
          <p:cNvSpPr/>
          <p:nvPr/>
        </p:nvSpPr>
        <p:spPr>
          <a:xfrm>
            <a:off x="640080" y="2331720"/>
            <a:ext cx="5257800" cy="3931920"/>
          </a:xfrm>
          <a:prstGeom prst="roundRect">
            <a:avLst>
              <a:gd name="adj" fmla="val 35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606040"/>
            <a:ext cx="4617720" cy="457200"/>
          </a:xfrm>
          <a:prstGeom prst="rect">
            <a:avLst/>
          </a:prstGeom>
          <a:noFill/>
        </p:spPr>
        <p:txBody>
          <a:bodyPr wrap="square" anchor="t">
            <a:spAutoFit/>
          </a:bodyPr>
          <a:lstStyle/>
          <a:p>
            <a:pPr algn="l"/>
            <a:r>
              <a:rPr sz="2000" b="1" i="0">
                <a:solidFill>
                  <a:srgbClr val="16233F"/>
                </a:solidFill>
                <a:latin typeface="Calibri"/>
              </a:rPr>
              <a:t>CASCADA (WATERFALL)</a:t>
            </a:r>
          </a:p>
        </p:txBody>
      </p:sp>
      <p:sp>
        <p:nvSpPr>
          <p:cNvPr id="7" name="TextBox 6"/>
          <p:cNvSpPr txBox="1"/>
          <p:nvPr/>
        </p:nvSpPr>
        <p:spPr>
          <a:xfrm>
            <a:off x="960120" y="3154680"/>
            <a:ext cx="4617720" cy="1280160"/>
          </a:xfrm>
          <a:prstGeom prst="rect">
            <a:avLst/>
          </a:prstGeom>
          <a:noFill/>
        </p:spPr>
        <p:txBody>
          <a:bodyPr wrap="square" anchor="t">
            <a:spAutoFit/>
          </a:bodyPr>
          <a:lstStyle/>
          <a:p>
            <a:pPr algn="l">
              <a:lnSpc>
                <a:spcPct val="115000"/>
              </a:lnSpc>
            </a:pPr>
            <a:r>
              <a:rPr sz="1450" b="0" i="0">
                <a:solidFill>
                  <a:srgbClr val="1C1F26"/>
                </a:solidFill>
                <a:latin typeface="Calibri"/>
              </a:rPr>
              <a:t>Modelo secuencial: cada fase empieza cuando termina la anterior, sin volver atrás.</a:t>
            </a:r>
          </a:p>
        </p:txBody>
      </p:sp>
      <p:sp>
        <p:nvSpPr>
          <p:cNvPr id="8" name="TextBox 7"/>
          <p:cNvSpPr txBox="1"/>
          <p:nvPr/>
        </p:nvSpPr>
        <p:spPr>
          <a:xfrm>
            <a:off x="960120" y="4480560"/>
            <a:ext cx="4617720" cy="1554480"/>
          </a:xfrm>
          <a:prstGeom prst="rect">
            <a:avLst/>
          </a:prstGeom>
          <a:noFill/>
        </p:spPr>
        <p:txBody>
          <a:bodyPr wrap="square">
            <a:spAutoFit/>
          </a:bodyPr>
          <a:lstStyle/>
          <a:p>
            <a:pPr marL="256032" indent="-256032">
              <a:spcAft>
                <a:spcPts val="1000"/>
              </a:spcAft>
            </a:pPr>
            <a:r>
              <a:rPr sz="1300">
                <a:solidFill>
                  <a:srgbClr val="C9A24B"/>
                </a:solidFill>
                <a:latin typeface="Calibri"/>
              </a:rPr>
              <a:t>●  </a:t>
            </a:r>
            <a:r>
              <a:rPr sz="1300">
                <a:solidFill>
                  <a:srgbClr val="1C1F26"/>
                </a:solidFill>
                <a:latin typeface="Calibri"/>
              </a:rPr>
              <a:t>Orden fijo: análisis → diseño → desarrollo → pruebas → entrega.</a:t>
            </a:r>
          </a:p>
          <a:p>
            <a:pPr marL="256032" indent="-256032">
              <a:spcAft>
                <a:spcPts val="1000"/>
              </a:spcAft>
            </a:pPr>
            <a:r>
              <a:rPr sz="1300">
                <a:solidFill>
                  <a:srgbClr val="C9A24B"/>
                </a:solidFill>
                <a:latin typeface="Calibri"/>
              </a:rPr>
              <a:t>●  </a:t>
            </a:r>
            <a:r>
              <a:rPr sz="1300">
                <a:solidFill>
                  <a:srgbClr val="1C1F26"/>
                </a:solidFill>
                <a:latin typeface="Calibri"/>
              </a:rPr>
              <a:t>Funciona bien cuando los requisitos están muy claros desde el inicio.</a:t>
            </a:r>
          </a:p>
          <a:p>
            <a:pPr marL="256032" indent="-256032">
              <a:spcAft>
                <a:spcPts val="1000"/>
              </a:spcAft>
            </a:pPr>
            <a:r>
              <a:rPr sz="1300">
                <a:solidFill>
                  <a:srgbClr val="C9A24B"/>
                </a:solidFill>
                <a:latin typeface="Calibri"/>
              </a:rPr>
              <a:t>●  </a:t>
            </a:r>
            <a:r>
              <a:rPr sz="1300">
                <a:solidFill>
                  <a:srgbClr val="1C1F26"/>
                </a:solidFill>
                <a:latin typeface="Calibri"/>
              </a:rPr>
              <a:t>Poco margen para cambios sobre la marcha.</a:t>
            </a:r>
          </a:p>
        </p:txBody>
      </p:sp>
      <p:sp>
        <p:nvSpPr>
          <p:cNvPr id="9" name="Rounded Rectangle 8"/>
          <p:cNvSpPr/>
          <p:nvPr/>
        </p:nvSpPr>
        <p:spPr>
          <a:xfrm>
            <a:off x="6263640" y="2331720"/>
            <a:ext cx="5257800" cy="3931920"/>
          </a:xfrm>
          <a:prstGeom prst="roundRect">
            <a:avLst>
              <a:gd name="adj" fmla="val 3500"/>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606040"/>
            <a:ext cx="4617720" cy="457200"/>
          </a:xfrm>
          <a:prstGeom prst="rect">
            <a:avLst/>
          </a:prstGeom>
          <a:noFill/>
        </p:spPr>
        <p:txBody>
          <a:bodyPr wrap="square" anchor="t">
            <a:spAutoFit/>
          </a:bodyPr>
          <a:lstStyle/>
          <a:p>
            <a:pPr algn="l"/>
            <a:r>
              <a:rPr sz="2000" b="1" i="0">
                <a:solidFill>
                  <a:srgbClr val="C9A24B"/>
                </a:solidFill>
                <a:latin typeface="Calibri"/>
              </a:rPr>
              <a:t>SCRUM (ÁGIL)</a:t>
            </a:r>
          </a:p>
        </p:txBody>
      </p:sp>
      <p:sp>
        <p:nvSpPr>
          <p:cNvPr id="11" name="TextBox 10"/>
          <p:cNvSpPr txBox="1"/>
          <p:nvPr/>
        </p:nvSpPr>
        <p:spPr>
          <a:xfrm>
            <a:off x="6583680" y="3154680"/>
            <a:ext cx="4617720" cy="1280160"/>
          </a:xfrm>
          <a:prstGeom prst="rect">
            <a:avLst/>
          </a:prstGeom>
          <a:noFill/>
        </p:spPr>
        <p:txBody>
          <a:bodyPr wrap="square" anchor="t">
            <a:spAutoFit/>
          </a:bodyPr>
          <a:lstStyle/>
          <a:p>
            <a:pPr algn="l">
              <a:lnSpc>
                <a:spcPct val="115000"/>
              </a:lnSpc>
            </a:pPr>
            <a:r>
              <a:rPr sz="1450" b="0" i="0">
                <a:solidFill>
                  <a:srgbClr val="FFFFFF"/>
                </a:solidFill>
                <a:latin typeface="Calibri"/>
              </a:rPr>
              <a:t>Modelo iterativo e incremental: el trabajo se organiza en ciclos cortos llamados sprints.</a:t>
            </a:r>
          </a:p>
        </p:txBody>
      </p:sp>
      <p:sp>
        <p:nvSpPr>
          <p:cNvPr id="12" name="TextBox 11"/>
          <p:cNvSpPr txBox="1"/>
          <p:nvPr/>
        </p:nvSpPr>
        <p:spPr>
          <a:xfrm>
            <a:off x="6583680" y="4480560"/>
            <a:ext cx="4617720" cy="1554480"/>
          </a:xfrm>
          <a:prstGeom prst="rect">
            <a:avLst/>
          </a:prstGeom>
          <a:noFill/>
        </p:spPr>
        <p:txBody>
          <a:bodyPr wrap="square">
            <a:spAutoFit/>
          </a:bodyPr>
          <a:lstStyle/>
          <a:p>
            <a:pPr marL="256032" indent="-256032">
              <a:spcAft>
                <a:spcPts val="1000"/>
              </a:spcAft>
            </a:pPr>
            <a:r>
              <a:rPr sz="1300">
                <a:solidFill>
                  <a:srgbClr val="C9A24B"/>
                </a:solidFill>
                <a:latin typeface="Calibri"/>
              </a:rPr>
              <a:t>●  </a:t>
            </a:r>
            <a:r>
              <a:rPr sz="1300">
                <a:solidFill>
                  <a:srgbClr val="FFFFFF"/>
                </a:solidFill>
                <a:latin typeface="Calibri"/>
              </a:rPr>
              <a:t>Sprints de 2 a 4 semanas, con entregas parciales.</a:t>
            </a:r>
          </a:p>
          <a:p>
            <a:pPr marL="256032" indent="-256032">
              <a:spcAft>
                <a:spcPts val="1000"/>
              </a:spcAft>
            </a:pPr>
            <a:r>
              <a:rPr sz="1300">
                <a:solidFill>
                  <a:srgbClr val="C9A24B"/>
                </a:solidFill>
                <a:latin typeface="Calibri"/>
              </a:rPr>
              <a:t>●  </a:t>
            </a:r>
            <a:r>
              <a:rPr sz="1300">
                <a:solidFill>
                  <a:srgbClr val="FFFFFF"/>
                </a:solidFill>
                <a:latin typeface="Calibri"/>
              </a:rPr>
              <a:t>Se ajusta el rumbo con feedback constante del equipo y del cliente.</a:t>
            </a:r>
          </a:p>
          <a:p>
            <a:pPr marL="256032" indent="-256032">
              <a:spcAft>
                <a:spcPts val="1000"/>
              </a:spcAft>
            </a:pPr>
            <a:r>
              <a:rPr sz="1300">
                <a:solidFill>
                  <a:srgbClr val="C9A24B"/>
                </a:solidFill>
                <a:latin typeface="Calibri"/>
              </a:rPr>
              <a:t>●  </a:t>
            </a:r>
            <a:r>
              <a:rPr sz="1300">
                <a:solidFill>
                  <a:srgbClr val="FFFFFF"/>
                </a:solidFill>
                <a:latin typeface="Calibri"/>
              </a:rPr>
              <a:t>Es el enfoque ágil más usado hoy en desarrollo de software.</a:t>
            </a:r>
          </a:p>
        </p:txBody>
      </p:sp>
      <p:sp>
        <p:nvSpPr>
          <p:cNvPr id="13" name="TextBox 12"/>
          <p:cNvSpPr txBox="1"/>
          <p:nvPr/>
        </p:nvSpPr>
        <p:spPr>
          <a:xfrm>
            <a:off x="457200" y="6473952"/>
            <a:ext cx="9144000" cy="274320"/>
          </a:xfrm>
          <a:prstGeom prst="rect">
            <a:avLst/>
          </a:prstGeom>
          <a:noFill/>
        </p:spPr>
        <p:txBody>
          <a:bodyPr wrap="square" anchor="t">
            <a:spAutoFit/>
          </a:bodyPr>
          <a:lstStyle/>
          <a:p>
            <a:pPr algn="l"/>
            <a:r>
              <a:rPr sz="1000" b="0" i="0">
                <a:solidFill>
                  <a:srgbClr val="5B6472"/>
                </a:solidFill>
                <a:latin typeface="Calibri"/>
              </a:rPr>
              <a:t>PROGRAMACIÓN II · UAI · Unidad 1 · Clase 1</a:t>
            </a:r>
          </a:p>
        </p:txBody>
      </p:sp>
      <p:sp>
        <p:nvSpPr>
          <p:cNvPr id="14" name="TextBox 13"/>
          <p:cNvSpPr txBox="1"/>
          <p:nvPr/>
        </p:nvSpPr>
        <p:spPr>
          <a:xfrm>
            <a:off x="11274552" y="6473952"/>
            <a:ext cx="457200" cy="274320"/>
          </a:xfrm>
          <a:prstGeom prst="rect">
            <a:avLst/>
          </a:prstGeom>
          <a:noFill/>
        </p:spPr>
        <p:txBody>
          <a:bodyPr wrap="square" anchor="t">
            <a:spAutoFit/>
          </a:bodyPr>
          <a:lstStyle/>
          <a:p>
            <a:pPr algn="l"/>
            <a:r>
              <a:rPr sz="1000" b="0" i="0">
                <a:solidFill>
                  <a:srgbClr val="5B6472"/>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457200"/>
            <a:ext cx="9144000" cy="365760"/>
          </a:xfrm>
          <a:prstGeom prst="rect">
            <a:avLst/>
          </a:prstGeom>
          <a:noFill/>
        </p:spPr>
        <p:txBody>
          <a:bodyPr wrap="square" anchor="t">
            <a:spAutoFit/>
          </a:bodyPr>
          <a:lstStyle/>
          <a:p>
            <a:pPr algn="l"/>
            <a:r>
              <a:rPr sz="1300" b="1" i="0">
                <a:solidFill>
                  <a:srgbClr val="C9A24B"/>
                </a:solidFill>
                <a:latin typeface="Calibri"/>
              </a:rPr>
              <a:t>MATERIAL DE ESTUDIO · 10 DE 12</a:t>
            </a:r>
          </a:p>
        </p:txBody>
      </p:sp>
      <p:sp>
        <p:nvSpPr>
          <p:cNvPr id="3" name="TextBox 2"/>
          <p:cNvSpPr txBox="1"/>
          <p:nvPr/>
        </p:nvSpPr>
        <p:spPr>
          <a:xfrm>
            <a:off x="640080" y="777240"/>
            <a:ext cx="10881360" cy="731520"/>
          </a:xfrm>
          <a:prstGeom prst="rect">
            <a:avLst/>
          </a:prstGeom>
          <a:noFill/>
        </p:spPr>
        <p:txBody>
          <a:bodyPr wrap="square" anchor="t">
            <a:spAutoFit/>
          </a:bodyPr>
          <a:lstStyle/>
          <a:p>
            <a:pPr algn="l"/>
            <a:r>
              <a:rPr sz="2800" b="1" i="0">
                <a:solidFill>
                  <a:srgbClr val="1C1F26"/>
                </a:solidFill>
                <a:latin typeface="Calibri"/>
              </a:rPr>
              <a:t>Roles de trabajo: Jefe de Proyecto vs. Desarrollador</a:t>
            </a:r>
          </a:p>
        </p:txBody>
      </p:sp>
      <p:sp>
        <p:nvSpPr>
          <p:cNvPr id="4" name="TextBox 3"/>
          <p:cNvSpPr txBox="1"/>
          <p:nvPr/>
        </p:nvSpPr>
        <p:spPr>
          <a:xfrm>
            <a:off x="640080" y="1600200"/>
            <a:ext cx="10881360" cy="548640"/>
          </a:xfrm>
          <a:prstGeom prst="rect">
            <a:avLst/>
          </a:prstGeom>
          <a:noFill/>
        </p:spPr>
        <p:txBody>
          <a:bodyPr wrap="square" anchor="t">
            <a:spAutoFit/>
          </a:bodyPr>
          <a:lstStyle/>
          <a:p>
            <a:pPr algn="l">
              <a:lnSpc>
                <a:spcPct val="115000"/>
              </a:lnSpc>
            </a:pPr>
            <a:r>
              <a:rPr sz="1400" b="0" i="0">
                <a:solidFill>
                  <a:srgbClr val="5B6472"/>
                </a:solidFill>
                <a:latin typeface="Calibri"/>
              </a:rPr>
              <a:t>Dentro de un proyecto de software, cada rol se ocupa de una parte distinta del trabajo.</a:t>
            </a:r>
          </a:p>
        </p:txBody>
      </p:sp>
      <p:sp>
        <p:nvSpPr>
          <p:cNvPr id="5" name="Rounded Rectangle 4"/>
          <p:cNvSpPr/>
          <p:nvPr/>
        </p:nvSpPr>
        <p:spPr>
          <a:xfrm>
            <a:off x="640080" y="2331720"/>
            <a:ext cx="5257800" cy="3931920"/>
          </a:xfrm>
          <a:prstGeom prst="roundRect">
            <a:avLst>
              <a:gd name="adj" fmla="val 35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606040"/>
            <a:ext cx="4617720" cy="457200"/>
          </a:xfrm>
          <a:prstGeom prst="rect">
            <a:avLst/>
          </a:prstGeom>
          <a:noFill/>
        </p:spPr>
        <p:txBody>
          <a:bodyPr wrap="square" anchor="t">
            <a:spAutoFit/>
          </a:bodyPr>
          <a:lstStyle/>
          <a:p>
            <a:pPr algn="l"/>
            <a:r>
              <a:rPr sz="2000" b="1" i="0">
                <a:solidFill>
                  <a:srgbClr val="16233F"/>
                </a:solidFill>
                <a:latin typeface="Calibri"/>
              </a:rPr>
              <a:t>JEFE DE PROYECTO</a:t>
            </a:r>
          </a:p>
        </p:txBody>
      </p:sp>
      <p:sp>
        <p:nvSpPr>
          <p:cNvPr id="7" name="TextBox 6"/>
          <p:cNvSpPr txBox="1"/>
          <p:nvPr/>
        </p:nvSpPr>
        <p:spPr>
          <a:xfrm>
            <a:off x="960120" y="3154680"/>
            <a:ext cx="4617720" cy="1280160"/>
          </a:xfrm>
          <a:prstGeom prst="rect">
            <a:avLst/>
          </a:prstGeom>
          <a:noFill/>
        </p:spPr>
        <p:txBody>
          <a:bodyPr wrap="square" anchor="t">
            <a:spAutoFit/>
          </a:bodyPr>
          <a:lstStyle/>
          <a:p>
            <a:pPr algn="l">
              <a:lnSpc>
                <a:spcPct val="115000"/>
              </a:lnSpc>
            </a:pPr>
            <a:r>
              <a:rPr sz="1450" b="0" i="0">
                <a:solidFill>
                  <a:srgbClr val="1C1F26"/>
                </a:solidFill>
                <a:latin typeface="Calibri"/>
              </a:rPr>
              <a:t>Planifica y coordina: gestiona tiempos, presupuesto y riesgos, y es el nexo con el cliente o los interesados.</a:t>
            </a:r>
          </a:p>
        </p:txBody>
      </p:sp>
      <p:sp>
        <p:nvSpPr>
          <p:cNvPr id="8" name="TextBox 7"/>
          <p:cNvSpPr txBox="1"/>
          <p:nvPr/>
        </p:nvSpPr>
        <p:spPr>
          <a:xfrm>
            <a:off x="960120" y="4480560"/>
            <a:ext cx="4617720" cy="1554480"/>
          </a:xfrm>
          <a:prstGeom prst="rect">
            <a:avLst/>
          </a:prstGeom>
          <a:noFill/>
        </p:spPr>
        <p:txBody>
          <a:bodyPr wrap="square">
            <a:spAutoFit/>
          </a:bodyPr>
          <a:lstStyle/>
          <a:p>
            <a:pPr marL="256032" indent="-256032">
              <a:spcAft>
                <a:spcPts val="1000"/>
              </a:spcAft>
            </a:pPr>
            <a:r>
              <a:rPr sz="1300">
                <a:solidFill>
                  <a:srgbClr val="C9A24B"/>
                </a:solidFill>
                <a:latin typeface="Calibri"/>
              </a:rPr>
              <a:t>●  </a:t>
            </a:r>
            <a:r>
              <a:rPr sz="1300">
                <a:solidFill>
                  <a:srgbClr val="1C1F26"/>
                </a:solidFill>
                <a:latin typeface="Calibri"/>
              </a:rPr>
              <a:t>Arma el cronograma y hace seguimiento del avance.</a:t>
            </a:r>
          </a:p>
          <a:p>
            <a:pPr marL="256032" indent="-256032">
              <a:spcAft>
                <a:spcPts val="1000"/>
              </a:spcAft>
            </a:pPr>
            <a:r>
              <a:rPr sz="1300">
                <a:solidFill>
                  <a:srgbClr val="C9A24B"/>
                </a:solidFill>
                <a:latin typeface="Calibri"/>
              </a:rPr>
              <a:t>●  </a:t>
            </a:r>
            <a:r>
              <a:rPr sz="1300">
                <a:solidFill>
                  <a:srgbClr val="1C1F26"/>
                </a:solidFill>
                <a:latin typeface="Calibri"/>
              </a:rPr>
              <a:t>Gestiona al equipo y resuelve bloqueos.</a:t>
            </a:r>
          </a:p>
          <a:p>
            <a:pPr marL="256032" indent="-256032">
              <a:spcAft>
                <a:spcPts val="1000"/>
              </a:spcAft>
            </a:pPr>
            <a:r>
              <a:rPr sz="1300">
                <a:solidFill>
                  <a:srgbClr val="C9A24B"/>
                </a:solidFill>
                <a:latin typeface="Calibri"/>
              </a:rPr>
              <a:t>●  </a:t>
            </a:r>
            <a:r>
              <a:rPr sz="1300">
                <a:solidFill>
                  <a:srgbClr val="1C1F26"/>
                </a:solidFill>
                <a:latin typeface="Calibri"/>
              </a:rPr>
              <a:t>No necesariamente escribe código.</a:t>
            </a:r>
          </a:p>
        </p:txBody>
      </p:sp>
      <p:sp>
        <p:nvSpPr>
          <p:cNvPr id="9" name="Rounded Rectangle 8"/>
          <p:cNvSpPr/>
          <p:nvPr/>
        </p:nvSpPr>
        <p:spPr>
          <a:xfrm>
            <a:off x="6263640" y="2331720"/>
            <a:ext cx="5257800" cy="3931920"/>
          </a:xfrm>
          <a:prstGeom prst="roundRect">
            <a:avLst>
              <a:gd name="adj" fmla="val 3500"/>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606040"/>
            <a:ext cx="4617720" cy="457200"/>
          </a:xfrm>
          <a:prstGeom prst="rect">
            <a:avLst/>
          </a:prstGeom>
          <a:noFill/>
        </p:spPr>
        <p:txBody>
          <a:bodyPr wrap="square" anchor="t">
            <a:spAutoFit/>
          </a:bodyPr>
          <a:lstStyle/>
          <a:p>
            <a:pPr algn="l"/>
            <a:r>
              <a:rPr sz="2000" b="1" i="0">
                <a:solidFill>
                  <a:srgbClr val="C9A24B"/>
                </a:solidFill>
                <a:latin typeface="Calibri"/>
              </a:rPr>
              <a:t>DESARROLLADOR</a:t>
            </a:r>
          </a:p>
        </p:txBody>
      </p:sp>
      <p:sp>
        <p:nvSpPr>
          <p:cNvPr id="11" name="TextBox 10"/>
          <p:cNvSpPr txBox="1"/>
          <p:nvPr/>
        </p:nvSpPr>
        <p:spPr>
          <a:xfrm>
            <a:off x="6583680" y="3154680"/>
            <a:ext cx="4617720" cy="1280160"/>
          </a:xfrm>
          <a:prstGeom prst="rect">
            <a:avLst/>
          </a:prstGeom>
          <a:noFill/>
        </p:spPr>
        <p:txBody>
          <a:bodyPr wrap="square" anchor="t">
            <a:spAutoFit/>
          </a:bodyPr>
          <a:lstStyle/>
          <a:p>
            <a:pPr algn="l">
              <a:lnSpc>
                <a:spcPct val="115000"/>
              </a:lnSpc>
            </a:pPr>
            <a:r>
              <a:rPr sz="1450" b="0" i="0">
                <a:solidFill>
                  <a:srgbClr val="FFFFFF"/>
                </a:solidFill>
                <a:latin typeface="Calibri"/>
              </a:rPr>
              <a:t>Construye la solución técnica: diseña, escribe, prueba y mantiene el código.</a:t>
            </a:r>
          </a:p>
        </p:txBody>
      </p:sp>
      <p:sp>
        <p:nvSpPr>
          <p:cNvPr id="12" name="TextBox 11"/>
          <p:cNvSpPr txBox="1"/>
          <p:nvPr/>
        </p:nvSpPr>
        <p:spPr>
          <a:xfrm>
            <a:off x="6583680" y="4480560"/>
            <a:ext cx="4617720" cy="1554480"/>
          </a:xfrm>
          <a:prstGeom prst="rect">
            <a:avLst/>
          </a:prstGeom>
          <a:noFill/>
        </p:spPr>
        <p:txBody>
          <a:bodyPr wrap="square">
            <a:spAutoFit/>
          </a:bodyPr>
          <a:lstStyle/>
          <a:p>
            <a:pPr marL="256032" indent="-256032">
              <a:spcAft>
                <a:spcPts val="1000"/>
              </a:spcAft>
            </a:pPr>
            <a:r>
              <a:rPr sz="1300">
                <a:solidFill>
                  <a:srgbClr val="C9A24B"/>
                </a:solidFill>
                <a:latin typeface="Calibri"/>
              </a:rPr>
              <a:t>●  </a:t>
            </a:r>
            <a:r>
              <a:rPr sz="1300">
                <a:solidFill>
                  <a:srgbClr val="FFFFFF"/>
                </a:solidFill>
                <a:latin typeface="Calibri"/>
              </a:rPr>
              <a:t>Convierte los requerimientos en software funcionando.</a:t>
            </a:r>
          </a:p>
          <a:p>
            <a:pPr marL="256032" indent="-256032">
              <a:spcAft>
                <a:spcPts val="1000"/>
              </a:spcAft>
            </a:pPr>
            <a:r>
              <a:rPr sz="1300">
                <a:solidFill>
                  <a:srgbClr val="C9A24B"/>
                </a:solidFill>
                <a:latin typeface="Calibri"/>
              </a:rPr>
              <a:t>●  </a:t>
            </a:r>
            <a:r>
              <a:rPr sz="1300">
                <a:solidFill>
                  <a:srgbClr val="FFFFFF"/>
                </a:solidFill>
                <a:latin typeface="Calibri"/>
              </a:rPr>
              <a:t>Resuelve problemas técnicos del día a día.</a:t>
            </a:r>
          </a:p>
          <a:p>
            <a:pPr marL="256032" indent="-256032">
              <a:spcAft>
                <a:spcPts val="1000"/>
              </a:spcAft>
            </a:pPr>
            <a:r>
              <a:rPr sz="1300">
                <a:solidFill>
                  <a:srgbClr val="C9A24B"/>
                </a:solidFill>
                <a:latin typeface="Calibri"/>
              </a:rPr>
              <a:t>●  </a:t>
            </a:r>
            <a:r>
              <a:rPr sz="1300">
                <a:solidFill>
                  <a:srgbClr val="FFFFFF"/>
                </a:solidFill>
                <a:latin typeface="Calibri"/>
              </a:rPr>
              <a:t>Trabaja en conjunto con el resto del equipo de desarrollo.</a:t>
            </a:r>
          </a:p>
        </p:txBody>
      </p:sp>
      <p:sp>
        <p:nvSpPr>
          <p:cNvPr id="13" name="TextBox 12"/>
          <p:cNvSpPr txBox="1"/>
          <p:nvPr/>
        </p:nvSpPr>
        <p:spPr>
          <a:xfrm>
            <a:off x="457200" y="6473952"/>
            <a:ext cx="9144000" cy="274320"/>
          </a:xfrm>
          <a:prstGeom prst="rect">
            <a:avLst/>
          </a:prstGeom>
          <a:noFill/>
        </p:spPr>
        <p:txBody>
          <a:bodyPr wrap="square" anchor="t">
            <a:spAutoFit/>
          </a:bodyPr>
          <a:lstStyle/>
          <a:p>
            <a:pPr algn="l"/>
            <a:r>
              <a:rPr sz="1000" b="0" i="0">
                <a:solidFill>
                  <a:srgbClr val="5B6472"/>
                </a:solidFill>
                <a:latin typeface="Calibri"/>
              </a:rPr>
              <a:t>PROGRAMACIÓN II · UAI · Unidad 1 · Clase 1</a:t>
            </a:r>
          </a:p>
        </p:txBody>
      </p:sp>
      <p:sp>
        <p:nvSpPr>
          <p:cNvPr id="14" name="TextBox 13"/>
          <p:cNvSpPr txBox="1"/>
          <p:nvPr/>
        </p:nvSpPr>
        <p:spPr>
          <a:xfrm>
            <a:off x="11274552" y="6473952"/>
            <a:ext cx="457200" cy="274320"/>
          </a:xfrm>
          <a:prstGeom prst="rect">
            <a:avLst/>
          </a:prstGeom>
          <a:noFill/>
        </p:spPr>
        <p:txBody>
          <a:bodyPr wrap="square" anchor="t">
            <a:spAutoFit/>
          </a:bodyPr>
          <a:lstStyle/>
          <a:p>
            <a:pPr algn="l"/>
            <a:r>
              <a:rPr sz="1000" b="0" i="0">
                <a:solidFill>
                  <a:srgbClr val="5B6472"/>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457200"/>
            <a:ext cx="9144000" cy="365760"/>
          </a:xfrm>
          <a:prstGeom prst="rect">
            <a:avLst/>
          </a:prstGeom>
          <a:noFill/>
        </p:spPr>
        <p:txBody>
          <a:bodyPr wrap="square" anchor="t">
            <a:spAutoFit/>
          </a:bodyPr>
          <a:lstStyle/>
          <a:p>
            <a:pPr algn="l"/>
            <a:r>
              <a:rPr sz="1300" b="1" i="0">
                <a:solidFill>
                  <a:srgbClr val="C9A24B"/>
                </a:solidFill>
                <a:latin typeface="Calibri"/>
              </a:rPr>
              <a:t>MATERIAL DE ESTUDIO · 11 DE 12</a:t>
            </a:r>
          </a:p>
        </p:txBody>
      </p:sp>
      <p:sp>
        <p:nvSpPr>
          <p:cNvPr id="3" name="TextBox 2"/>
          <p:cNvSpPr txBox="1"/>
          <p:nvPr/>
        </p:nvSpPr>
        <p:spPr>
          <a:xfrm>
            <a:off x="640080" y="777240"/>
            <a:ext cx="10881360" cy="731520"/>
          </a:xfrm>
          <a:prstGeom prst="rect">
            <a:avLst/>
          </a:prstGeom>
          <a:noFill/>
        </p:spPr>
        <p:txBody>
          <a:bodyPr wrap="square" anchor="t">
            <a:spAutoFit/>
          </a:bodyPr>
          <a:lstStyle/>
          <a:p>
            <a:pPr algn="l"/>
            <a:r>
              <a:rPr sz="2800" b="1" i="0">
                <a:solidFill>
                  <a:srgbClr val="1C1F26"/>
                </a:solidFill>
                <a:latin typeface="Calibri"/>
              </a:rPr>
              <a:t>¿Dónde se usa Python?</a:t>
            </a:r>
          </a:p>
        </p:txBody>
      </p:sp>
      <p:sp>
        <p:nvSpPr>
          <p:cNvPr id="4" name="TextBox 3"/>
          <p:cNvSpPr txBox="1"/>
          <p:nvPr/>
        </p:nvSpPr>
        <p:spPr>
          <a:xfrm>
            <a:off x="640080" y="1600200"/>
            <a:ext cx="10881360" cy="548640"/>
          </a:xfrm>
          <a:prstGeom prst="rect">
            <a:avLst/>
          </a:prstGeom>
          <a:noFill/>
        </p:spPr>
        <p:txBody>
          <a:bodyPr wrap="square" anchor="t">
            <a:spAutoFit/>
          </a:bodyPr>
          <a:lstStyle/>
          <a:p>
            <a:pPr algn="l">
              <a:lnSpc>
                <a:spcPct val="115000"/>
              </a:lnSpc>
            </a:pPr>
            <a:r>
              <a:rPr sz="1400" b="0" i="0">
                <a:solidFill>
                  <a:srgbClr val="5B6472"/>
                </a:solidFill>
                <a:latin typeface="Calibri"/>
              </a:rPr>
              <a:t>Python dejó de ser un lenguaje de nicho: hoy sostiene algunas de las áreas de más crecimiento de la industria tecnológica.</a:t>
            </a:r>
          </a:p>
        </p:txBody>
      </p:sp>
      <p:sp>
        <p:nvSpPr>
          <p:cNvPr id="5" name="Rounded Rectangle 4"/>
          <p:cNvSpPr/>
          <p:nvPr/>
        </p:nvSpPr>
        <p:spPr>
          <a:xfrm>
            <a:off x="640080" y="2331720"/>
            <a:ext cx="10881360" cy="3931920"/>
          </a:xfrm>
          <a:prstGeom prst="roundRect">
            <a:avLst>
              <a:gd name="adj" fmla="val 2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743200"/>
            <a:ext cx="9966960" cy="3108960"/>
          </a:xfrm>
          <a:prstGeom prst="rect">
            <a:avLst/>
          </a:prstGeom>
          <a:noFill/>
        </p:spPr>
        <p:txBody>
          <a:bodyPr wrap="square">
            <a:spAutoFit/>
          </a:bodyPr>
          <a:lstStyle/>
          <a:p>
            <a:pPr marL="274320" indent="-274320">
              <a:spcAft>
                <a:spcPts val="1600"/>
              </a:spcAft>
            </a:pPr>
            <a:r>
              <a:rPr sz="1450">
                <a:solidFill>
                  <a:srgbClr val="C9A24B"/>
                </a:solidFill>
                <a:latin typeface="Calibri"/>
              </a:rPr>
              <a:t>●  </a:t>
            </a:r>
            <a:r>
              <a:rPr sz="1450" b="1">
                <a:solidFill>
                  <a:srgbClr val="16233F"/>
                </a:solidFill>
                <a:latin typeface="Calibri"/>
              </a:rPr>
              <a:t>Inteligencia Artificial: </a:t>
            </a:r>
            <a:r>
              <a:rPr sz="1450" b="0">
                <a:solidFill>
                  <a:srgbClr val="1C1F26"/>
                </a:solidFill>
                <a:latin typeface="Calibri"/>
              </a:rPr>
              <a:t>Base principal para crear redes neuronales, modelos de lenguaje y aprendizaje automático.</a:t>
            </a:r>
          </a:p>
          <a:p>
            <a:pPr marL="274320" indent="-274320">
              <a:spcAft>
                <a:spcPts val="1600"/>
              </a:spcAft>
            </a:pPr>
            <a:r>
              <a:rPr sz="1450">
                <a:solidFill>
                  <a:srgbClr val="C9A24B"/>
                </a:solidFill>
                <a:latin typeface="Calibri"/>
              </a:rPr>
              <a:t>●  </a:t>
            </a:r>
            <a:r>
              <a:rPr sz="1450" b="1">
                <a:solidFill>
                  <a:srgbClr val="16233F"/>
                </a:solidFill>
                <a:latin typeface="Calibri"/>
              </a:rPr>
              <a:t>Ciencia de Datos: </a:t>
            </a:r>
            <a:r>
              <a:rPr sz="1450" b="0">
                <a:solidFill>
                  <a:srgbClr val="1C1F26"/>
                </a:solidFill>
                <a:latin typeface="Calibri"/>
              </a:rPr>
              <a:t>Herramienta estándar para analizar grandes volúmenes de información, estadísticas y gráficos.</a:t>
            </a:r>
          </a:p>
          <a:p>
            <a:pPr marL="274320" indent="-274320">
              <a:spcAft>
                <a:spcPts val="1600"/>
              </a:spcAft>
            </a:pPr>
            <a:r>
              <a:rPr sz="1450">
                <a:solidFill>
                  <a:srgbClr val="C9A24B"/>
                </a:solidFill>
                <a:latin typeface="Calibri"/>
              </a:rPr>
              <a:t>●  </a:t>
            </a:r>
            <a:r>
              <a:rPr sz="1450" b="1">
                <a:solidFill>
                  <a:srgbClr val="16233F"/>
                </a:solidFill>
                <a:latin typeface="Calibri"/>
              </a:rPr>
              <a:t>Desarrollo Web: </a:t>
            </a:r>
            <a:r>
              <a:rPr sz="1450" b="0">
                <a:solidFill>
                  <a:srgbClr val="1C1F26"/>
                </a:solidFill>
                <a:latin typeface="Calibri"/>
              </a:rPr>
              <a:t>Creación del backend (servidores y lógica) de plataformas como Instagram, Spotify y Netflix.</a:t>
            </a:r>
          </a:p>
          <a:p>
            <a:pPr marL="274320" indent="-274320">
              <a:spcAft>
                <a:spcPts val="1600"/>
              </a:spcAft>
            </a:pPr>
            <a:r>
              <a:rPr sz="1450">
                <a:solidFill>
                  <a:srgbClr val="C9A24B"/>
                </a:solidFill>
                <a:latin typeface="Calibri"/>
              </a:rPr>
              <a:t>●  </a:t>
            </a:r>
            <a:r>
              <a:rPr sz="1450" b="1">
                <a:solidFill>
                  <a:srgbClr val="16233F"/>
                </a:solidFill>
                <a:latin typeface="Calibri"/>
              </a:rPr>
              <a:t>Automatización de Tareas: </a:t>
            </a:r>
            <a:r>
              <a:rPr sz="1450" b="0">
                <a:solidFill>
                  <a:srgbClr val="1C1F26"/>
                </a:solidFill>
                <a:latin typeface="Calibri"/>
              </a:rPr>
              <a:t>Escritura de scripts para programar tareas repetitivas, ordenar archivos o extraer datos de webs.</a:t>
            </a:r>
          </a:p>
          <a:p>
            <a:pPr marL="274320" indent="-274320">
              <a:spcAft>
                <a:spcPts val="1600"/>
              </a:spcAft>
            </a:pPr>
            <a:r>
              <a:rPr sz="1450">
                <a:solidFill>
                  <a:srgbClr val="C9A24B"/>
                </a:solidFill>
                <a:latin typeface="Calibri"/>
              </a:rPr>
              <a:t>●  </a:t>
            </a:r>
            <a:r>
              <a:rPr sz="1450" b="1">
                <a:solidFill>
                  <a:srgbClr val="16233F"/>
                </a:solidFill>
                <a:latin typeface="Calibri"/>
              </a:rPr>
              <a:t>Ciberseguridad: </a:t>
            </a:r>
            <a:r>
              <a:rPr sz="1450" b="0">
                <a:solidFill>
                  <a:srgbClr val="1C1F26"/>
                </a:solidFill>
                <a:latin typeface="Calibri"/>
              </a:rPr>
              <a:t>Desarrollo de herramientas para pruebas de penetración, análisis de malware y escaneo de redes.</a:t>
            </a:r>
          </a:p>
        </p:txBody>
      </p:sp>
      <p:sp>
        <p:nvSpPr>
          <p:cNvPr id="7" name="TextBox 6"/>
          <p:cNvSpPr txBox="1"/>
          <p:nvPr/>
        </p:nvSpPr>
        <p:spPr>
          <a:xfrm>
            <a:off x="457200" y="6473952"/>
            <a:ext cx="9144000" cy="274320"/>
          </a:xfrm>
          <a:prstGeom prst="rect">
            <a:avLst/>
          </a:prstGeom>
          <a:noFill/>
        </p:spPr>
        <p:txBody>
          <a:bodyPr wrap="square" anchor="t">
            <a:spAutoFit/>
          </a:bodyPr>
          <a:lstStyle/>
          <a:p>
            <a:pPr algn="l"/>
            <a:r>
              <a:rPr sz="1000" b="0" i="0">
                <a:solidFill>
                  <a:srgbClr val="5B6472"/>
                </a:solidFill>
                <a:latin typeface="Calibri"/>
              </a:rPr>
              <a:t>PROGRAMACIÓN II · UAI · Unidad 1 · Clase 1</a:t>
            </a:r>
          </a:p>
        </p:txBody>
      </p:sp>
      <p:sp>
        <p:nvSpPr>
          <p:cNvPr id="8" name="TextBox 7"/>
          <p:cNvSpPr txBox="1"/>
          <p:nvPr/>
        </p:nvSpPr>
        <p:spPr>
          <a:xfrm>
            <a:off x="11274552" y="6473952"/>
            <a:ext cx="457200" cy="274320"/>
          </a:xfrm>
          <a:prstGeom prst="rect">
            <a:avLst/>
          </a:prstGeom>
          <a:noFill/>
        </p:spPr>
        <p:txBody>
          <a:bodyPr wrap="square" anchor="t">
            <a:spAutoFit/>
          </a:bodyPr>
          <a:lstStyle/>
          <a:p>
            <a:pPr algn="l"/>
            <a:r>
              <a:rPr sz="1000" b="0" i="0">
                <a:solidFill>
                  <a:srgbClr val="5B6472"/>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457200"/>
            <a:ext cx="9144000" cy="365760"/>
          </a:xfrm>
          <a:prstGeom prst="rect">
            <a:avLst/>
          </a:prstGeom>
          <a:noFill/>
        </p:spPr>
        <p:txBody>
          <a:bodyPr wrap="square" anchor="t">
            <a:spAutoFit/>
          </a:bodyPr>
          <a:lstStyle/>
          <a:p>
            <a:pPr algn="l"/>
            <a:r>
              <a:rPr sz="1300" b="1" i="0">
                <a:solidFill>
                  <a:srgbClr val="C9A24B"/>
                </a:solidFill>
                <a:latin typeface="Calibri"/>
              </a:rPr>
              <a:t>MATERIAL DE ESTUDIO · 12 DE 12</a:t>
            </a:r>
          </a:p>
        </p:txBody>
      </p:sp>
      <p:sp>
        <p:nvSpPr>
          <p:cNvPr id="3" name="TextBox 2"/>
          <p:cNvSpPr txBox="1"/>
          <p:nvPr/>
        </p:nvSpPr>
        <p:spPr>
          <a:xfrm>
            <a:off x="640080" y="777240"/>
            <a:ext cx="10881360" cy="731520"/>
          </a:xfrm>
          <a:prstGeom prst="rect">
            <a:avLst/>
          </a:prstGeom>
          <a:noFill/>
        </p:spPr>
        <p:txBody>
          <a:bodyPr wrap="square" anchor="t">
            <a:spAutoFit/>
          </a:bodyPr>
          <a:lstStyle/>
          <a:p>
            <a:pPr algn="l"/>
            <a:r>
              <a:rPr sz="2800" b="1" i="0">
                <a:solidFill>
                  <a:srgbClr val="1C1F26"/>
                </a:solidFill>
                <a:latin typeface="Calibri"/>
              </a:rPr>
              <a:t>¿Qué ventajas tiene Python?</a:t>
            </a:r>
          </a:p>
        </p:txBody>
      </p:sp>
      <p:sp>
        <p:nvSpPr>
          <p:cNvPr id="4" name="TextBox 3"/>
          <p:cNvSpPr txBox="1"/>
          <p:nvPr/>
        </p:nvSpPr>
        <p:spPr>
          <a:xfrm>
            <a:off x="640080" y="1600200"/>
            <a:ext cx="10881360" cy="548640"/>
          </a:xfrm>
          <a:prstGeom prst="rect">
            <a:avLst/>
          </a:prstGeom>
          <a:noFill/>
        </p:spPr>
        <p:txBody>
          <a:bodyPr wrap="square" anchor="t">
            <a:spAutoFit/>
          </a:bodyPr>
          <a:lstStyle/>
          <a:p>
            <a:pPr algn="l">
              <a:lnSpc>
                <a:spcPct val="115000"/>
              </a:lnSpc>
            </a:pPr>
            <a:r>
              <a:rPr sz="1400" b="0" i="0">
                <a:solidFill>
                  <a:srgbClr val="5B6472"/>
                </a:solidFill>
                <a:latin typeface="Calibri"/>
              </a:rPr>
              <a:t>Estas son las razones por las que Python se convirtió en uno de los lenguajes más elegidos, tanto para aprender como para trabajar.</a:t>
            </a:r>
          </a:p>
        </p:txBody>
      </p:sp>
      <p:sp>
        <p:nvSpPr>
          <p:cNvPr id="5" name="Rounded Rectangle 4"/>
          <p:cNvSpPr/>
          <p:nvPr/>
        </p:nvSpPr>
        <p:spPr>
          <a:xfrm>
            <a:off x="640080" y="2331720"/>
            <a:ext cx="10881360" cy="3931920"/>
          </a:xfrm>
          <a:prstGeom prst="roundRect">
            <a:avLst>
              <a:gd name="adj" fmla="val 2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743200"/>
            <a:ext cx="9966960" cy="3108960"/>
          </a:xfrm>
          <a:prstGeom prst="rect">
            <a:avLst/>
          </a:prstGeom>
          <a:noFill/>
        </p:spPr>
        <p:txBody>
          <a:bodyPr wrap="square">
            <a:spAutoFit/>
          </a:bodyPr>
          <a:lstStyle/>
          <a:p>
            <a:pPr marL="274320" indent="-274320">
              <a:spcAft>
                <a:spcPts val="1600"/>
              </a:spcAft>
            </a:pPr>
            <a:r>
              <a:rPr sz="1450">
                <a:solidFill>
                  <a:srgbClr val="C9A24B"/>
                </a:solidFill>
                <a:latin typeface="Calibri"/>
              </a:rPr>
              <a:t>●  </a:t>
            </a:r>
            <a:r>
              <a:rPr sz="1450" b="1">
                <a:solidFill>
                  <a:srgbClr val="16233F"/>
                </a:solidFill>
                <a:latin typeface="Calibri"/>
              </a:rPr>
              <a:t>Sintaxis Simple: </a:t>
            </a:r>
            <a:r>
              <a:rPr sz="1450" b="0">
                <a:solidFill>
                  <a:srgbClr val="1C1F26"/>
                </a:solidFill>
                <a:latin typeface="Calibri"/>
              </a:rPr>
              <a:t>Se lee de forma muy similar al inglés, reduciendo el tiempo de aprendizaje.</a:t>
            </a:r>
          </a:p>
          <a:p>
            <a:pPr marL="274320" indent="-274320">
              <a:spcAft>
                <a:spcPts val="1600"/>
              </a:spcAft>
            </a:pPr>
            <a:r>
              <a:rPr sz="1450">
                <a:solidFill>
                  <a:srgbClr val="C9A24B"/>
                </a:solidFill>
                <a:latin typeface="Calibri"/>
              </a:rPr>
              <a:t>●  </a:t>
            </a:r>
            <a:r>
              <a:rPr sz="1450" b="1">
                <a:solidFill>
                  <a:srgbClr val="16233F"/>
                </a:solidFill>
                <a:latin typeface="Calibri"/>
              </a:rPr>
              <a:t>Menos Código: </a:t>
            </a:r>
            <a:r>
              <a:rPr sz="1450" b="0">
                <a:solidFill>
                  <a:srgbClr val="1C1F26"/>
                </a:solidFill>
                <a:latin typeface="Calibri"/>
              </a:rPr>
              <a:t>Permite resolver problemas complejos con muchas menos líneas que lenguajes como Java o C++.</a:t>
            </a:r>
          </a:p>
          <a:p>
            <a:pPr marL="274320" indent="-274320">
              <a:spcAft>
                <a:spcPts val="1600"/>
              </a:spcAft>
            </a:pPr>
            <a:r>
              <a:rPr sz="1450">
                <a:solidFill>
                  <a:srgbClr val="C9A24B"/>
                </a:solidFill>
                <a:latin typeface="Calibri"/>
              </a:rPr>
              <a:t>●  </a:t>
            </a:r>
            <a:r>
              <a:rPr sz="1450" b="1">
                <a:solidFill>
                  <a:srgbClr val="16233F"/>
                </a:solidFill>
                <a:latin typeface="Calibri"/>
              </a:rPr>
              <a:t>Gran Comunidad: </a:t>
            </a:r>
            <a:r>
              <a:rPr sz="1450" b="0">
                <a:solidFill>
                  <a:srgbClr val="1C1F26"/>
                </a:solidFill>
                <a:latin typeface="Calibri"/>
              </a:rPr>
              <a:t>Millones de desarrolladores comparten soluciones, librerías gratuitas y tutoriales en internet.</a:t>
            </a:r>
          </a:p>
          <a:p>
            <a:pPr marL="274320" indent="-274320">
              <a:spcAft>
                <a:spcPts val="1600"/>
              </a:spcAft>
            </a:pPr>
            <a:r>
              <a:rPr sz="1450">
                <a:solidFill>
                  <a:srgbClr val="C9A24B"/>
                </a:solidFill>
                <a:latin typeface="Calibri"/>
              </a:rPr>
              <a:t>●  </a:t>
            </a:r>
            <a:r>
              <a:rPr sz="1450" b="1">
                <a:solidFill>
                  <a:srgbClr val="16233F"/>
                </a:solidFill>
                <a:latin typeface="Calibri"/>
              </a:rPr>
              <a:t>Multiplataforma: </a:t>
            </a:r>
            <a:r>
              <a:rPr sz="1450" b="0">
                <a:solidFill>
                  <a:srgbClr val="1C1F26"/>
                </a:solidFill>
                <a:latin typeface="Calibri"/>
              </a:rPr>
              <a:t>El mismo código funciona sin cambios en Windows, Mac y Linux.</a:t>
            </a:r>
          </a:p>
          <a:p>
            <a:pPr marL="274320" indent="-274320">
              <a:spcAft>
                <a:spcPts val="1600"/>
              </a:spcAft>
            </a:pPr>
            <a:r>
              <a:rPr sz="1450">
                <a:solidFill>
                  <a:srgbClr val="C9A24B"/>
                </a:solidFill>
                <a:latin typeface="Calibri"/>
              </a:rPr>
              <a:t>●  </a:t>
            </a:r>
            <a:r>
              <a:rPr sz="1450" b="1">
                <a:solidFill>
                  <a:srgbClr val="16233F"/>
                </a:solidFill>
                <a:latin typeface="Calibri"/>
              </a:rPr>
              <a:t>Alta Demanda Laboral: </a:t>
            </a:r>
            <a:r>
              <a:rPr sz="1450" b="0">
                <a:solidFill>
                  <a:srgbClr val="1C1F26"/>
                </a:solidFill>
                <a:latin typeface="Calibri"/>
              </a:rPr>
              <a:t>Es uno de los perfiles más buscados y mejor pagados por las empresas tecnológicas.</a:t>
            </a:r>
          </a:p>
        </p:txBody>
      </p:sp>
      <p:sp>
        <p:nvSpPr>
          <p:cNvPr id="7" name="TextBox 6"/>
          <p:cNvSpPr txBox="1"/>
          <p:nvPr/>
        </p:nvSpPr>
        <p:spPr>
          <a:xfrm>
            <a:off x="457200" y="6473952"/>
            <a:ext cx="9144000" cy="274320"/>
          </a:xfrm>
          <a:prstGeom prst="rect">
            <a:avLst/>
          </a:prstGeom>
          <a:noFill/>
        </p:spPr>
        <p:txBody>
          <a:bodyPr wrap="square" anchor="t">
            <a:spAutoFit/>
          </a:bodyPr>
          <a:lstStyle/>
          <a:p>
            <a:pPr algn="l"/>
            <a:r>
              <a:rPr sz="1000" b="0" i="0">
                <a:solidFill>
                  <a:srgbClr val="5B6472"/>
                </a:solidFill>
                <a:latin typeface="Calibri"/>
              </a:rPr>
              <a:t>PROGRAMACIÓN II · UAI · Unidad 1 · Clase 1</a:t>
            </a:r>
          </a:p>
        </p:txBody>
      </p:sp>
      <p:sp>
        <p:nvSpPr>
          <p:cNvPr id="8" name="TextBox 7"/>
          <p:cNvSpPr txBox="1"/>
          <p:nvPr/>
        </p:nvSpPr>
        <p:spPr>
          <a:xfrm>
            <a:off x="11274552" y="6473952"/>
            <a:ext cx="457200" cy="274320"/>
          </a:xfrm>
          <a:prstGeom prst="rect">
            <a:avLst/>
          </a:prstGeom>
          <a:noFill/>
        </p:spPr>
        <p:txBody>
          <a:bodyPr wrap="square" anchor="t">
            <a:spAutoFit/>
          </a:bodyPr>
          <a:lstStyle/>
          <a:p>
            <a:pPr algn="l"/>
            <a:r>
              <a:rPr sz="1000" b="0" i="0">
                <a:solidFill>
                  <a:srgbClr val="5B6472"/>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EJERCICIO 1 · INDIVIDUAL</a:t>
            </a:r>
            <a:endParaRPr lang="en-US" sz="1300" dirty="0"/>
          </a:p>
        </p:txBody>
      </p:sp>
      <p:sp>
        <p:nvSpPr>
          <p:cNvPr id="3" name="Text 1"/>
          <p:cNvSpPr/>
          <p:nvPr/>
        </p:nvSpPr>
        <p:spPr>
          <a:xfrm>
            <a:off x="640080" y="777240"/>
            <a:ext cx="10881360" cy="731520"/>
          </a:xfrm>
          <a:prstGeom prst="rect">
            <a:avLst/>
          </a:prstGeom>
          <a:noFill/>
          <a:ln/>
        </p:spPr>
        <p:txBody>
          <a:bodyPr wrap="square" rtlCol="0" anchor="ctr"/>
          <a:lstStyle/>
          <a:p>
            <a:pPr indent="0" marL="0">
              <a:buNone/>
            </a:pPr>
            <a:r>
              <a:rPr lang="en-US" sz="2800" b="1" dirty="0">
                <a:solidFill>
                  <a:srgbClr val="1C1F26"/>
                </a:solidFill>
                <a:latin typeface="Calibri" pitchFamily="34" charset="0"/>
                <a:ea typeface="Calibri" pitchFamily="34" charset="-122"/>
                <a:cs typeface="Calibri" pitchFamily="34" charset="-120"/>
              </a:rPr>
              <a:t>Instalación del entorno y primer programa</a:t>
            </a:r>
            <a:endParaRPr lang="en-US" sz="2800" dirty="0"/>
          </a:p>
        </p:txBody>
      </p:sp>
      <p:sp>
        <p:nvSpPr>
          <p:cNvPr id="4" name="Shape 2"/>
          <p:cNvSpPr/>
          <p:nvPr/>
        </p:nvSpPr>
        <p:spPr>
          <a:xfrm>
            <a:off x="640080" y="1691640"/>
            <a:ext cx="10835640" cy="822960"/>
          </a:xfrm>
          <a:prstGeom prst="roundRect">
            <a:avLst>
              <a:gd name="adj" fmla="val 8889"/>
            </a:avLst>
          </a:prstGeom>
          <a:solidFill>
            <a:srgbClr val="E9F5EF"/>
          </a:solidFill>
          <a:ln w="12700">
            <a:solidFill>
              <a:srgbClr val="CFE8DB"/>
            </a:solidFill>
            <a:prstDash val="solid"/>
          </a:ln>
        </p:spPr>
        <p:txBody>
          <a:bodyPr/>
          <a:p/>
        </p:txBody>
      </p:sp>
      <p:sp>
        <p:nvSpPr>
          <p:cNvPr id="5" name="Text 3"/>
          <p:cNvSpPr/>
          <p:nvPr/>
        </p:nvSpPr>
        <p:spPr>
          <a:xfrm>
            <a:off x="914400" y="1828800"/>
            <a:ext cx="2743200" cy="274320"/>
          </a:xfrm>
          <a:prstGeom prst="rect">
            <a:avLst/>
          </a:prstGeom>
          <a:noFill/>
          <a:ln/>
        </p:spPr>
        <p:txBody>
          <a:bodyPr wrap="square" rtlCol="0" anchor="ctr"/>
          <a:lstStyle/>
          <a:p>
            <a:pPr indent="0" marL="0">
              <a:buNone/>
            </a:pPr>
            <a:r>
              <a:rPr lang="en-US" sz="1050" b="1" spc="100" kern="0" dirty="0">
                <a:solidFill>
                  <a:srgbClr val="2E7D5B"/>
                </a:solidFill>
                <a:latin typeface="Calibri" pitchFamily="34" charset="0"/>
                <a:ea typeface="Calibri" pitchFamily="34" charset="-122"/>
                <a:cs typeface="Calibri" pitchFamily="34" charset="-120"/>
              </a:rPr>
              <a:t>CONSIGNA</a:t>
            </a:r>
            <a:endParaRPr lang="en-US" sz="1050" dirty="0"/>
          </a:p>
        </p:txBody>
      </p:sp>
      <p:sp>
        <p:nvSpPr>
          <p:cNvPr id="6" name="Text 4"/>
          <p:cNvSpPr/>
          <p:nvPr/>
        </p:nvSpPr>
        <p:spPr>
          <a:xfrm>
            <a:off x="914400" y="2084832"/>
            <a:ext cx="10241280" cy="411480"/>
          </a:xfrm>
          <a:prstGeom prst="rect">
            <a:avLst/>
          </a:prstGeom>
          <a:noFill/>
          <a:ln/>
        </p:spPr>
        <p:txBody>
          <a:bodyPr wrap="square" rtlCol="0" anchor="ctr"/>
          <a:lstStyle/>
          <a:p>
            <a:pPr indent="0" marL="0">
              <a:buNone/>
            </a:pPr>
            <a:r>
              <a:rPr lang="en-US" sz="1300" dirty="0">
                <a:solidFill>
                  <a:srgbClr val="1C1F26"/>
                </a:solidFill>
                <a:latin typeface="Calibri" pitchFamily="34" charset="0"/>
                <a:ea typeface="Calibri" pitchFamily="34" charset="-122"/>
                <a:cs typeface="Calibri" pitchFamily="34" charset="-120"/>
              </a:rPr>
              <a:t>Instalar Python y VS Code, y escribir un programa que imprima un mensaje de bienvenida personalizado.</a:t>
            </a:r>
            <a:endParaRPr lang="en-US" sz="1300" dirty="0"/>
          </a:p>
        </p:txBody>
      </p:sp>
      <p:sp>
        <p:nvSpPr>
          <p:cNvPr id="7" name="Text 5"/>
          <p:cNvSpPr/>
          <p:nvPr/>
        </p:nvSpPr>
        <p:spPr>
          <a:xfrm>
            <a:off x="640080" y="2788920"/>
            <a:ext cx="4572000" cy="274320"/>
          </a:xfrm>
          <a:prstGeom prst="rect">
            <a:avLst/>
          </a:prstGeom>
          <a:noFill/>
          <a:ln/>
        </p:spPr>
        <p:txBody>
          <a:bodyPr wrap="square" rtlCol="0" anchor="ctr"/>
          <a:lstStyle/>
          <a:p>
            <a:pPr indent="0" marL="0">
              <a:buNone/>
            </a:pPr>
            <a:r>
              <a:rPr lang="en-US" sz="1100" b="1" spc="100" kern="0" dirty="0">
                <a:solidFill>
                  <a:srgbClr val="5B6472"/>
                </a:solidFill>
                <a:latin typeface="Calibri" pitchFamily="34" charset="0"/>
                <a:ea typeface="Calibri" pitchFamily="34" charset="-122"/>
                <a:cs typeface="Calibri" pitchFamily="34" charset="-120"/>
              </a:rPr>
              <a:t>PASOS</a:t>
            </a:r>
            <a:endParaRPr lang="en-US" sz="1100" dirty="0"/>
          </a:p>
        </p:txBody>
      </p:sp>
      <p:sp>
        <p:nvSpPr>
          <p:cNvPr id="8" name="Shape 6"/>
          <p:cNvSpPr/>
          <p:nvPr/>
        </p:nvSpPr>
        <p:spPr>
          <a:xfrm>
            <a:off x="640080" y="3236976"/>
            <a:ext cx="118872" cy="118872"/>
          </a:xfrm>
          <a:prstGeom prst="ellipse">
            <a:avLst/>
          </a:prstGeom>
          <a:solidFill>
            <a:srgbClr val="C9A24B"/>
          </a:solidFill>
          <a:ln/>
        </p:spPr>
        <p:txBody>
          <a:bodyPr/>
          <a:p/>
        </p:txBody>
      </p:sp>
      <p:sp>
        <p:nvSpPr>
          <p:cNvPr id="9" name="Text 7"/>
          <p:cNvSpPr/>
          <p:nvPr/>
        </p:nvSpPr>
        <p:spPr>
          <a:xfrm>
            <a:off x="914400" y="3154680"/>
            <a:ext cx="4937760" cy="512064"/>
          </a:xfrm>
          <a:prstGeom prst="rect">
            <a:avLst/>
          </a:prstGeom>
          <a:noFill/>
          <a:ln/>
        </p:spPr>
        <p:txBody>
          <a:bodyPr wrap="square" rtlCol="0" anchor="t"/>
          <a:lstStyle/>
          <a:p>
            <a:pPr indent="0" marL="0">
              <a:buNone/>
            </a:pPr>
            <a:r>
              <a:rPr lang="en-US" sz="1250" dirty="0">
                <a:solidFill>
                  <a:srgbClr val="1C1F26"/>
                </a:solidFill>
                <a:latin typeface="Calibri" pitchFamily="34" charset="0"/>
                <a:ea typeface="Calibri" pitchFamily="34" charset="-122"/>
                <a:cs typeface="Calibri" pitchFamily="34" charset="-120"/>
              </a:rPr>
              <a:t>Descargar e instalar Python 3 desde python.org</a:t>
            </a:r>
            <a:endParaRPr lang="en-US" sz="1250" dirty="0"/>
          </a:p>
        </p:txBody>
      </p:sp>
      <p:sp>
        <p:nvSpPr>
          <p:cNvPr id="10" name="Shape 8"/>
          <p:cNvSpPr/>
          <p:nvPr/>
        </p:nvSpPr>
        <p:spPr>
          <a:xfrm>
            <a:off x="640080" y="3749040"/>
            <a:ext cx="118872" cy="118872"/>
          </a:xfrm>
          <a:prstGeom prst="ellipse">
            <a:avLst/>
          </a:prstGeom>
          <a:solidFill>
            <a:srgbClr val="C9A24B"/>
          </a:solidFill>
          <a:ln/>
        </p:spPr>
        <p:txBody>
          <a:bodyPr/>
          <a:p/>
        </p:txBody>
      </p:sp>
      <p:sp>
        <p:nvSpPr>
          <p:cNvPr id="11" name="Text 9"/>
          <p:cNvSpPr/>
          <p:nvPr/>
        </p:nvSpPr>
        <p:spPr>
          <a:xfrm>
            <a:off x="914400" y="3666744"/>
            <a:ext cx="4937760" cy="512064"/>
          </a:xfrm>
          <a:prstGeom prst="rect">
            <a:avLst/>
          </a:prstGeom>
          <a:noFill/>
          <a:ln/>
        </p:spPr>
        <p:txBody>
          <a:bodyPr wrap="square" rtlCol="0" anchor="t"/>
          <a:lstStyle/>
          <a:p>
            <a:pPr indent="0" marL="0">
              <a:buNone/>
            </a:pPr>
            <a:r>
              <a:rPr lang="en-US" sz="1250" dirty="0">
                <a:solidFill>
                  <a:srgbClr val="1C1F26"/>
                </a:solidFill>
                <a:latin typeface="Calibri" pitchFamily="34" charset="0"/>
                <a:ea typeface="Calibri" pitchFamily="34" charset="-122"/>
                <a:cs typeface="Calibri" pitchFamily="34" charset="-120"/>
              </a:rPr>
              <a:t>Instalar Visual Studio Code y la extensión oficial de Python</a:t>
            </a:r>
            <a:endParaRPr lang="en-US" sz="1250" dirty="0"/>
          </a:p>
        </p:txBody>
      </p:sp>
      <p:sp>
        <p:nvSpPr>
          <p:cNvPr id="12" name="Shape 10"/>
          <p:cNvSpPr/>
          <p:nvPr/>
        </p:nvSpPr>
        <p:spPr>
          <a:xfrm>
            <a:off x="640080" y="4261104"/>
            <a:ext cx="118872" cy="118872"/>
          </a:xfrm>
          <a:prstGeom prst="ellipse">
            <a:avLst/>
          </a:prstGeom>
          <a:solidFill>
            <a:srgbClr val="C9A24B"/>
          </a:solidFill>
          <a:ln/>
        </p:spPr>
        <p:txBody>
          <a:bodyPr/>
          <a:p/>
        </p:txBody>
      </p:sp>
      <p:sp>
        <p:nvSpPr>
          <p:cNvPr id="13" name="Text 11"/>
          <p:cNvSpPr/>
          <p:nvPr/>
        </p:nvSpPr>
        <p:spPr>
          <a:xfrm>
            <a:off x="914400" y="4178808"/>
            <a:ext cx="4937760" cy="512064"/>
          </a:xfrm>
          <a:prstGeom prst="rect">
            <a:avLst/>
          </a:prstGeom>
          <a:noFill/>
          <a:ln/>
        </p:spPr>
        <p:txBody>
          <a:bodyPr wrap="square" rtlCol="0" anchor="t"/>
          <a:lstStyle/>
          <a:p>
            <a:pPr indent="0" marL="0">
              <a:buNone/>
            </a:pPr>
            <a:r>
              <a:rPr lang="en-US" sz="1250" dirty="0">
                <a:solidFill>
                  <a:srgbClr val="1C1F26"/>
                </a:solidFill>
                <a:latin typeface="Calibri" pitchFamily="34" charset="0"/>
                <a:ea typeface="Calibri" pitchFamily="34" charset="-122"/>
                <a:cs typeface="Calibri" pitchFamily="34" charset="-120"/>
              </a:rPr>
              <a:t>Crear un archivo hola_mundo.py</a:t>
            </a:r>
            <a:endParaRPr lang="en-US" sz="1250" dirty="0"/>
          </a:p>
        </p:txBody>
      </p:sp>
      <p:sp>
        <p:nvSpPr>
          <p:cNvPr id="14" name="Shape 12"/>
          <p:cNvSpPr/>
          <p:nvPr/>
        </p:nvSpPr>
        <p:spPr>
          <a:xfrm>
            <a:off x="640080" y="4773168"/>
            <a:ext cx="118872" cy="118872"/>
          </a:xfrm>
          <a:prstGeom prst="ellipse">
            <a:avLst/>
          </a:prstGeom>
          <a:solidFill>
            <a:srgbClr val="C9A24B"/>
          </a:solidFill>
          <a:ln/>
        </p:spPr>
        <p:txBody>
          <a:bodyPr/>
          <a:p/>
        </p:txBody>
      </p:sp>
      <p:sp>
        <p:nvSpPr>
          <p:cNvPr id="15" name="Text 13"/>
          <p:cNvSpPr/>
          <p:nvPr/>
        </p:nvSpPr>
        <p:spPr>
          <a:xfrm>
            <a:off x="914400" y="4690872"/>
            <a:ext cx="4937760" cy="512064"/>
          </a:xfrm>
          <a:prstGeom prst="rect">
            <a:avLst/>
          </a:prstGeom>
          <a:noFill/>
          <a:ln/>
        </p:spPr>
        <p:txBody>
          <a:bodyPr wrap="square" rtlCol="0" anchor="t"/>
          <a:lstStyle/>
          <a:p>
            <a:pPr indent="0" marL="0">
              <a:buNone/>
            </a:pPr>
            <a:r>
              <a:rPr lang="en-US" sz="1250" dirty="0">
                <a:solidFill>
                  <a:srgbClr val="1C1F26"/>
                </a:solidFill>
                <a:latin typeface="Calibri" pitchFamily="34" charset="0"/>
                <a:ea typeface="Calibri" pitchFamily="34" charset="-122"/>
                <a:cs typeface="Calibri" pitchFamily="34" charset="-120"/>
              </a:rPr>
              <a:t>Escribir un print() que salude usando tu nombre</a:t>
            </a:r>
            <a:endParaRPr lang="en-US" sz="1250" dirty="0"/>
          </a:p>
        </p:txBody>
      </p:sp>
      <p:sp>
        <p:nvSpPr>
          <p:cNvPr id="16" name="Shape 14"/>
          <p:cNvSpPr/>
          <p:nvPr/>
        </p:nvSpPr>
        <p:spPr>
          <a:xfrm>
            <a:off x="640080" y="5285232"/>
            <a:ext cx="118872" cy="118872"/>
          </a:xfrm>
          <a:prstGeom prst="ellipse">
            <a:avLst/>
          </a:prstGeom>
          <a:solidFill>
            <a:srgbClr val="C9A24B"/>
          </a:solidFill>
          <a:ln/>
        </p:spPr>
        <p:txBody>
          <a:bodyPr/>
          <a:p/>
        </p:txBody>
      </p:sp>
      <p:sp>
        <p:nvSpPr>
          <p:cNvPr id="17" name="Text 15"/>
          <p:cNvSpPr/>
          <p:nvPr/>
        </p:nvSpPr>
        <p:spPr>
          <a:xfrm>
            <a:off x="914400" y="5202936"/>
            <a:ext cx="4937760" cy="512064"/>
          </a:xfrm>
          <a:prstGeom prst="rect">
            <a:avLst/>
          </a:prstGeom>
          <a:noFill/>
          <a:ln/>
        </p:spPr>
        <p:txBody>
          <a:bodyPr wrap="square" rtlCol="0" anchor="t"/>
          <a:lstStyle/>
          <a:p>
            <a:pPr indent="0" marL="0">
              <a:buNone/>
            </a:pPr>
            <a:r>
              <a:rPr lang="en-US" sz="1250" dirty="0">
                <a:solidFill>
                  <a:srgbClr val="1C1F26"/>
                </a:solidFill>
                <a:latin typeface="Calibri" pitchFamily="34" charset="0"/>
                <a:ea typeface="Calibri" pitchFamily="34" charset="-122"/>
                <a:cs typeface="Calibri" pitchFamily="34" charset="-120"/>
              </a:rPr>
              <a:t>Ejecutar el archivo desde la terminal integrada del editor</a:t>
            </a:r>
            <a:endParaRPr lang="en-US" sz="1250" dirty="0"/>
          </a:p>
        </p:txBody>
      </p:sp>
      <p:sp>
        <p:nvSpPr>
          <p:cNvPr id="18" name="Shape 16"/>
          <p:cNvSpPr/>
          <p:nvPr/>
        </p:nvSpPr>
        <p:spPr>
          <a:xfrm>
            <a:off x="6263640" y="2788920"/>
            <a:ext cx="5257800" cy="2926080"/>
          </a:xfrm>
          <a:prstGeom prst="roundRect">
            <a:avLst>
              <a:gd name="adj" fmla="val 2500"/>
            </a:avLst>
          </a:prstGeom>
          <a:solidFill>
            <a:srgbClr val="0E1830"/>
          </a:solidFill>
          <a:ln/>
        </p:spPr>
        <p:txBody>
          <a:bodyPr/>
          <a:p/>
        </p:txBody>
      </p:sp>
      <p:sp>
        <p:nvSpPr>
          <p:cNvPr id="19" name="Text 17"/>
          <p:cNvSpPr/>
          <p:nvPr/>
        </p:nvSpPr>
        <p:spPr>
          <a:xfrm>
            <a:off x="6492240" y="2926080"/>
            <a:ext cx="4846320" cy="274320"/>
          </a:xfrm>
          <a:prstGeom prst="rect">
            <a:avLst/>
          </a:prstGeom>
          <a:noFill/>
          <a:ln/>
        </p:spPr>
        <p:txBody>
          <a:bodyPr wrap="square" rtlCol="0" anchor="ctr"/>
          <a:lstStyle/>
          <a:p>
            <a:pPr indent="0" marL="0">
              <a:buNone/>
            </a:pPr>
            <a:r>
              <a:rPr lang="en-US" sz="1050" dirty="0">
                <a:solidFill>
                  <a:srgbClr val="8F97A8"/>
                </a:solidFill>
                <a:latin typeface="Consolas" pitchFamily="34" charset="0"/>
                <a:ea typeface="Consolas" pitchFamily="34" charset="-122"/>
                <a:cs typeface="Consolas" pitchFamily="34" charset="-120"/>
              </a:rPr>
              <a:t>hola_mundo.py</a:t>
            </a:r>
            <a:endParaRPr lang="en-US" sz="1050" dirty="0"/>
          </a:p>
        </p:txBody>
      </p:sp>
      <p:sp>
        <p:nvSpPr>
          <p:cNvPr id="20" name="Text 18"/>
          <p:cNvSpPr/>
          <p:nvPr/>
        </p:nvSpPr>
        <p:spPr>
          <a:xfrm>
            <a:off x="6492240" y="3291840"/>
            <a:ext cx="4846320" cy="2194560"/>
          </a:xfrm>
          <a:prstGeom prst="rect">
            <a:avLst/>
          </a:prstGeom>
          <a:noFill/>
          <a:ln/>
        </p:spPr>
        <p:txBody>
          <a:bodyPr wrap="square" rtlCol="0" anchor="t"/>
          <a:lstStyle/>
          <a:p>
            <a:pPr indent="0" marL="0">
              <a:lnSpc>
                <a:spcPct val="140000"/>
              </a:lnSpc>
              <a:buNone/>
            </a:pPr>
            <a:r>
              <a:rPr lang="en-US" sz="1300" dirty="0">
                <a:solidFill>
                  <a:srgbClr val="D7F5C9"/>
                </a:solidFill>
                <a:latin typeface="Consolas" pitchFamily="34" charset="0"/>
                <a:ea typeface="Consolas" pitchFamily="34" charset="-122"/>
                <a:cs typeface="Consolas" pitchFamily="34" charset="-120"/>
              </a:rPr>
              <a:t>nombre = "Ana"</a:t>
            </a:r>
            <a:endParaRPr lang="en-US" sz="1300" dirty="0"/>
          </a:p>
          <a:p>
            <a:pPr indent="0" marL="0">
              <a:lnSpc>
                <a:spcPct val="140000"/>
              </a:lnSpc>
              <a:buNone/>
            </a:pPr>
            <a:r>
              <a:rPr lang="en-US" sz="1300" dirty="0">
                <a:solidFill>
                  <a:srgbClr val="D7F5C9"/>
                </a:solidFill>
                <a:latin typeface="Consolas" pitchFamily="34" charset="0"/>
                <a:ea typeface="Consolas" pitchFamily="34" charset="-122"/>
                <a:cs typeface="Consolas" pitchFamily="34" charset="-120"/>
              </a:rPr>
              <a:t>print(f"Hola, {nombre}! Bienvenida a Programación II")</a:t>
            </a:r>
            <a:endParaRPr lang="en-US" sz="1300" dirty="0"/>
          </a:p>
          <a:p>
            <a:pPr indent="0" marL="0">
              <a:lnSpc>
                <a:spcPct val="140000"/>
              </a:lnSpc>
              <a:buNone/>
            </a:pPr>
            <a:r>
              <a:rPr lang="en-US" sz="1300" dirty="0">
                <a:solidFill>
                  <a:srgbClr val="D7F5C9"/>
                </a:solidFill>
                <a:latin typeface="Consolas" pitchFamily="34" charset="0"/>
                <a:ea typeface="Consolas" pitchFamily="34" charset="-122"/>
                <a:cs typeface="Consolas" pitchFamily="34" charset="-120"/>
              </a:rPr>
              <a:t>print("Este es mi primer programa en Python")</a:t>
            </a:r>
            <a:endParaRPr lang="en-US" sz="1300" dirty="0"/>
          </a:p>
        </p:txBody>
      </p:sp>
      <p:sp>
        <p:nvSpPr>
          <p:cNvPr id="21" name="Text 19"/>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PROGRAMACIÓN II · UAI · Unidad 1 · Clase 1</a:t>
            </a:r>
            <a:endParaRPr lang="en-US" sz="900" dirty="0"/>
          </a:p>
        </p:txBody>
      </p:sp>
      <p:sp>
        <p:nvSpPr>
          <p:cNvPr id="22" name="Text 20"/>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EJERCICIO 2 · INDIVIDUAL</a:t>
            </a:r>
            <a:endParaRPr lang="en-US" sz="1300" dirty="0"/>
          </a:p>
        </p:txBody>
      </p:sp>
      <p:sp>
        <p:nvSpPr>
          <p:cNvPr id="3" name="Text 1"/>
          <p:cNvSpPr/>
          <p:nvPr/>
        </p:nvSpPr>
        <p:spPr>
          <a:xfrm>
            <a:off x="640080" y="777240"/>
            <a:ext cx="10881360" cy="731520"/>
          </a:xfrm>
          <a:prstGeom prst="rect">
            <a:avLst/>
          </a:prstGeom>
          <a:noFill/>
          <a:ln/>
        </p:spPr>
        <p:txBody>
          <a:bodyPr wrap="square" rtlCol="0" anchor="ctr"/>
          <a:lstStyle/>
          <a:p>
            <a:pPr indent="0" marL="0">
              <a:buNone/>
            </a:pPr>
            <a:r>
              <a:rPr lang="en-US" sz="2800" b="1" dirty="0">
                <a:solidFill>
                  <a:srgbClr val="1C1F26"/>
                </a:solidFill>
                <a:latin typeface="Calibri" pitchFamily="34" charset="0"/>
                <a:ea typeface="Calibri" pitchFamily="34" charset="-122"/>
                <a:cs typeface="Calibri" pitchFamily="34" charset="-120"/>
              </a:rPr>
              <a:t>Programa o proyecto: identificalo</a:t>
            </a:r>
            <a:endParaRPr lang="en-US" sz="2800" dirty="0"/>
          </a:p>
        </p:txBody>
      </p:sp>
      <p:sp>
        <p:nvSpPr>
          <p:cNvPr id="4" name="Shape 2"/>
          <p:cNvSpPr/>
          <p:nvPr/>
        </p:nvSpPr>
        <p:spPr>
          <a:xfrm>
            <a:off x="640080" y="1691640"/>
            <a:ext cx="10835640" cy="822960"/>
          </a:xfrm>
          <a:prstGeom prst="roundRect">
            <a:avLst>
              <a:gd name="adj" fmla="val 8889"/>
            </a:avLst>
          </a:prstGeom>
          <a:solidFill>
            <a:srgbClr val="E9F5EF"/>
          </a:solidFill>
          <a:ln w="12700">
            <a:solidFill>
              <a:srgbClr val="CFE8DB"/>
            </a:solidFill>
            <a:prstDash val="solid"/>
          </a:ln>
        </p:spPr>
        <p:txBody>
          <a:bodyPr/>
          <a:p/>
        </p:txBody>
      </p:sp>
      <p:sp>
        <p:nvSpPr>
          <p:cNvPr id="5" name="Text 3"/>
          <p:cNvSpPr/>
          <p:nvPr/>
        </p:nvSpPr>
        <p:spPr>
          <a:xfrm>
            <a:off x="914400" y="1828800"/>
            <a:ext cx="2743200" cy="274320"/>
          </a:xfrm>
          <a:prstGeom prst="rect">
            <a:avLst/>
          </a:prstGeom>
          <a:noFill/>
          <a:ln/>
        </p:spPr>
        <p:txBody>
          <a:bodyPr wrap="square" rtlCol="0" anchor="ctr"/>
          <a:lstStyle/>
          <a:p>
            <a:pPr indent="0" marL="0">
              <a:buNone/>
            </a:pPr>
            <a:r>
              <a:rPr lang="en-US" sz="1050" b="1" spc="100" kern="0" dirty="0">
                <a:solidFill>
                  <a:srgbClr val="2E7D5B"/>
                </a:solidFill>
                <a:latin typeface="Calibri" pitchFamily="34" charset="0"/>
                <a:ea typeface="Calibri" pitchFamily="34" charset="-122"/>
                <a:cs typeface="Calibri" pitchFamily="34" charset="-120"/>
              </a:rPr>
              <a:t>CONSIGNA</a:t>
            </a:r>
            <a:endParaRPr lang="en-US" sz="1050" dirty="0"/>
          </a:p>
        </p:txBody>
      </p:sp>
      <p:sp>
        <p:nvSpPr>
          <p:cNvPr id="6" name="Text 4"/>
          <p:cNvSpPr/>
          <p:nvPr/>
        </p:nvSpPr>
        <p:spPr>
          <a:xfrm>
            <a:off x="914400" y="2084832"/>
            <a:ext cx="10241280" cy="411480"/>
          </a:xfrm>
          <a:prstGeom prst="rect">
            <a:avLst/>
          </a:prstGeom>
          <a:noFill/>
          <a:ln/>
        </p:spPr>
        <p:txBody>
          <a:bodyPr wrap="square" rtlCol="0" anchor="ctr"/>
          <a:lstStyle/>
          <a:p>
            <a:pPr indent="0" marL="0">
              <a:buNone/>
            </a:pPr>
            <a:r>
              <a:rPr lang="en-US" sz="1300" dirty="0">
                <a:solidFill>
                  <a:srgbClr val="1C1F26"/>
                </a:solidFill>
                <a:latin typeface="Calibri" pitchFamily="34" charset="0"/>
                <a:ea typeface="Calibri" pitchFamily="34" charset="-122"/>
                <a:cs typeface="Calibri" pitchFamily="34" charset="-120"/>
              </a:rPr>
              <a:t>Para cada caso, indicá si se trata de un programa o de un proyecto y justificá tu respuesta en una línea.</a:t>
            </a:r>
            <a:endParaRPr lang="en-US" sz="1300" dirty="0"/>
          </a:p>
        </p:txBody>
      </p:sp>
      <p:sp>
        <p:nvSpPr>
          <p:cNvPr id="7" name="Shape 5"/>
          <p:cNvSpPr/>
          <p:nvPr/>
        </p:nvSpPr>
        <p:spPr>
          <a:xfrm>
            <a:off x="640080" y="2916936"/>
            <a:ext cx="118872" cy="118872"/>
          </a:xfrm>
          <a:prstGeom prst="ellipse">
            <a:avLst/>
          </a:prstGeom>
          <a:solidFill>
            <a:srgbClr val="C9A24B"/>
          </a:solidFill>
          <a:ln/>
        </p:spPr>
        <p:txBody>
          <a:bodyPr/>
          <a:p/>
        </p:txBody>
      </p:sp>
      <p:sp>
        <p:nvSpPr>
          <p:cNvPr id="8" name="Text 6"/>
          <p:cNvSpPr/>
          <p:nvPr/>
        </p:nvSpPr>
        <p:spPr>
          <a:xfrm>
            <a:off x="914400" y="2834640"/>
            <a:ext cx="10149840" cy="685800"/>
          </a:xfrm>
          <a:prstGeom prst="rect">
            <a:avLst/>
          </a:prstGeom>
          <a:noFill/>
          <a:ln/>
        </p:spPr>
        <p:txBody>
          <a:bodyPr wrap="square" rtlCol="0" anchor="t"/>
          <a:lstStyle/>
          <a:p>
            <a:pPr indent="0" marL="0">
              <a:buNone/>
            </a:pPr>
            <a:r>
              <a:rPr lang="en-US" sz="1400" dirty="0">
                <a:solidFill>
                  <a:srgbClr val="1C1F26"/>
                </a:solidFill>
                <a:latin typeface="Calibri" pitchFamily="34" charset="0"/>
                <a:ea typeface="Calibri" pitchFamily="34" charset="-122"/>
                <a:cs typeface="Calibri" pitchFamily="34" charset="-120"/>
              </a:rPr>
              <a:t>a) Un script que convierte grados Celsius a Fahrenheit.</a:t>
            </a:r>
            <a:endParaRPr lang="en-US" sz="1400" dirty="0"/>
          </a:p>
        </p:txBody>
      </p:sp>
      <p:sp>
        <p:nvSpPr>
          <p:cNvPr id="9" name="Shape 7"/>
          <p:cNvSpPr/>
          <p:nvPr/>
        </p:nvSpPr>
        <p:spPr>
          <a:xfrm>
            <a:off x="640080" y="3602736"/>
            <a:ext cx="118872" cy="118872"/>
          </a:xfrm>
          <a:prstGeom prst="ellipse">
            <a:avLst/>
          </a:prstGeom>
          <a:solidFill>
            <a:srgbClr val="C9A24B"/>
          </a:solidFill>
          <a:ln/>
        </p:spPr>
        <p:txBody>
          <a:bodyPr/>
          <a:p/>
        </p:txBody>
      </p:sp>
      <p:sp>
        <p:nvSpPr>
          <p:cNvPr id="10" name="Text 8"/>
          <p:cNvSpPr/>
          <p:nvPr/>
        </p:nvSpPr>
        <p:spPr>
          <a:xfrm>
            <a:off x="914400" y="3520440"/>
            <a:ext cx="10149840" cy="685800"/>
          </a:xfrm>
          <a:prstGeom prst="rect">
            <a:avLst/>
          </a:prstGeom>
          <a:noFill/>
          <a:ln/>
        </p:spPr>
        <p:txBody>
          <a:bodyPr wrap="square" rtlCol="0" anchor="t"/>
          <a:lstStyle/>
          <a:p>
            <a:pPr indent="0" marL="0">
              <a:buNone/>
            </a:pPr>
            <a:r>
              <a:rPr lang="en-US" sz="1400" dirty="0">
                <a:solidFill>
                  <a:srgbClr val="1C1F26"/>
                </a:solidFill>
                <a:latin typeface="Calibri" pitchFamily="34" charset="0"/>
                <a:ea typeface="Calibri" pitchFamily="34" charset="-122"/>
                <a:cs typeface="Calibri" pitchFamily="34" charset="-120"/>
              </a:rPr>
              <a:t>b) Un sistema de gestión de turnos con base de datos, interfaz y reportes.</a:t>
            </a:r>
            <a:endParaRPr lang="en-US" sz="1400" dirty="0"/>
          </a:p>
        </p:txBody>
      </p:sp>
      <p:sp>
        <p:nvSpPr>
          <p:cNvPr id="11" name="Shape 9"/>
          <p:cNvSpPr/>
          <p:nvPr/>
        </p:nvSpPr>
        <p:spPr>
          <a:xfrm>
            <a:off x="640080" y="4288536"/>
            <a:ext cx="118872" cy="118872"/>
          </a:xfrm>
          <a:prstGeom prst="ellipse">
            <a:avLst/>
          </a:prstGeom>
          <a:solidFill>
            <a:srgbClr val="C9A24B"/>
          </a:solidFill>
          <a:ln/>
        </p:spPr>
        <p:txBody>
          <a:bodyPr/>
          <a:p/>
        </p:txBody>
      </p:sp>
      <p:sp>
        <p:nvSpPr>
          <p:cNvPr id="12" name="Text 10"/>
          <p:cNvSpPr/>
          <p:nvPr/>
        </p:nvSpPr>
        <p:spPr>
          <a:xfrm>
            <a:off x="914400" y="4206240"/>
            <a:ext cx="10149840" cy="685800"/>
          </a:xfrm>
          <a:prstGeom prst="rect">
            <a:avLst/>
          </a:prstGeom>
          <a:noFill/>
          <a:ln/>
        </p:spPr>
        <p:txBody>
          <a:bodyPr wrap="square" rtlCol="0" anchor="t"/>
          <a:lstStyle/>
          <a:p>
            <a:pPr indent="0" marL="0">
              <a:buNone/>
            </a:pPr>
            <a:r>
              <a:rPr lang="en-US" sz="1400" dirty="0">
                <a:solidFill>
                  <a:srgbClr val="1C1F26"/>
                </a:solidFill>
                <a:latin typeface="Calibri" pitchFamily="34" charset="0"/>
                <a:ea typeface="Calibri" pitchFamily="34" charset="-122"/>
                <a:cs typeface="Calibri" pitchFamily="34" charset="-120"/>
              </a:rPr>
              <a:t>c) Una aplicación de escritorio con módulos separados para login, ventas y stock.</a:t>
            </a:r>
            <a:endParaRPr lang="en-US" sz="1400" dirty="0"/>
          </a:p>
        </p:txBody>
      </p:sp>
      <p:sp>
        <p:nvSpPr>
          <p:cNvPr id="13" name="Shape 11"/>
          <p:cNvSpPr/>
          <p:nvPr/>
        </p:nvSpPr>
        <p:spPr>
          <a:xfrm>
            <a:off x="640080" y="4974336"/>
            <a:ext cx="118872" cy="118872"/>
          </a:xfrm>
          <a:prstGeom prst="ellipse">
            <a:avLst/>
          </a:prstGeom>
          <a:solidFill>
            <a:srgbClr val="C9A24B"/>
          </a:solidFill>
          <a:ln/>
        </p:spPr>
        <p:txBody>
          <a:bodyPr/>
          <a:p/>
        </p:txBody>
      </p:sp>
      <p:sp>
        <p:nvSpPr>
          <p:cNvPr id="14" name="Text 12"/>
          <p:cNvSpPr/>
          <p:nvPr/>
        </p:nvSpPr>
        <p:spPr>
          <a:xfrm>
            <a:off x="914400" y="4892040"/>
            <a:ext cx="10149840" cy="685800"/>
          </a:xfrm>
          <a:prstGeom prst="rect">
            <a:avLst/>
          </a:prstGeom>
          <a:noFill/>
          <a:ln/>
        </p:spPr>
        <p:txBody>
          <a:bodyPr wrap="square" rtlCol="0" anchor="t"/>
          <a:lstStyle/>
          <a:p>
            <a:pPr indent="0" marL="0">
              <a:buNone/>
            </a:pPr>
            <a:r>
              <a:rPr lang="en-US" sz="1400" dirty="0">
                <a:solidFill>
                  <a:srgbClr val="1C1F26"/>
                </a:solidFill>
                <a:latin typeface="Calibri" pitchFamily="34" charset="0"/>
                <a:ea typeface="Calibri" pitchFamily="34" charset="-122"/>
                <a:cs typeface="Calibri" pitchFamily="34" charset="-120"/>
              </a:rPr>
              <a:t>d) Un archivo que calcula el área de un círculo dado su radio.</a:t>
            </a:r>
            <a:endParaRPr lang="en-US" sz="1400" dirty="0"/>
          </a:p>
        </p:txBody>
      </p:sp>
      <p:sp>
        <p:nvSpPr>
          <p:cNvPr id="15" name="Text 13"/>
          <p:cNvSpPr/>
          <p:nvPr/>
        </p:nvSpPr>
        <p:spPr>
          <a:xfrm>
            <a:off x="640080" y="5806440"/>
            <a:ext cx="10424160" cy="365760"/>
          </a:xfrm>
          <a:prstGeom prst="rect">
            <a:avLst/>
          </a:prstGeom>
          <a:noFill/>
          <a:ln/>
        </p:spPr>
        <p:txBody>
          <a:bodyPr wrap="square" rtlCol="0" anchor="ctr"/>
          <a:lstStyle/>
          <a:p>
            <a:pPr indent="0" marL="0">
              <a:buNone/>
            </a:pPr>
            <a:r>
              <a:rPr lang="en-US" sz="1150" i="1" dirty="0">
                <a:solidFill>
                  <a:srgbClr val="5B6472"/>
                </a:solidFill>
                <a:latin typeface="Calibri" pitchFamily="34" charset="0"/>
                <a:ea typeface="Calibri" pitchFamily="34" charset="-122"/>
                <a:cs typeface="Calibri" pitchFamily="34" charset="-120"/>
              </a:rPr>
              <a:t>Entregá tu respuesta al final de la clase por el aula virtual.</a:t>
            </a:r>
            <a:endParaRPr lang="en-US" sz="1150" dirty="0"/>
          </a:p>
        </p:txBody>
      </p:sp>
      <p:sp>
        <p:nvSpPr>
          <p:cNvPr id="16" name="Text 14"/>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PROGRAMACIÓN II · UAI · Unidad 1 · Clase 1</a:t>
            </a:r>
            <a:endParaRPr lang="en-US" sz="900" dirty="0"/>
          </a:p>
        </p:txBody>
      </p:sp>
      <p:sp>
        <p:nvSpPr>
          <p:cNvPr id="17" name="Text 15"/>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EJERCICIO 3 · INDIVIDUAL</a:t>
            </a:r>
            <a:endParaRPr lang="en-US" sz="1300" dirty="0"/>
          </a:p>
        </p:txBody>
      </p:sp>
      <p:sp>
        <p:nvSpPr>
          <p:cNvPr id="3" name="Text 1"/>
          <p:cNvSpPr/>
          <p:nvPr/>
        </p:nvSpPr>
        <p:spPr>
          <a:xfrm>
            <a:off x="640080" y="777240"/>
            <a:ext cx="10881360" cy="731520"/>
          </a:xfrm>
          <a:prstGeom prst="rect">
            <a:avLst/>
          </a:prstGeom>
          <a:noFill/>
          <a:ln/>
        </p:spPr>
        <p:txBody>
          <a:bodyPr wrap="square" rtlCol="0" anchor="ctr"/>
          <a:lstStyle/>
          <a:p>
            <a:pPr indent="0" marL="0">
              <a:buNone/>
            </a:pPr>
            <a:r>
              <a:rPr lang="en-US" sz="2800" b="1" dirty="0">
                <a:solidFill>
                  <a:srgbClr val="1C1F26"/>
                </a:solidFill>
                <a:latin typeface="Calibri" pitchFamily="34" charset="0"/>
                <a:ea typeface="Calibri" pitchFamily="34" charset="-122"/>
                <a:cs typeface="Calibri" pitchFamily="34" charset="-120"/>
              </a:rPr>
              <a:t>Variables, tipos de datos y comentarios</a:t>
            </a:r>
            <a:endParaRPr lang="en-US" sz="2800" dirty="0"/>
          </a:p>
        </p:txBody>
      </p:sp>
      <p:sp>
        <p:nvSpPr>
          <p:cNvPr id="4" name="Shape 2"/>
          <p:cNvSpPr/>
          <p:nvPr/>
        </p:nvSpPr>
        <p:spPr>
          <a:xfrm>
            <a:off x="640080" y="1691640"/>
            <a:ext cx="10835640" cy="822960"/>
          </a:xfrm>
          <a:prstGeom prst="roundRect">
            <a:avLst>
              <a:gd name="adj" fmla="val 8889"/>
            </a:avLst>
          </a:prstGeom>
          <a:solidFill>
            <a:srgbClr val="E9F5EF"/>
          </a:solidFill>
          <a:ln w="12700">
            <a:solidFill>
              <a:srgbClr val="CFE8DB"/>
            </a:solidFill>
            <a:prstDash val="solid"/>
          </a:ln>
        </p:spPr>
        <p:txBody>
          <a:bodyPr/>
          <a:p/>
        </p:txBody>
      </p:sp>
      <p:sp>
        <p:nvSpPr>
          <p:cNvPr id="5" name="Text 3"/>
          <p:cNvSpPr/>
          <p:nvPr/>
        </p:nvSpPr>
        <p:spPr>
          <a:xfrm>
            <a:off x="914400" y="1828800"/>
            <a:ext cx="2743200" cy="274320"/>
          </a:xfrm>
          <a:prstGeom prst="rect">
            <a:avLst/>
          </a:prstGeom>
          <a:noFill/>
          <a:ln/>
        </p:spPr>
        <p:txBody>
          <a:bodyPr wrap="square" rtlCol="0" anchor="ctr"/>
          <a:lstStyle/>
          <a:p>
            <a:pPr indent="0" marL="0">
              <a:buNone/>
            </a:pPr>
            <a:r>
              <a:rPr lang="en-US" sz="1050" b="1" spc="100" kern="0" dirty="0">
                <a:solidFill>
                  <a:srgbClr val="2E7D5B"/>
                </a:solidFill>
                <a:latin typeface="Calibri" pitchFamily="34" charset="0"/>
                <a:ea typeface="Calibri" pitchFamily="34" charset="-122"/>
                <a:cs typeface="Calibri" pitchFamily="34" charset="-120"/>
              </a:rPr>
              <a:t>CONSIGNA</a:t>
            </a:r>
            <a:endParaRPr lang="en-US" sz="1050" dirty="0"/>
          </a:p>
        </p:txBody>
      </p:sp>
      <p:sp>
        <p:nvSpPr>
          <p:cNvPr id="6" name="Text 4"/>
          <p:cNvSpPr/>
          <p:nvPr/>
        </p:nvSpPr>
        <p:spPr>
          <a:xfrm>
            <a:off x="914400" y="2084832"/>
            <a:ext cx="10241280" cy="411480"/>
          </a:xfrm>
          <a:prstGeom prst="rect">
            <a:avLst/>
          </a:prstGeom>
          <a:noFill/>
          <a:ln/>
        </p:spPr>
        <p:txBody>
          <a:bodyPr wrap="square" rtlCol="0" anchor="ctr"/>
          <a:lstStyle/>
          <a:p>
            <a:pPr indent="0" marL="0">
              <a:buNone/>
            </a:pPr>
            <a:r>
              <a:rPr lang="en-US" sz="1300" dirty="0">
                <a:solidFill>
                  <a:srgbClr val="1C1F26"/>
                </a:solidFill>
                <a:latin typeface="Calibri" pitchFamily="34" charset="0"/>
                <a:ea typeface="Calibri" pitchFamily="34" charset="-122"/>
                <a:cs typeface="Calibri" pitchFamily="34" charset="-120"/>
              </a:rPr>
              <a:t>Escribir un programa que declare variables de distintos tipos de datos, las documente con comentarios explicativos y muestre su valor por consola.</a:t>
            </a:r>
            <a:endParaRPr lang="en-US" sz="1300" dirty="0"/>
          </a:p>
        </p:txBody>
      </p:sp>
      <p:sp>
        <p:nvSpPr>
          <p:cNvPr id="7" name="Text 5"/>
          <p:cNvSpPr/>
          <p:nvPr/>
        </p:nvSpPr>
        <p:spPr>
          <a:xfrm>
            <a:off x="640080" y="2788920"/>
            <a:ext cx="3931920" cy="274320"/>
          </a:xfrm>
          <a:prstGeom prst="rect">
            <a:avLst/>
          </a:prstGeom>
          <a:noFill/>
          <a:ln/>
        </p:spPr>
        <p:txBody>
          <a:bodyPr wrap="square" rtlCol="0" anchor="ctr"/>
          <a:lstStyle/>
          <a:p>
            <a:pPr indent="0" marL="0">
              <a:buNone/>
            </a:pPr>
            <a:r>
              <a:rPr lang="en-US" sz="1100" b="1" spc="100" kern="0" dirty="0">
                <a:solidFill>
                  <a:srgbClr val="5B6472"/>
                </a:solidFill>
                <a:latin typeface="Calibri" pitchFamily="34" charset="0"/>
                <a:ea typeface="Calibri" pitchFamily="34" charset="-122"/>
                <a:cs typeface="Calibri" pitchFamily="34" charset="-120"/>
              </a:rPr>
              <a:t>PASOS</a:t>
            </a:r>
            <a:endParaRPr lang="en-US" sz="1100" dirty="0"/>
          </a:p>
        </p:txBody>
      </p:sp>
      <p:sp>
        <p:nvSpPr>
          <p:cNvPr id="8" name="Shape 6"/>
          <p:cNvSpPr/>
          <p:nvPr/>
        </p:nvSpPr>
        <p:spPr>
          <a:xfrm>
            <a:off x="640080" y="3236976"/>
            <a:ext cx="118872" cy="118872"/>
          </a:xfrm>
          <a:prstGeom prst="ellipse">
            <a:avLst/>
          </a:prstGeom>
          <a:solidFill>
            <a:srgbClr val="C9A24B"/>
          </a:solidFill>
          <a:ln/>
        </p:spPr>
        <p:txBody>
          <a:bodyPr/>
          <a:p/>
        </p:txBody>
      </p:sp>
      <p:sp>
        <p:nvSpPr>
          <p:cNvPr id="9" name="Text 7"/>
          <p:cNvSpPr/>
          <p:nvPr/>
        </p:nvSpPr>
        <p:spPr>
          <a:xfrm>
            <a:off x="914400" y="3154680"/>
            <a:ext cx="3749039" cy="512064"/>
          </a:xfrm>
          <a:prstGeom prst="rect">
            <a:avLst/>
          </a:prstGeom>
          <a:noFill/>
          <a:ln/>
        </p:spPr>
        <p:txBody>
          <a:bodyPr wrap="square" rtlCol="0" anchor="t"/>
          <a:lstStyle/>
          <a:p>
            <a:pPr indent="0" marL="0">
              <a:buNone/>
            </a:pPr>
            <a:r>
              <a:rPr lang="en-US" sz="1250" dirty="0">
                <a:solidFill>
                  <a:srgbClr val="1C1F26"/>
                </a:solidFill>
                <a:latin typeface="Calibri" pitchFamily="34" charset="0"/>
                <a:ea typeface="Calibri" pitchFamily="34" charset="-122"/>
                <a:cs typeface="Calibri" pitchFamily="34" charset="-120"/>
              </a:rPr>
              <a:t>Crear un archivo mis_datos.py</a:t>
            </a:r>
            <a:endParaRPr lang="en-US" sz="1250" dirty="0"/>
          </a:p>
        </p:txBody>
      </p:sp>
      <p:sp>
        <p:nvSpPr>
          <p:cNvPr id="10" name="Shape 8"/>
          <p:cNvSpPr/>
          <p:nvPr/>
        </p:nvSpPr>
        <p:spPr>
          <a:xfrm>
            <a:off x="640080" y="3749040"/>
            <a:ext cx="118872" cy="118872"/>
          </a:xfrm>
          <a:prstGeom prst="ellipse">
            <a:avLst/>
          </a:prstGeom>
          <a:solidFill>
            <a:srgbClr val="C9A24B"/>
          </a:solidFill>
          <a:ln/>
        </p:spPr>
        <p:txBody>
          <a:bodyPr/>
          <a:p/>
        </p:txBody>
      </p:sp>
      <p:sp>
        <p:nvSpPr>
          <p:cNvPr id="11" name="Text 9"/>
          <p:cNvSpPr/>
          <p:nvPr/>
        </p:nvSpPr>
        <p:spPr>
          <a:xfrm>
            <a:off x="914400" y="3666744"/>
            <a:ext cx="3749039" cy="512064"/>
          </a:xfrm>
          <a:prstGeom prst="rect">
            <a:avLst/>
          </a:prstGeom>
          <a:noFill/>
          <a:ln/>
        </p:spPr>
        <p:txBody>
          <a:bodyPr wrap="square" rtlCol="0" anchor="t"/>
          <a:lstStyle/>
          <a:p>
            <a:pPr indent="0" marL="0">
              <a:buNone/>
            </a:pPr>
            <a:r>
              <a:rPr lang="en-US" sz="1250" dirty="0">
                <a:solidFill>
                  <a:srgbClr val="1C1F26"/>
                </a:solidFill>
                <a:latin typeface="Calibri" pitchFamily="34" charset="0"/>
                <a:ea typeface="Calibri" pitchFamily="34" charset="-122"/>
                <a:cs typeface="Calibri" pitchFamily="34" charset="-120"/>
              </a:rPr>
              <a:t>Declarar variables de tipos distintos: str, int, float, bool, list, tuple y dict</a:t>
            </a:r>
            <a:endParaRPr lang="en-US" sz="1250" dirty="0"/>
          </a:p>
        </p:txBody>
      </p:sp>
      <p:sp>
        <p:nvSpPr>
          <p:cNvPr id="12" name="Shape 10"/>
          <p:cNvSpPr/>
          <p:nvPr/>
        </p:nvSpPr>
        <p:spPr>
          <a:xfrm>
            <a:off x="640080" y="4261104"/>
            <a:ext cx="118872" cy="118872"/>
          </a:xfrm>
          <a:prstGeom prst="ellipse">
            <a:avLst/>
          </a:prstGeom>
          <a:solidFill>
            <a:srgbClr val="C9A24B"/>
          </a:solidFill>
          <a:ln/>
        </p:spPr>
        <p:txBody>
          <a:bodyPr/>
          <a:p/>
        </p:txBody>
      </p:sp>
      <p:sp>
        <p:nvSpPr>
          <p:cNvPr id="13" name="Text 11"/>
          <p:cNvSpPr/>
          <p:nvPr/>
        </p:nvSpPr>
        <p:spPr>
          <a:xfrm>
            <a:off x="914400" y="4178808"/>
            <a:ext cx="3749039" cy="512064"/>
          </a:xfrm>
          <a:prstGeom prst="rect">
            <a:avLst/>
          </a:prstGeom>
          <a:noFill/>
          <a:ln/>
        </p:spPr>
        <p:txBody>
          <a:bodyPr wrap="square" rtlCol="0" anchor="t"/>
          <a:lstStyle/>
          <a:p>
            <a:pPr indent="0" marL="0">
              <a:buNone/>
            </a:pPr>
            <a:r>
              <a:rPr lang="en-US" sz="1250" dirty="0">
                <a:solidFill>
                  <a:srgbClr val="1C1F26"/>
                </a:solidFill>
                <a:latin typeface="Calibri" pitchFamily="34" charset="0"/>
                <a:ea typeface="Calibri" pitchFamily="34" charset="-122"/>
                <a:cs typeface="Calibri" pitchFamily="34" charset="-120"/>
              </a:rPr>
              <a:t>Agregar un comentario arriba de cada variable explicando qué tipo es</a:t>
            </a:r>
            <a:endParaRPr lang="en-US" sz="1250" dirty="0"/>
          </a:p>
        </p:txBody>
      </p:sp>
      <p:sp>
        <p:nvSpPr>
          <p:cNvPr id="14" name="Shape 12"/>
          <p:cNvSpPr/>
          <p:nvPr/>
        </p:nvSpPr>
        <p:spPr>
          <a:xfrm>
            <a:off x="640080" y="4773168"/>
            <a:ext cx="118872" cy="118872"/>
          </a:xfrm>
          <a:prstGeom prst="ellipse">
            <a:avLst/>
          </a:prstGeom>
          <a:solidFill>
            <a:srgbClr val="C9A24B"/>
          </a:solidFill>
          <a:ln/>
        </p:spPr>
        <p:txBody>
          <a:bodyPr/>
          <a:p/>
        </p:txBody>
      </p:sp>
      <p:sp>
        <p:nvSpPr>
          <p:cNvPr id="15" name="Text 13"/>
          <p:cNvSpPr/>
          <p:nvPr/>
        </p:nvSpPr>
        <p:spPr>
          <a:xfrm>
            <a:off x="914400" y="4690872"/>
            <a:ext cx="3749039" cy="512064"/>
          </a:xfrm>
          <a:prstGeom prst="rect">
            <a:avLst/>
          </a:prstGeom>
          <a:noFill/>
          <a:ln/>
        </p:spPr>
        <p:txBody>
          <a:bodyPr wrap="square" rtlCol="0" anchor="t"/>
          <a:lstStyle/>
          <a:p>
            <a:pPr indent="0" marL="0">
              <a:buNone/>
            </a:pPr>
            <a:r>
              <a:rPr lang="en-US" sz="1250" dirty="0">
                <a:solidFill>
                  <a:srgbClr val="1C1F26"/>
                </a:solidFill>
                <a:latin typeface="Calibri" pitchFamily="34" charset="0"/>
                <a:ea typeface="Calibri" pitchFamily="34" charset="-122"/>
                <a:cs typeface="Calibri" pitchFamily="34" charset="-120"/>
              </a:rPr>
              <a:t>Mostrar el valor de cada variable por consola usando print()</a:t>
            </a:r>
            <a:endParaRPr lang="en-US" sz="1250" dirty="0"/>
          </a:p>
        </p:txBody>
      </p:sp>
      <p:sp>
        <p:nvSpPr>
          <p:cNvPr id="16" name="Shape 14"/>
          <p:cNvSpPr/>
          <p:nvPr/>
        </p:nvSpPr>
        <p:spPr>
          <a:xfrm>
            <a:off x="640080" y="5285232"/>
            <a:ext cx="118872" cy="118872"/>
          </a:xfrm>
          <a:prstGeom prst="ellipse">
            <a:avLst/>
          </a:prstGeom>
          <a:solidFill>
            <a:srgbClr val="C9A24B"/>
          </a:solidFill>
          <a:ln/>
        </p:spPr>
        <p:txBody>
          <a:bodyPr/>
          <a:p/>
        </p:txBody>
      </p:sp>
      <p:sp>
        <p:nvSpPr>
          <p:cNvPr id="17" name="Text 15"/>
          <p:cNvSpPr/>
          <p:nvPr/>
        </p:nvSpPr>
        <p:spPr>
          <a:xfrm>
            <a:off x="914400" y="5202936"/>
            <a:ext cx="3749039" cy="512064"/>
          </a:xfrm>
          <a:prstGeom prst="rect">
            <a:avLst/>
          </a:prstGeom>
          <a:noFill/>
          <a:ln/>
        </p:spPr>
        <p:txBody>
          <a:bodyPr wrap="square" rtlCol="0" anchor="t"/>
          <a:lstStyle/>
          <a:p>
            <a:pPr indent="0" marL="0">
              <a:buNone/>
            </a:pPr>
            <a:r>
              <a:rPr lang="en-US" sz="1250" dirty="0">
                <a:solidFill>
                  <a:srgbClr val="1C1F26"/>
                </a:solidFill>
                <a:latin typeface="Calibri" pitchFamily="34" charset="0"/>
                <a:ea typeface="Calibri" pitchFamily="34" charset="-122"/>
                <a:cs typeface="Calibri" pitchFamily="34" charset="-120"/>
              </a:rPr>
              <a:t>Ejecutar el archivo y verificar que la salida sea correcta</a:t>
            </a:r>
            <a:endParaRPr lang="en-US" sz="1250" dirty="0"/>
          </a:p>
        </p:txBody>
      </p:sp>
      <p:sp>
        <p:nvSpPr>
          <p:cNvPr id="18" name="Shape 16"/>
          <p:cNvSpPr/>
          <p:nvPr/>
        </p:nvSpPr>
        <p:spPr>
          <a:xfrm>
            <a:off x="4846320" y="2606040"/>
            <a:ext cx="6675120" cy="3520440"/>
          </a:xfrm>
          <a:prstGeom prst="roundRect">
            <a:avLst>
              <a:gd name="adj" fmla="val 2500"/>
            </a:avLst>
          </a:prstGeom>
          <a:solidFill>
            <a:srgbClr val="0E1830"/>
          </a:solidFill>
          <a:ln/>
        </p:spPr>
        <p:txBody>
          <a:bodyPr/>
          <a:p/>
        </p:txBody>
      </p:sp>
      <p:sp>
        <p:nvSpPr>
          <p:cNvPr id="19" name="Text 17"/>
          <p:cNvSpPr/>
          <p:nvPr/>
        </p:nvSpPr>
        <p:spPr>
          <a:xfrm>
            <a:off x="5074920" y="2743200"/>
            <a:ext cx="6217920" cy="274320"/>
          </a:xfrm>
          <a:prstGeom prst="rect">
            <a:avLst/>
          </a:prstGeom>
          <a:noFill/>
          <a:ln/>
        </p:spPr>
        <p:txBody>
          <a:bodyPr wrap="square" rtlCol="0" anchor="ctr"/>
          <a:lstStyle/>
          <a:p>
            <a:pPr indent="0" marL="0">
              <a:buNone/>
            </a:pPr>
            <a:r>
              <a:rPr lang="en-US" sz="1050" dirty="0">
                <a:solidFill>
                  <a:srgbClr val="8F97A8"/>
                </a:solidFill>
                <a:latin typeface="Consolas" pitchFamily="34" charset="0"/>
                <a:ea typeface="Consolas" pitchFamily="34" charset="-122"/>
                <a:cs typeface="Consolas" pitchFamily="34" charset="-120"/>
              </a:rPr>
              <a:t>mis_datos.py</a:t>
            </a:r>
            <a:endParaRPr lang="en-US" sz="1050" dirty="0"/>
          </a:p>
        </p:txBody>
      </p:sp>
      <p:sp>
        <p:nvSpPr>
          <p:cNvPr id="20" name="Text 18"/>
          <p:cNvSpPr/>
          <p:nvPr/>
        </p:nvSpPr>
        <p:spPr>
          <a:xfrm>
            <a:off x="5074920" y="3108960"/>
            <a:ext cx="6217920" cy="2834640"/>
          </a:xfrm>
          <a:prstGeom prst="rect">
            <a:avLst/>
          </a:prstGeom>
          <a:noFill/>
          <a:ln/>
        </p:spPr>
        <p:txBody>
          <a:bodyPr wrap="square" rtlCol="0" anchor="t"/>
          <a:lstStyle/>
          <a:p>
            <a:pPr indent="0" marL="0">
              <a:lnSpc>
                <a:spcPct val="118000"/>
              </a:lnSpc>
              <a:buNone/>
            </a:pPr>
            <a:r>
              <a:rPr lang="en-US" sz="1150" dirty="0">
                <a:solidFill>
                  <a:srgbClr val="8FA0BF"/>
                </a:solidFill>
                <a:latin typeface="Consolas" pitchFamily="34" charset="0"/>
                <a:ea typeface="Consolas" pitchFamily="34" charset="-122"/>
                <a:cs typeface="Consolas" pitchFamily="34" charset="-120"/>
              </a:rPr>
              <a:t># Distintos tipos de datos en Python</a:t>
            </a:r>
            <a:endParaRPr lang="en-US" sz="1150" dirty="0"/>
          </a:p>
          <a:p>
            <a:pPr indent="0" marL="0">
              <a:lnSpc>
                <a:spcPct val="118000"/>
              </a:lnSpc>
              <a:buNone/>
            </a:pPr>
            <a:r>
              <a:rPr lang="en-US" sz="1150" dirty="0">
                <a:solidFill>
                  <a:srgbClr val="D7F5C9"/>
                </a:solidFill>
                <a:latin typeface="Consolas" pitchFamily="34" charset="0"/>
                <a:ea typeface="Consolas" pitchFamily="34" charset="-122"/>
                <a:cs typeface="Consolas" pitchFamily="34" charset="-120"/>
              </a:rPr>
              <a:t>nombre = "Sofía"</a:t>
            </a:r>
            <a:r>
              <a:rPr lang="en-US" sz="1150" dirty="0">
                <a:solidFill>
                  <a:srgbClr val="8FA0BF"/>
                </a:solidFill>
                <a:latin typeface="Consolas" pitchFamily="34" charset="0"/>
                <a:ea typeface="Consolas" pitchFamily="34" charset="-122"/>
                <a:cs typeface="Consolas" pitchFamily="34" charset="-120"/>
              </a:rPr>
              <a:t>       # str -&gt; texto</a:t>
            </a:r>
            <a:endParaRPr lang="en-US" sz="1150" dirty="0"/>
          </a:p>
          <a:p>
            <a:pPr indent="0" marL="0">
              <a:lnSpc>
                <a:spcPct val="118000"/>
              </a:lnSpc>
              <a:buNone/>
            </a:pPr>
            <a:r>
              <a:rPr lang="en-US" sz="1150" dirty="0">
                <a:solidFill>
                  <a:srgbClr val="D7F5C9"/>
                </a:solidFill>
                <a:latin typeface="Consolas" pitchFamily="34" charset="0"/>
                <a:ea typeface="Consolas" pitchFamily="34" charset="-122"/>
                <a:cs typeface="Consolas" pitchFamily="34" charset="-120"/>
              </a:rPr>
              <a:t>edad = 19</a:t>
            </a:r>
            <a:r>
              <a:rPr lang="en-US" sz="1150" dirty="0">
                <a:solidFill>
                  <a:srgbClr val="8FA0BF"/>
                </a:solidFill>
                <a:latin typeface="Consolas" pitchFamily="34" charset="0"/>
                <a:ea typeface="Consolas" pitchFamily="34" charset="-122"/>
                <a:cs typeface="Consolas" pitchFamily="34" charset="-120"/>
              </a:rPr>
              <a:t>               # int -&gt; entero</a:t>
            </a:r>
            <a:endParaRPr lang="en-US" sz="1150" dirty="0"/>
          </a:p>
          <a:p>
            <a:pPr indent="0" marL="0">
              <a:lnSpc>
                <a:spcPct val="118000"/>
              </a:lnSpc>
              <a:buNone/>
            </a:pPr>
            <a:r>
              <a:rPr lang="en-US" sz="1150" dirty="0">
                <a:solidFill>
                  <a:srgbClr val="D7F5C9"/>
                </a:solidFill>
                <a:latin typeface="Consolas" pitchFamily="34" charset="0"/>
                <a:ea typeface="Consolas" pitchFamily="34" charset="-122"/>
                <a:cs typeface="Consolas" pitchFamily="34" charset="-120"/>
              </a:rPr>
              <a:t>promedio = 8.75</a:t>
            </a:r>
            <a:r>
              <a:rPr lang="en-US" sz="1150" dirty="0">
                <a:solidFill>
                  <a:srgbClr val="8FA0BF"/>
                </a:solidFill>
                <a:latin typeface="Consolas" pitchFamily="34" charset="0"/>
                <a:ea typeface="Consolas" pitchFamily="34" charset="-122"/>
                <a:cs typeface="Consolas" pitchFamily="34" charset="-120"/>
              </a:rPr>
              <a:t>         # float -&gt; decimal</a:t>
            </a:r>
            <a:endParaRPr lang="en-US" sz="1150" dirty="0"/>
          </a:p>
          <a:p>
            <a:pPr indent="0" marL="0">
              <a:lnSpc>
                <a:spcPct val="118000"/>
              </a:lnSpc>
              <a:buNone/>
            </a:pPr>
            <a:r>
              <a:rPr lang="en-US" sz="1150" dirty="0">
                <a:solidFill>
                  <a:srgbClr val="D7F5C9"/>
                </a:solidFill>
                <a:latin typeface="Consolas" pitchFamily="34" charset="0"/>
                <a:ea typeface="Consolas" pitchFamily="34" charset="-122"/>
                <a:cs typeface="Consolas" pitchFamily="34" charset="-120"/>
              </a:rPr>
              <a:t>esta_inscripto = True</a:t>
            </a:r>
            <a:r>
              <a:rPr lang="en-US" sz="1150" dirty="0">
                <a:solidFill>
                  <a:srgbClr val="8FA0BF"/>
                </a:solidFill>
                <a:latin typeface="Consolas" pitchFamily="34" charset="0"/>
                <a:ea typeface="Consolas" pitchFamily="34" charset="-122"/>
                <a:cs typeface="Consolas" pitchFamily="34" charset="-120"/>
              </a:rPr>
              <a:t>   # bool -&gt; verdadero/falso</a:t>
            </a:r>
            <a:endParaRPr lang="en-US" sz="1150" dirty="0"/>
          </a:p>
          <a:p>
            <a:pPr indent="0" marL="0">
              <a:lnSpc>
                <a:spcPct val="118000"/>
              </a:lnSpc>
              <a:buNone/>
            </a:pPr>
            <a:r>
              <a:rPr lang="en-US" sz="1150" dirty="0">
                <a:solidFill>
                  <a:srgbClr val="D7F5C9"/>
                </a:solidFill>
                <a:latin typeface="Consolas" pitchFamily="34" charset="0"/>
                <a:ea typeface="Consolas" pitchFamily="34" charset="-122"/>
                <a:cs typeface="Consolas" pitchFamily="34" charset="-120"/>
              </a:rPr>
              <a:t>materias = ["POO", "Estructuras"]</a:t>
            </a:r>
            <a:r>
              <a:rPr lang="en-US" sz="1150" dirty="0">
                <a:solidFill>
                  <a:srgbClr val="8FA0BF"/>
                </a:solidFill>
                <a:latin typeface="Consolas" pitchFamily="34" charset="0"/>
                <a:ea typeface="Consolas" pitchFamily="34" charset="-122"/>
                <a:cs typeface="Consolas" pitchFamily="34" charset="-120"/>
              </a:rPr>
              <a:t>  # list</a:t>
            </a:r>
            <a:endParaRPr lang="en-US" sz="1150" dirty="0"/>
          </a:p>
          <a:p>
            <a:pPr indent="0" marL="0">
              <a:lnSpc>
                <a:spcPct val="118000"/>
              </a:lnSpc>
              <a:buNone/>
            </a:pPr>
            <a:r>
              <a:rPr lang="en-US" sz="1150" dirty="0">
                <a:solidFill>
                  <a:srgbClr val="D7F5C9"/>
                </a:solidFill>
                <a:latin typeface="Consolas" pitchFamily="34" charset="0"/>
                <a:ea typeface="Consolas" pitchFamily="34" charset="-122"/>
                <a:cs typeface="Consolas" pitchFamily="34" charset="-120"/>
              </a:rPr>
              <a:t>coordenadas = (10, 20)</a:t>
            </a:r>
            <a:r>
              <a:rPr lang="en-US" sz="1150" dirty="0">
                <a:solidFill>
                  <a:srgbClr val="8FA0BF"/>
                </a:solidFill>
                <a:latin typeface="Consolas" pitchFamily="34" charset="0"/>
                <a:ea typeface="Consolas" pitchFamily="34" charset="-122"/>
                <a:cs typeface="Consolas" pitchFamily="34" charset="-120"/>
              </a:rPr>
              <a:t>           # tuple</a:t>
            </a:r>
            <a:endParaRPr lang="en-US" sz="1150" dirty="0"/>
          </a:p>
          <a:p>
            <a:pPr indent="0" marL="0">
              <a:lnSpc>
                <a:spcPct val="118000"/>
              </a:lnSpc>
              <a:buNone/>
            </a:pPr>
            <a:r>
              <a:rPr lang="en-US" sz="1150" dirty="0">
                <a:solidFill>
                  <a:srgbClr val="D7F5C9"/>
                </a:solidFill>
                <a:latin typeface="Consolas" pitchFamily="34" charset="0"/>
                <a:ea typeface="Consolas" pitchFamily="34" charset="-122"/>
                <a:cs typeface="Consolas" pitchFamily="34" charset="-120"/>
              </a:rPr>
              <a:t>alumno = {"nombre": "Sofía"}</a:t>
            </a:r>
            <a:r>
              <a:rPr lang="en-US" sz="1150" dirty="0">
                <a:solidFill>
                  <a:srgbClr val="8FA0BF"/>
                </a:solidFill>
                <a:latin typeface="Consolas" pitchFamily="34" charset="0"/>
                <a:ea typeface="Consolas" pitchFamily="34" charset="-122"/>
                <a:cs typeface="Consolas" pitchFamily="34" charset="-120"/>
              </a:rPr>
              <a:t>      # dict</a:t>
            </a:r>
            <a:endParaRPr lang="en-US" sz="1150" dirty="0"/>
          </a:p>
          <a:p>
            <a:pPr indent="0" marL="0">
              <a:lnSpc>
                <a:spcPct val="118000"/>
              </a:lnSpc>
              <a:buNone/>
            </a:pPr>
            <a:r>
              <a:rPr lang="en-US" sz="1150" dirty="0">
                <a:solidFill>
                  <a:srgbClr val="8FA0BF"/>
                </a:solidFill>
                <a:latin typeface="Consolas" pitchFamily="34" charset="0"/>
                <a:ea typeface="Consolas" pitchFamily="34" charset="-122"/>
                <a:cs typeface="Consolas" pitchFamily="34" charset="-120"/>
              </a:rPr>
              <a:t># Mostramos cada variable por consola</a:t>
            </a:r>
            <a:endParaRPr lang="en-US" sz="1150" dirty="0"/>
          </a:p>
          <a:p>
            <a:pPr indent="0" marL="0">
              <a:lnSpc>
                <a:spcPct val="118000"/>
              </a:lnSpc>
              <a:buNone/>
            </a:pPr>
            <a:r>
              <a:rPr lang="en-US" sz="1150" dirty="0">
                <a:solidFill>
                  <a:srgbClr val="D7F5C9"/>
                </a:solidFill>
                <a:latin typeface="Consolas" pitchFamily="34" charset="0"/>
                <a:ea typeface="Consolas" pitchFamily="34" charset="-122"/>
                <a:cs typeface="Consolas" pitchFamily="34" charset="-120"/>
              </a:rPr>
              <a:t>print("Nombre:", nombre, "| Edad:", edad)</a:t>
            </a:r>
            <a:endParaRPr lang="en-US" sz="1150" dirty="0"/>
          </a:p>
          <a:p>
            <a:pPr indent="0" marL="0">
              <a:lnSpc>
                <a:spcPct val="118000"/>
              </a:lnSpc>
              <a:buNone/>
            </a:pPr>
            <a:r>
              <a:rPr lang="en-US" sz="1150" dirty="0">
                <a:solidFill>
                  <a:srgbClr val="D7F5C9"/>
                </a:solidFill>
                <a:latin typeface="Consolas" pitchFamily="34" charset="0"/>
                <a:ea typeface="Consolas" pitchFamily="34" charset="-122"/>
                <a:cs typeface="Consolas" pitchFamily="34" charset="-120"/>
              </a:rPr>
              <a:t>print("Promedio:", promedio, "| Inscripto:", esta_inscripto)</a:t>
            </a:r>
            <a:endParaRPr lang="en-US" sz="1150" dirty="0"/>
          </a:p>
          <a:p>
            <a:pPr indent="0" marL="0">
              <a:lnSpc>
                <a:spcPct val="118000"/>
              </a:lnSpc>
              <a:buNone/>
            </a:pPr>
            <a:r>
              <a:rPr lang="en-US" sz="1150" dirty="0">
                <a:solidFill>
                  <a:srgbClr val="D7F5C9"/>
                </a:solidFill>
                <a:latin typeface="Consolas" pitchFamily="34" charset="0"/>
                <a:ea typeface="Consolas" pitchFamily="34" charset="-122"/>
                <a:cs typeface="Consolas" pitchFamily="34" charset="-120"/>
              </a:rPr>
              <a:t>print("Materias:", materias)</a:t>
            </a:r>
            <a:endParaRPr lang="en-US" sz="1150" dirty="0"/>
          </a:p>
          <a:p>
            <a:pPr indent="0" marL="0">
              <a:lnSpc>
                <a:spcPct val="118000"/>
              </a:lnSpc>
              <a:buNone/>
            </a:pPr>
            <a:r>
              <a:rPr lang="en-US" sz="1150" dirty="0">
                <a:solidFill>
                  <a:srgbClr val="D7F5C9"/>
                </a:solidFill>
                <a:latin typeface="Consolas" pitchFamily="34" charset="0"/>
                <a:ea typeface="Consolas" pitchFamily="34" charset="-122"/>
                <a:cs typeface="Consolas" pitchFamily="34" charset="-120"/>
              </a:rPr>
              <a:t>print("Coordenadas:", coordenadas)</a:t>
            </a:r>
            <a:endParaRPr lang="en-US" sz="1150" dirty="0"/>
          </a:p>
          <a:p>
            <a:pPr indent="0" marL="0">
              <a:lnSpc>
                <a:spcPct val="118000"/>
              </a:lnSpc>
              <a:buNone/>
            </a:pPr>
            <a:r>
              <a:rPr lang="en-US" sz="1150" dirty="0">
                <a:solidFill>
                  <a:srgbClr val="D7F5C9"/>
                </a:solidFill>
                <a:latin typeface="Consolas" pitchFamily="34" charset="0"/>
                <a:ea typeface="Consolas" pitchFamily="34" charset="-122"/>
                <a:cs typeface="Consolas" pitchFamily="34" charset="-120"/>
              </a:rPr>
              <a:t>print("Alumno:", alumno)</a:t>
            </a:r>
            <a:endParaRPr lang="en-US" sz="1150" dirty="0"/>
          </a:p>
        </p:txBody>
      </p:sp>
      <p:sp>
        <p:nvSpPr>
          <p:cNvPr id="21" name="Text 19"/>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PROGRAMACIÓN II · UAI · Unidad 1 · Clase 1</a:t>
            </a:r>
            <a:endParaRPr lang="en-US" sz="900" dirty="0"/>
          </a:p>
        </p:txBody>
      </p:sp>
      <p:sp>
        <p:nvSpPr>
          <p:cNvPr id="22" name="Text 20"/>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SÍNTESIS</a:t>
            </a:r>
            <a:endParaRPr lang="en-US" sz="1300" dirty="0"/>
          </a:p>
        </p:txBody>
      </p:sp>
      <p:sp>
        <p:nvSpPr>
          <p:cNvPr id="3" name="Text 1"/>
          <p:cNvSpPr/>
          <p:nvPr/>
        </p:nvSpPr>
        <p:spPr>
          <a:xfrm>
            <a:off x="640080" y="777240"/>
            <a:ext cx="10881360" cy="731520"/>
          </a:xfrm>
          <a:prstGeom prst="rect">
            <a:avLst/>
          </a:prstGeom>
          <a:noFill/>
          <a:ln/>
        </p:spPr>
        <p:txBody>
          <a:bodyPr wrap="square" rtlCol="0" anchor="ctr"/>
          <a:lstStyle/>
          <a:p>
            <a:pPr indent="0" marL="0">
              <a:buNone/>
            </a:pPr>
            <a:r>
              <a:rPr lang="en-US" sz="2800" b="1" dirty="0">
                <a:solidFill>
                  <a:srgbClr val="1C1F26"/>
                </a:solidFill>
                <a:latin typeface="Calibri" pitchFamily="34" charset="0"/>
                <a:ea typeface="Calibri" pitchFamily="34" charset="-122"/>
                <a:cs typeface="Calibri" pitchFamily="34" charset="-120"/>
              </a:rPr>
              <a:t>Ideas clave de la clase de hoy</a:t>
            </a:r>
            <a:endParaRPr lang="en-US" sz="2800" dirty="0"/>
          </a:p>
        </p:txBody>
      </p:sp>
      <p:sp>
        <p:nvSpPr>
          <p:cNvPr id="4" name="Shape 2"/>
          <p:cNvSpPr/>
          <p:nvPr/>
        </p:nvSpPr>
        <p:spPr>
          <a:xfrm>
            <a:off x="640080" y="1737360"/>
            <a:ext cx="5257800" cy="1965960"/>
          </a:xfrm>
          <a:prstGeom prst="roundRect">
            <a:avLst>
              <a:gd name="adj" fmla="val 3721"/>
            </a:avLst>
          </a:prstGeom>
          <a:solidFill>
            <a:srgbClr val="F4F5F7"/>
          </a:solidFill>
          <a:ln w="12700">
            <a:solidFill>
              <a:srgbClr val="E1E4E9"/>
            </a:solidFill>
            <a:prstDash val="solid"/>
          </a:ln>
        </p:spPr>
        <p:txBody>
          <a:bodyPr/>
          <a:p/>
        </p:txBody>
      </p:sp>
      <p:sp>
        <p:nvSpPr>
          <p:cNvPr id="5" name="Shape 3"/>
          <p:cNvSpPr/>
          <p:nvPr/>
        </p:nvSpPr>
        <p:spPr>
          <a:xfrm>
            <a:off x="841248" y="1965960"/>
            <a:ext cx="54864" cy="1508760"/>
          </a:xfrm>
          <a:prstGeom prst="rect">
            <a:avLst/>
          </a:prstGeom>
          <a:solidFill>
            <a:srgbClr val="C9A24B"/>
          </a:solidFill>
          <a:ln/>
        </p:spPr>
        <p:txBody>
          <a:bodyPr/>
          <a:p/>
        </p:txBody>
      </p:sp>
      <p:sp>
        <p:nvSpPr>
          <p:cNvPr id="6" name="Text 4"/>
          <p:cNvSpPr/>
          <p:nvPr/>
        </p:nvSpPr>
        <p:spPr>
          <a:xfrm>
            <a:off x="1024128" y="1938528"/>
            <a:ext cx="4663440" cy="411480"/>
          </a:xfrm>
          <a:prstGeom prst="rect">
            <a:avLst/>
          </a:prstGeom>
          <a:noFill/>
          <a:ln/>
        </p:spPr>
        <p:txBody>
          <a:bodyPr wrap="square" rtlCol="0" anchor="ctr"/>
          <a:lstStyle/>
          <a:p>
            <a:pPr indent="0" marL="0">
              <a:buNone/>
            </a:pPr>
            <a:r>
              <a:rPr lang="en-US" sz="1600" b="1" dirty="0">
                <a:solidFill>
                  <a:srgbClr val="16233F"/>
                </a:solidFill>
                <a:latin typeface="Calibri" pitchFamily="34" charset="0"/>
                <a:ea typeface="Calibri" pitchFamily="34" charset="-122"/>
                <a:cs typeface="Calibri" pitchFamily="34" charset="-120"/>
              </a:rPr>
              <a:t>Software</a:t>
            </a:r>
            <a:endParaRPr lang="en-US" sz="1600" dirty="0"/>
          </a:p>
        </p:txBody>
      </p:sp>
      <p:sp>
        <p:nvSpPr>
          <p:cNvPr id="7" name="Text 5"/>
          <p:cNvSpPr/>
          <p:nvPr/>
        </p:nvSpPr>
        <p:spPr>
          <a:xfrm>
            <a:off x="1024128" y="2395728"/>
            <a:ext cx="4663440" cy="1188720"/>
          </a:xfrm>
          <a:prstGeom prst="rect">
            <a:avLst/>
          </a:prstGeom>
          <a:noFill/>
          <a:ln/>
        </p:spPr>
        <p:txBody>
          <a:bodyPr wrap="square" rtlCol="0" anchor="t"/>
          <a:lstStyle/>
          <a:p>
            <a:pPr indent="0" marL="0">
              <a:lnSpc>
                <a:spcPct val="120000"/>
              </a:lnSpc>
              <a:buNone/>
            </a:pPr>
            <a:r>
              <a:rPr lang="en-US" sz="1250" dirty="0">
                <a:solidFill>
                  <a:srgbClr val="5B6472"/>
                </a:solidFill>
                <a:latin typeface="Calibri" pitchFamily="34" charset="0"/>
                <a:ea typeface="Calibri" pitchFamily="34" charset="-122"/>
                <a:cs typeface="Calibri" pitchFamily="34" charset="-120"/>
              </a:rPr>
              <a:t>Instrucciones y datos que le dicen a la computadora qué hacer; no es un componente físico.</a:t>
            </a:r>
            <a:endParaRPr lang="en-US" sz="1250" dirty="0"/>
          </a:p>
        </p:txBody>
      </p:sp>
      <p:sp>
        <p:nvSpPr>
          <p:cNvPr id="8" name="Shape 6"/>
          <p:cNvSpPr/>
          <p:nvPr/>
        </p:nvSpPr>
        <p:spPr>
          <a:xfrm>
            <a:off x="6217920" y="1737360"/>
            <a:ext cx="5257800" cy="1965960"/>
          </a:xfrm>
          <a:prstGeom prst="roundRect">
            <a:avLst>
              <a:gd name="adj" fmla="val 3721"/>
            </a:avLst>
          </a:prstGeom>
          <a:solidFill>
            <a:srgbClr val="F4F5F7"/>
          </a:solidFill>
          <a:ln w="12700">
            <a:solidFill>
              <a:srgbClr val="E1E4E9"/>
            </a:solidFill>
            <a:prstDash val="solid"/>
          </a:ln>
        </p:spPr>
        <p:txBody>
          <a:bodyPr/>
          <a:p/>
        </p:txBody>
      </p:sp>
      <p:sp>
        <p:nvSpPr>
          <p:cNvPr id="9" name="Shape 7"/>
          <p:cNvSpPr/>
          <p:nvPr/>
        </p:nvSpPr>
        <p:spPr>
          <a:xfrm>
            <a:off x="6419088" y="1965960"/>
            <a:ext cx="54864" cy="1508760"/>
          </a:xfrm>
          <a:prstGeom prst="rect">
            <a:avLst/>
          </a:prstGeom>
          <a:solidFill>
            <a:srgbClr val="C9A24B"/>
          </a:solidFill>
          <a:ln/>
        </p:spPr>
        <p:txBody>
          <a:bodyPr/>
          <a:p/>
        </p:txBody>
      </p:sp>
      <p:sp>
        <p:nvSpPr>
          <p:cNvPr id="10" name="Text 8"/>
          <p:cNvSpPr/>
          <p:nvPr/>
        </p:nvSpPr>
        <p:spPr>
          <a:xfrm>
            <a:off x="6601968" y="1938528"/>
            <a:ext cx="4663440" cy="411480"/>
          </a:xfrm>
          <a:prstGeom prst="rect">
            <a:avLst/>
          </a:prstGeom>
          <a:noFill/>
          <a:ln/>
        </p:spPr>
        <p:txBody>
          <a:bodyPr wrap="square" rtlCol="0" anchor="ctr"/>
          <a:lstStyle/>
          <a:p>
            <a:pPr indent="0" marL="0">
              <a:buNone/>
            </a:pPr>
            <a:r>
              <a:rPr lang="en-US" sz="1600" b="1" dirty="0">
                <a:solidFill>
                  <a:srgbClr val="16233F"/>
                </a:solidFill>
                <a:latin typeface="Calibri" pitchFamily="34" charset="0"/>
                <a:ea typeface="Calibri" pitchFamily="34" charset="-122"/>
                <a:cs typeface="Calibri" pitchFamily="34" charset="-120"/>
              </a:rPr>
              <a:t>IDE</a:t>
            </a:r>
            <a:endParaRPr lang="en-US" sz="1600" dirty="0"/>
          </a:p>
        </p:txBody>
      </p:sp>
      <p:sp>
        <p:nvSpPr>
          <p:cNvPr id="11" name="Text 9"/>
          <p:cNvSpPr/>
          <p:nvPr/>
        </p:nvSpPr>
        <p:spPr>
          <a:xfrm>
            <a:off x="6601968" y="2395728"/>
            <a:ext cx="4663440" cy="1188720"/>
          </a:xfrm>
          <a:prstGeom prst="rect">
            <a:avLst/>
          </a:prstGeom>
          <a:noFill/>
          <a:ln/>
        </p:spPr>
        <p:txBody>
          <a:bodyPr wrap="square" rtlCol="0" anchor="t"/>
          <a:lstStyle/>
          <a:p>
            <a:pPr indent="0" marL="0">
              <a:lnSpc>
                <a:spcPct val="120000"/>
              </a:lnSpc>
              <a:buNone/>
            </a:pPr>
            <a:r>
              <a:rPr lang="en-US" sz="1250" dirty="0">
                <a:solidFill>
                  <a:srgbClr val="5B6472"/>
                </a:solidFill>
                <a:latin typeface="Calibri" pitchFamily="34" charset="0"/>
                <a:ea typeface="Calibri" pitchFamily="34" charset="-122"/>
                <a:cs typeface="Calibri" pitchFamily="34" charset="-120"/>
              </a:rPr>
              <a:t>Herramienta que integra edición, ejecución y depuración de código en un solo lugar.</a:t>
            </a:r>
            <a:endParaRPr lang="en-US" sz="1250" dirty="0"/>
          </a:p>
        </p:txBody>
      </p:sp>
      <p:sp>
        <p:nvSpPr>
          <p:cNvPr id="12" name="Shape 10"/>
          <p:cNvSpPr/>
          <p:nvPr/>
        </p:nvSpPr>
        <p:spPr>
          <a:xfrm>
            <a:off x="640080" y="3977640"/>
            <a:ext cx="5257800" cy="1965960"/>
          </a:xfrm>
          <a:prstGeom prst="roundRect">
            <a:avLst>
              <a:gd name="adj" fmla="val 3721"/>
            </a:avLst>
          </a:prstGeom>
          <a:solidFill>
            <a:srgbClr val="F4F5F7"/>
          </a:solidFill>
          <a:ln w="12700">
            <a:solidFill>
              <a:srgbClr val="E1E4E9"/>
            </a:solidFill>
            <a:prstDash val="solid"/>
          </a:ln>
        </p:spPr>
        <p:txBody>
          <a:bodyPr/>
          <a:p/>
        </p:txBody>
      </p:sp>
      <p:sp>
        <p:nvSpPr>
          <p:cNvPr id="13" name="Shape 11"/>
          <p:cNvSpPr/>
          <p:nvPr/>
        </p:nvSpPr>
        <p:spPr>
          <a:xfrm>
            <a:off x="841248" y="4206240"/>
            <a:ext cx="54864" cy="1508760"/>
          </a:xfrm>
          <a:prstGeom prst="rect">
            <a:avLst/>
          </a:prstGeom>
          <a:solidFill>
            <a:srgbClr val="C9A24B"/>
          </a:solidFill>
          <a:ln/>
        </p:spPr>
        <p:txBody>
          <a:bodyPr/>
          <a:p/>
        </p:txBody>
      </p:sp>
      <p:sp>
        <p:nvSpPr>
          <p:cNvPr id="14" name="Text 12"/>
          <p:cNvSpPr/>
          <p:nvPr/>
        </p:nvSpPr>
        <p:spPr>
          <a:xfrm>
            <a:off x="1024128" y="4178808"/>
            <a:ext cx="4663440" cy="411480"/>
          </a:xfrm>
          <a:prstGeom prst="rect">
            <a:avLst/>
          </a:prstGeom>
          <a:noFill/>
          <a:ln/>
        </p:spPr>
        <p:txBody>
          <a:bodyPr wrap="square" rtlCol="0" anchor="ctr"/>
          <a:lstStyle/>
          <a:p>
            <a:pPr indent="0" marL="0">
              <a:buNone/>
            </a:pPr>
            <a:r>
              <a:rPr lang="en-US" sz="1600" b="1" dirty="0">
                <a:solidFill>
                  <a:srgbClr val="16233F"/>
                </a:solidFill>
                <a:latin typeface="Calibri" pitchFamily="34" charset="0"/>
                <a:ea typeface="Calibri" pitchFamily="34" charset="-122"/>
                <a:cs typeface="Calibri" pitchFamily="34" charset="-120"/>
              </a:rPr>
              <a:t>Programa</a:t>
            </a:r>
            <a:endParaRPr lang="en-US" sz="1600" dirty="0"/>
          </a:p>
        </p:txBody>
      </p:sp>
      <p:sp>
        <p:nvSpPr>
          <p:cNvPr id="15" name="Text 13"/>
          <p:cNvSpPr/>
          <p:nvPr/>
        </p:nvSpPr>
        <p:spPr>
          <a:xfrm>
            <a:off x="1024128" y="4636008"/>
            <a:ext cx="4663440" cy="1188720"/>
          </a:xfrm>
          <a:prstGeom prst="rect">
            <a:avLst/>
          </a:prstGeom>
          <a:noFill/>
          <a:ln/>
        </p:spPr>
        <p:txBody>
          <a:bodyPr wrap="square" rtlCol="0" anchor="t"/>
          <a:lstStyle/>
          <a:p>
            <a:pPr indent="0" marL="0">
              <a:lnSpc>
                <a:spcPct val="120000"/>
              </a:lnSpc>
              <a:buNone/>
            </a:pPr>
            <a:r>
              <a:rPr lang="en-US" sz="1250" dirty="0">
                <a:solidFill>
                  <a:srgbClr val="5B6472"/>
                </a:solidFill>
                <a:latin typeface="Calibri" pitchFamily="34" charset="0"/>
                <a:ea typeface="Calibri" pitchFamily="34" charset="-122"/>
                <a:cs typeface="Calibri" pitchFamily="34" charset="-120"/>
              </a:rPr>
              <a:t>Unidad ejecutable simple y acotada, sin estructura adicional.</a:t>
            </a:r>
            <a:endParaRPr lang="en-US" sz="1250" dirty="0"/>
          </a:p>
        </p:txBody>
      </p:sp>
      <p:sp>
        <p:nvSpPr>
          <p:cNvPr id="16" name="Shape 14"/>
          <p:cNvSpPr/>
          <p:nvPr/>
        </p:nvSpPr>
        <p:spPr>
          <a:xfrm>
            <a:off x="6217920" y="3977640"/>
            <a:ext cx="5257800" cy="1965960"/>
          </a:xfrm>
          <a:prstGeom prst="roundRect">
            <a:avLst>
              <a:gd name="adj" fmla="val 3721"/>
            </a:avLst>
          </a:prstGeom>
          <a:solidFill>
            <a:srgbClr val="F4F5F7"/>
          </a:solidFill>
          <a:ln w="12700">
            <a:solidFill>
              <a:srgbClr val="E1E4E9"/>
            </a:solidFill>
            <a:prstDash val="solid"/>
          </a:ln>
        </p:spPr>
        <p:txBody>
          <a:bodyPr/>
          <a:p/>
        </p:txBody>
      </p:sp>
      <p:sp>
        <p:nvSpPr>
          <p:cNvPr id="17" name="Shape 15"/>
          <p:cNvSpPr/>
          <p:nvPr/>
        </p:nvSpPr>
        <p:spPr>
          <a:xfrm>
            <a:off x="6419088" y="4206240"/>
            <a:ext cx="54864" cy="1508760"/>
          </a:xfrm>
          <a:prstGeom prst="rect">
            <a:avLst/>
          </a:prstGeom>
          <a:solidFill>
            <a:srgbClr val="C9A24B"/>
          </a:solidFill>
          <a:ln/>
        </p:spPr>
        <p:txBody>
          <a:bodyPr/>
          <a:p/>
        </p:txBody>
      </p:sp>
      <p:sp>
        <p:nvSpPr>
          <p:cNvPr id="18" name="Text 16"/>
          <p:cNvSpPr/>
          <p:nvPr/>
        </p:nvSpPr>
        <p:spPr>
          <a:xfrm>
            <a:off x="6601968" y="4178808"/>
            <a:ext cx="4663440" cy="411480"/>
          </a:xfrm>
          <a:prstGeom prst="rect">
            <a:avLst/>
          </a:prstGeom>
          <a:noFill/>
          <a:ln/>
        </p:spPr>
        <p:txBody>
          <a:bodyPr wrap="square" rtlCol="0" anchor="ctr"/>
          <a:lstStyle/>
          <a:p>
            <a:pPr indent="0" marL="0">
              <a:buNone/>
            </a:pPr>
            <a:r>
              <a:rPr lang="en-US" sz="1600" b="1" dirty="0">
                <a:solidFill>
                  <a:srgbClr val="16233F"/>
                </a:solidFill>
                <a:latin typeface="Calibri" pitchFamily="34" charset="0"/>
                <a:ea typeface="Calibri" pitchFamily="34" charset="-122"/>
                <a:cs typeface="Calibri" pitchFamily="34" charset="-120"/>
              </a:rPr>
              <a:t>Proyecto</a:t>
            </a:r>
            <a:endParaRPr lang="en-US" sz="1600" dirty="0"/>
          </a:p>
        </p:txBody>
      </p:sp>
      <p:sp>
        <p:nvSpPr>
          <p:cNvPr id="19" name="Text 17"/>
          <p:cNvSpPr/>
          <p:nvPr/>
        </p:nvSpPr>
        <p:spPr>
          <a:xfrm>
            <a:off x="6601968" y="4636008"/>
            <a:ext cx="4663440" cy="1188720"/>
          </a:xfrm>
          <a:prstGeom prst="rect">
            <a:avLst/>
          </a:prstGeom>
          <a:noFill/>
          <a:ln/>
        </p:spPr>
        <p:txBody>
          <a:bodyPr wrap="square" rtlCol="0" anchor="t"/>
          <a:lstStyle/>
          <a:p>
            <a:pPr indent="0" marL="0">
              <a:lnSpc>
                <a:spcPct val="120000"/>
              </a:lnSpc>
              <a:buNone/>
            </a:pPr>
            <a:r>
              <a:rPr lang="en-US" sz="1250" dirty="0">
                <a:solidFill>
                  <a:srgbClr val="5B6472"/>
                </a:solidFill>
                <a:latin typeface="Calibri" pitchFamily="34" charset="0"/>
                <a:ea typeface="Calibri" pitchFamily="34" charset="-122"/>
                <a:cs typeface="Calibri" pitchFamily="34" charset="-120"/>
              </a:rPr>
              <a:t>Conjunto organizado de código, con estructura y dependencias propias.</a:t>
            </a:r>
            <a:endParaRPr lang="en-US" sz="1250" dirty="0"/>
          </a:p>
        </p:txBody>
      </p:sp>
      <p:sp>
        <p:nvSpPr>
          <p:cNvPr id="20" name="Text 18"/>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PROGRAMACIÓN II · UAI · Unidad 1 · Clase 1</a:t>
            </a:r>
            <a:endParaRPr lang="en-US" sz="900" dirty="0"/>
          </a:p>
        </p:txBody>
      </p:sp>
      <p:sp>
        <p:nvSpPr>
          <p:cNvPr id="21" name="Text 1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bg>
      <p:bgPr>
        <a:solidFill>
          <a:srgbClr val="16233F"/>
        </a:solidFill>
      </p:bgPr>
    </p:bg>
    <p:spTree>
      <p:nvGrpSpPr>
        <p:cNvPr id="1" name=""/>
        <p:cNvGrpSpPr/>
        <p:nvPr/>
      </p:nvGrpSpPr>
      <p:grpSpPr>
        <a:xfrm>
          <a:off x="0" y="0"/>
          <a:ext cx="0" cy="0"/>
          <a:chOff x="0" y="0"/>
          <a:chExt cx="0" cy="0"/>
        </a:xfrm>
      </p:grpSpPr>
      <p:sp>
        <p:nvSpPr>
          <p:cNvPr id="2" name="Shape 0"/>
          <p:cNvSpPr/>
          <p:nvPr/>
        </p:nvSpPr>
        <p:spPr>
          <a:xfrm>
            <a:off x="-1371600" y="-1645920"/>
            <a:ext cx="4572000" cy="4572000"/>
          </a:xfrm>
          <a:prstGeom prst="ellipse">
            <a:avLst/>
          </a:prstGeom>
          <a:solidFill>
            <a:srgbClr val="0E1830"/>
          </a:solidFill>
          <a:ln/>
        </p:spPr>
        <p:txBody>
          <a:bodyPr/>
          <a:p/>
        </p:txBody>
      </p:sp>
      <p:sp>
        <p:nvSpPr>
          <p:cNvPr id="3" name="Shape 1"/>
          <p:cNvSpPr/>
          <p:nvPr/>
        </p:nvSpPr>
        <p:spPr>
          <a:xfrm>
            <a:off x="9875520" y="3931920"/>
            <a:ext cx="4206240" cy="4206240"/>
          </a:xfrm>
          <a:prstGeom prst="ellipse">
            <a:avLst/>
          </a:prstGeom>
          <a:solidFill>
            <a:srgbClr val="0E1830"/>
          </a:solidFill>
          <a:ln/>
        </p:spPr>
        <p:txBody>
          <a:bodyPr/>
          <a:p/>
        </p:txBody>
      </p:sp>
      <p:sp>
        <p:nvSpPr>
          <p:cNvPr id="4" name="Text 2"/>
          <p:cNvSpPr/>
          <p:nvPr/>
        </p:nvSpPr>
        <p:spPr>
          <a:xfrm>
            <a:off x="822960" y="1828800"/>
            <a:ext cx="7315200" cy="365760"/>
          </a:xfrm>
          <a:prstGeom prst="rect">
            <a:avLst/>
          </a:prstGeom>
          <a:noFill/>
          <a:ln/>
        </p:spPr>
        <p:txBody>
          <a:bodyPr wrap="square" rtlCol="0" anchor="ctr"/>
          <a:lstStyle/>
          <a:p>
            <a:pPr indent="0" marL="0">
              <a:buNone/>
            </a:pPr>
            <a:r>
              <a:rPr lang="en-US" sz="1400" b="1" spc="200" kern="0" dirty="0">
                <a:solidFill>
                  <a:srgbClr val="C9A24B"/>
                </a:solidFill>
                <a:latin typeface="Calibri" pitchFamily="34" charset="0"/>
                <a:ea typeface="Calibri" pitchFamily="34" charset="-122"/>
                <a:cs typeface="Calibri" pitchFamily="34" charset="-120"/>
              </a:rPr>
              <a:t>PRÓXIMA CLASE · SEMANA 2</a:t>
            </a:r>
            <a:endParaRPr lang="en-US" sz="1400" dirty="0"/>
          </a:p>
        </p:txBody>
      </p:sp>
      <p:sp>
        <p:nvSpPr>
          <p:cNvPr id="5" name="Text 3"/>
          <p:cNvSpPr/>
          <p:nvPr/>
        </p:nvSpPr>
        <p:spPr>
          <a:xfrm>
            <a:off x="822960" y="2240280"/>
            <a:ext cx="10058400" cy="82296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Paradigmas de programación</a:t>
            </a:r>
            <a:endParaRPr lang="en-US" sz="3200" dirty="0"/>
          </a:p>
        </p:txBody>
      </p:sp>
      <p:sp>
        <p:nvSpPr>
          <p:cNvPr id="6" name="Text 4"/>
          <p:cNvSpPr/>
          <p:nvPr/>
        </p:nvSpPr>
        <p:spPr>
          <a:xfrm>
            <a:off x="822960" y="3017520"/>
            <a:ext cx="9326880" cy="640080"/>
          </a:xfrm>
          <a:prstGeom prst="rect">
            <a:avLst/>
          </a:prstGeom>
          <a:noFill/>
          <a:ln/>
        </p:spPr>
        <p:txBody>
          <a:bodyPr wrap="square" rtlCol="0" anchor="t"/>
          <a:lstStyle/>
          <a:p>
            <a:pPr indent="0" marL="0">
              <a:buNone/>
            </a:pPr>
            <a:r>
              <a:rPr lang="en-US" sz="1500" dirty="0">
                <a:solidFill>
                  <a:srgbClr val="C7CDD9"/>
                </a:solidFill>
                <a:latin typeface="Calibri" pitchFamily="34" charset="0"/>
                <a:ea typeface="Calibri" pitchFamily="34" charset="-122"/>
                <a:cs typeface="Calibri" pitchFamily="34" charset="-120"/>
              </a:rPr>
              <a:t>POO vs. programación estructurada vs. programación funcional. Ventajas y desventajas de cada enfoque.</a:t>
            </a:r>
            <a:endParaRPr lang="en-US" sz="1500" dirty="0"/>
          </a:p>
        </p:txBody>
      </p:sp>
      <p:sp>
        <p:nvSpPr>
          <p:cNvPr id="7" name="Shape 5"/>
          <p:cNvSpPr/>
          <p:nvPr/>
        </p:nvSpPr>
        <p:spPr>
          <a:xfrm>
            <a:off x="822960" y="4023360"/>
            <a:ext cx="10515600" cy="0"/>
          </a:xfrm>
          <a:prstGeom prst="line">
            <a:avLst/>
          </a:prstGeom>
          <a:noFill/>
          <a:ln w="12700">
            <a:solidFill>
              <a:srgbClr val="2A3A5C"/>
            </a:solidFill>
            <a:prstDash val="solid"/>
          </a:ln>
        </p:spPr>
        <p:txBody>
          <a:bodyPr/>
          <a:p/>
        </p:txBody>
      </p:sp>
      <p:sp>
        <p:nvSpPr>
          <p:cNvPr id="8" name="Text 6"/>
          <p:cNvSpPr/>
          <p:nvPr/>
        </p:nvSpPr>
        <p:spPr>
          <a:xfrm>
            <a:off x="822960" y="4251960"/>
            <a:ext cx="9144000" cy="274320"/>
          </a:xfrm>
          <a:prstGeom prst="rect">
            <a:avLst/>
          </a:prstGeom>
          <a:noFill/>
          <a:ln/>
        </p:spPr>
        <p:txBody>
          <a:bodyPr wrap="square" rtlCol="0" anchor="ctr"/>
          <a:lstStyle/>
          <a:p>
            <a:pPr indent="0" marL="0">
              <a:buNone/>
            </a:pPr>
            <a:r>
              <a:rPr lang="en-US" sz="1050" b="1" spc="100" kern="0" dirty="0">
                <a:solidFill>
                  <a:srgbClr val="8F97A8"/>
                </a:solidFill>
                <a:latin typeface="Calibri" pitchFamily="34" charset="0"/>
                <a:ea typeface="Calibri" pitchFamily="34" charset="-122"/>
                <a:cs typeface="Calibri" pitchFamily="34" charset="-120"/>
              </a:rPr>
              <a:t>PARA REPASAR ANTES DE LA PRÓXIMA CLASE</a:t>
            </a:r>
            <a:endParaRPr lang="en-US" sz="1050" dirty="0"/>
          </a:p>
        </p:txBody>
      </p:sp>
      <p:sp>
        <p:nvSpPr>
          <p:cNvPr id="9" name="Text 7"/>
          <p:cNvSpPr/>
          <p:nvPr/>
        </p:nvSpPr>
        <p:spPr>
          <a:xfrm>
            <a:off x="822960" y="4553712"/>
            <a:ext cx="9601200" cy="365760"/>
          </a:xfrm>
          <a:prstGeom prst="rect">
            <a:avLst/>
          </a:prstGeom>
          <a:noFill/>
          <a:ln/>
        </p:spPr>
        <p:txBody>
          <a:bodyPr wrap="square" rtlCol="0" anchor="ctr"/>
          <a:lstStyle/>
          <a:p>
            <a:pPr indent="0" marL="0">
              <a:buNone/>
            </a:pPr>
            <a:r>
              <a:rPr lang="en-US" sz="1250" dirty="0">
                <a:solidFill>
                  <a:srgbClr val="E6E9EF"/>
                </a:solidFill>
                <a:latin typeface="Calibri" pitchFamily="34" charset="0"/>
                <a:ea typeface="Calibri" pitchFamily="34" charset="-122"/>
                <a:cs typeface="Calibri" pitchFamily="34" charset="-120"/>
              </a:rPr>
              <a:t>Rául González Duque — "Python para todos", capítulo introductorio (instalación y primeros pasos).</a:t>
            </a:r>
            <a:endParaRPr lang="en-US" sz="1250" dirty="0"/>
          </a:p>
        </p:txBody>
      </p:sp>
      <p:sp>
        <p:nvSpPr>
          <p:cNvPr id="10" name="Text 8"/>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PROGRAMACIÓN II · UAI · Unidad 1 · Clase 1</a:t>
            </a:r>
            <a:endParaRPr lang="en-US" sz="900" dirty="0"/>
          </a:p>
        </p:txBody>
      </p:sp>
      <p:sp>
        <p:nvSpPr>
          <p:cNvPr id="11" name="Text 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2026-08-10T04:32:18Z</dcterms:created>
  <dcterms:modified xsi:type="dcterms:W3CDTF">2026-08-10T04:32:18Z</dcterms:modified>
</cp:coreProperties>
</file>