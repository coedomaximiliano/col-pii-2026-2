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18"/>
    <p:sldId id="268" r:id="rId19"/>
    <p:sldId id="259" r:id="rId5"/>
    <p:sldId id="269" r:id="rId20"/>
    <p:sldId id="270" r:id="rId21"/>
    <p:sldId id="262" r:id="rId8"/>
    <p:sldId id="263" r:id="rId9"/>
    <p:sldId id="260" r:id="rId6"/>
    <p:sldId id="271" r:id="rId22"/>
    <p:sldId id="272" r:id="rId23"/>
    <p:sldId id="261" r:id="rId7"/>
    <p:sldId id="273" r:id="rId24"/>
    <p:sldId id="274" r:id="rId25"/>
    <p:sldId id="264" r:id="rId10"/>
    <p:sldId id="275" r:id="rId26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11.xml"/><Relationship Id="rId7" Type="http://schemas.openxmlformats.org/officeDocument/2006/relationships/slide" Target="slides/slide14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7.xml"/><Relationship Id="rId11" Type="http://schemas.openxmlformats.org/officeDocument/2006/relationships/slide" Target="slides/slide19.xml"/><Relationship Id="rId12" Type="http://schemas.openxmlformats.org/officeDocument/2006/relationships/slide" Target="slides/slide2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E183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480560"/>
            <a:ext cx="4023360" cy="4023360"/>
          </a:xfrm>
          <a:prstGeom prst="ellipse">
            <a:avLst/>
          </a:prstGeom>
          <a:solidFill>
            <a:srgbClr val="0E1830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698480" y="4297680"/>
            <a:ext cx="1828800" cy="1828800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20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INTRODUCCIÓN A PYTHON · SEMANA 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3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Abstracción, objetos, herencia y polimorfismo.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de Python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4709160"/>
            <a:ext cx="1965960" cy="457200"/>
          </a:xfrm>
          <a:prstGeom prst="roundRect">
            <a:avLst>
              <a:gd name="adj" fmla="val 50000"/>
            </a:avLst>
          </a:prstGeom>
          <a:solidFill>
            <a:srgbClr val="0E1830"/>
          </a:solidFill>
          <a:ln w="12700">
            <a:solidFill>
              <a:srgbClr val="2A3A5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47091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40%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990088" y="4709160"/>
            <a:ext cx="2203704" cy="457200"/>
          </a:xfrm>
          <a:prstGeom prst="roundRect">
            <a:avLst>
              <a:gd name="adj" fmla="val 50000"/>
            </a:avLst>
          </a:prstGeom>
          <a:solidFill>
            <a:srgbClr val="0E1830"/>
          </a:solidFill>
          <a:ln w="12700">
            <a:solidFill>
              <a:srgbClr val="2A3A5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90088" y="4709160"/>
            <a:ext cx="2203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60%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0E1830"/>
          </a:solidFill>
          <a:ln w="12700">
            <a:solidFill>
              <a:srgbClr val="2A3A5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94960" y="470916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hs. reloj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CLASE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vamos a ver hoy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92024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Abstracción, objetos, clases y herencia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68680" y="297180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fundamentos de la POO, ahora con diagramas, ejemplos y código ampliado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46520" y="192024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ejercicios para practicar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46520" y="297180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Pausamos a mitad de clase para modelar una clase y pensar abstracción antes de seguir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416052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68680" y="475488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 e historia de Python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68680" y="521208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mensaje, distintas respuestas · de dónde viene el lenguaje y por qué se usa hoy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397764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416052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46520" y="475488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TP carpeta y ejercicio integrador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46520" y="521208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del trabajo práctico y un desafío final que combina los tres conceptos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1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Abstracción de datos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Abstraer es decidir qué atributos y comportamientos de una entidad del mundo real son relevantes para el problema que queremos resolver, dejando de lado todo lo demás.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30632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Observar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70332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Partimos de una entidad real: una persona, un vehículo, una cuenta bancaria.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6552" y="283464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45152" y="30632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Seleccionar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370332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solo los atributos y acciones relevantes para nuestro programa.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93024" y="283464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16233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21624" y="30632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Modelar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1624" y="370332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6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Representamos esa selección como una clase, con sus atributos y métodos.</a:t>
            </a:r>
            <a:endParaRPr lang="en-US" sz="1200" dirty="0"/>
          </a:p>
        </p:txBody>
      </p:sp>
      <p:pic>
        <p:nvPicPr>
          <p:cNvPr id="16" name="Picture 15" descr="abstraccion_b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2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entidad real a la clase</a:t>
            </a:r>
            <a:endParaRPr lang="en-US" sz="2800" dirty="0"/>
          </a:p>
        </p:txBody>
      </p:sp>
      <p:pic>
        <p:nvPicPr>
          <p:cNvPr id="6" name="Picture 5" descr="abstraccion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C1F26"/>
                </a:solidFill>
                <a:latin typeface="Calibri"/>
              </a:rPr>
              <a:t>La abstracción es un filtro: de todo lo que podríamos decir de una entidad real, nos quedamos solo con lo que el sistema necesita.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3246120" cy="32461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erso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4320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3520440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233F"/>
                </a:solidFill>
                <a:latin typeface="Calibri"/>
              </a:rPr>
              <a:t>Entidad 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27889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Un alumno de la facultad: nombre, edad, legajo, promedio, altura, color de pelo, gustos musicales…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31920" y="3973068"/>
            <a:ext cx="32004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2514600"/>
            <a:ext cx="324612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bstraccion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74320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26280" y="3520440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9A24B"/>
                </a:solidFill>
                <a:latin typeface="Calibri"/>
              </a:rPr>
              <a:t>Abstracción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886200"/>
            <a:ext cx="27889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¿Qué necesita saber el sistema de gestión académica para hacer su trabajo?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589520" y="3973068"/>
            <a:ext cx="32004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55280" y="2514600"/>
            <a:ext cx="3246120" cy="324612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l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74320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3880" y="3520440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9A24B"/>
                </a:solidFill>
                <a:latin typeface="Consolas"/>
              </a:rPr>
              <a:t>class Alumno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3931920"/>
            <a:ext cx="2788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E6E9EF"/>
                </a:solidFill>
                <a:latin typeface="Calibri"/>
              </a:rPr>
              <a:t>Atributos: </a:t>
            </a:r>
            <a:r>
              <a:rPr sz="1150" b="0" i="0">
                <a:solidFill>
                  <a:srgbClr val="E6E9EF"/>
                </a:solidFill>
                <a:latin typeface="Calibri"/>
              </a:rPr>
              <a:t>nombre, legajo, promedio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480560"/>
            <a:ext cx="2788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E6E9EF"/>
                </a:solidFill>
                <a:latin typeface="Calibri"/>
              </a:rPr>
              <a:t>Método: </a:t>
            </a:r>
            <a:r>
              <a:rPr sz="1150" b="0" i="0">
                <a:solidFill>
                  <a:srgbClr val="E6E9EF"/>
                </a:solidFill>
                <a:latin typeface="Consolas"/>
              </a:rPr>
              <a:t>inscribir_materia()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3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entidad, dos abstracciones distintas</a:t>
            </a:r>
            <a:endParaRPr lang="en-US" sz="2800" dirty="0"/>
          </a:p>
        </p:txBody>
      </p:sp>
      <p:pic>
        <p:nvPicPr>
          <p:cNvPr id="6" name="Picture 5" descr="abstraccion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C1F26"/>
                </a:solidFill>
                <a:latin typeface="Calibri"/>
              </a:rPr>
              <a:t>Un mismo objeto del mundo real —un libro— se abstrae distinto según el sistema que lo use. Lo relevante depende del problema, no del objeto.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5074920" cy="34290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434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6233F"/>
                </a:solidFill>
                <a:latin typeface="Calibri"/>
              </a:rPr>
              <a:t>Sistema de biblioteca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4434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Le importa si el libro se puede prestar.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4206240"/>
            <a:ext cx="4434840" cy="1737360"/>
          </a:xfrm>
          <a:prstGeom prst="roundRect">
            <a:avLst>
              <a:gd name="adj" fmla="val 10000"/>
            </a:avLst>
          </a:prstGeom>
          <a:solidFill>
            <a:srgbClr val="0E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class Libro:</a:t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    titulo</a:t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    autor</a:t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    disponible</a:t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    def prestar(self): 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788920"/>
            <a:ext cx="5074920" cy="342900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063240"/>
            <a:ext cx="4434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9A24B"/>
                </a:solidFill>
                <a:latin typeface="Calibri"/>
              </a:rPr>
              <a:t>Sistema de librería (venta)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566160"/>
            <a:ext cx="4434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6E9EF"/>
                </a:solidFill>
                <a:latin typeface="Calibri"/>
              </a:rPr>
              <a:t>Le importa cuánto cuesta y si hay stock.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4206240"/>
            <a:ext cx="4434840" cy="1737360"/>
          </a:xfrm>
          <a:prstGeom prst="roundRect">
            <a:avLst>
              <a:gd name="adj" fmla="val 10000"/>
            </a:avLst>
          </a:prstGeom>
          <a:solidFill>
            <a:srgbClr val="0E1830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class Libro:</a:t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    titulo</a:t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    precio</a:t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    stock</a:t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250">
                <a:solidFill>
                  <a:srgbClr val="D7F5C9"/>
                </a:solidFill>
                <a:latin typeface="Consolas"/>
              </a:rPr>
              <a:t>    def vender(self): 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4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Objetos, clases y herencia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clase es un molde que define atributos y métodos. Un objeto es una instancia concreta de esa clase. La herencia permite que una clase (subclase) reutilice y extienda lo definido en otra (superclase).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19125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108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Clase: plantilla — ej. Vehiculo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3989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36576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Objeto: instancia concreta — ej. mi_auto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8853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42062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Herencia: Auto hereda de Vehiculo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0E183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182880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vehiculos.py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148840"/>
            <a:ext cx="4800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Vehiculo: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marca):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self.marca = marca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moverse(self):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print("Me muevo")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Auto(Vehiculo):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moverse(self):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print("Ando sobre 4 ruedas")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mi_auto = Auto("Toyota")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mi_auto.moverse()</a:t>
            </a:r>
            <a:endParaRPr lang="en-US" sz="1200" dirty="0"/>
          </a:p>
        </p:txBody>
      </p:sp>
      <p:pic>
        <p:nvPicPr>
          <p:cNvPr id="16" name="Picture 15" descr="objetos_b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5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 de clases: quién hereda de quién</a:t>
            </a:r>
            <a:endParaRPr lang="en-US" sz="2800" dirty="0"/>
          </a:p>
        </p:txBody>
      </p:sp>
      <p:pic>
        <p:nvPicPr>
          <p:cNvPr id="6" name="Picture 5" descr="objetos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45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C1F26"/>
                </a:solidFill>
                <a:latin typeface="Calibri"/>
              </a:rPr>
              <a:t>Una subclase reutiliza los atributos y métodos de su superclase, y puede sobreescribir los que necesite comportarse distinto.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331720"/>
            <a:ext cx="3566160" cy="132588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ehicu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25146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38928" y="25146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9A24B"/>
                </a:solidFill>
                <a:latin typeface="Consolas"/>
              </a:rPr>
              <a:t>Vehiculo</a:t>
            </a:r>
            <a:r>
              <a:rPr sz="1100" b="0" i="1">
                <a:solidFill>
                  <a:srgbClr val="E6E9EF"/>
                </a:solidFill>
                <a:latin typeface="Calibri"/>
              </a:rPr>
              <a:t>  (superclase)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8928" y="2898648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6E9EF"/>
                </a:solidFill>
                <a:latin typeface="Calibri"/>
              </a:rPr>
              <a:t>atributo: </a:t>
            </a:r>
            <a:r>
              <a:rPr sz="1100" b="0" i="0">
                <a:solidFill>
                  <a:srgbClr val="E6E9EF"/>
                </a:solidFill>
                <a:latin typeface="Consolas"/>
              </a:rPr>
              <a:t>marca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928" y="320040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6E9EF"/>
                </a:solidFill>
                <a:latin typeface="Calibri"/>
              </a:rPr>
              <a:t>método: </a:t>
            </a:r>
            <a:r>
              <a:rPr sz="1100" b="0" i="0">
                <a:solidFill>
                  <a:srgbClr val="E6E9EF"/>
                </a:solidFill>
                <a:latin typeface="Consolas"/>
              </a:rPr>
              <a:t>moverse() → "Me muevo"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434840"/>
            <a:ext cx="4343400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u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663440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4636008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233F"/>
                </a:solidFill>
                <a:latin typeface="Consolas"/>
              </a:rPr>
              <a:t>Auto</a:t>
            </a:r>
            <a:r>
              <a:rPr sz="1050" b="0" i="1">
                <a:solidFill>
                  <a:srgbClr val="5B6472"/>
                </a:solidFill>
                <a:latin typeface="Calibri"/>
              </a:rPr>
              <a:t>  (subclase)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1663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5B6472"/>
                </a:solidFill>
                <a:latin typeface="Calibri"/>
              </a:rPr>
              <a:t>hereda: </a:t>
            </a:r>
            <a:r>
              <a:rPr sz="1100" b="0" i="0">
                <a:solidFill>
                  <a:srgbClr val="5B6472"/>
                </a:solidFill>
                <a:latin typeface="Consolas"/>
              </a:rPr>
              <a:t>marca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3794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E7D5B"/>
                </a:solidFill>
                <a:latin typeface="Calibri"/>
              </a:rPr>
              <a:t>sobreescribe: </a:t>
            </a:r>
            <a:r>
              <a:rPr sz="1050" b="0" i="0">
                <a:solidFill>
                  <a:srgbClr val="1C1F26"/>
                </a:solidFill>
                <a:latin typeface="Consolas"/>
              </a:rPr>
              <a:t>moverse() → "Ando sobre 4 ruedas"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4434840"/>
            <a:ext cx="4343400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icicl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466344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01000" y="4636008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233F"/>
                </a:solidFill>
                <a:latin typeface="Consolas"/>
              </a:rPr>
              <a:t>Bicicleta</a:t>
            </a:r>
            <a:r>
              <a:rPr sz="1050" b="0" i="1">
                <a:solidFill>
                  <a:srgbClr val="5B6472"/>
                </a:solidFill>
                <a:latin typeface="Calibri"/>
              </a:rPr>
              <a:t>  (subclase)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51663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5B6472"/>
                </a:solidFill>
                <a:latin typeface="Calibri"/>
              </a:rPr>
              <a:t>hereda: </a:t>
            </a:r>
            <a:r>
              <a:rPr sz="1100" b="0" i="0">
                <a:solidFill>
                  <a:srgbClr val="5B6472"/>
                </a:solidFill>
                <a:latin typeface="Consolas"/>
              </a:rPr>
              <a:t>marca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5486400"/>
            <a:ext cx="3794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E7D5B"/>
                </a:solidFill>
                <a:latin typeface="Calibri"/>
              </a:rPr>
              <a:t>sobreescribe: </a:t>
            </a:r>
            <a:r>
              <a:rPr sz="1050" b="0" i="0">
                <a:solidFill>
                  <a:srgbClr val="1C1F26"/>
                </a:solidFill>
                <a:latin typeface="Consolas"/>
              </a:rPr>
              <a:t>moverse() → "Ando a pedal"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948940.0" y="3657600"/>
            <a:ext cx="1915668.0" cy="777240"/>
          </a:xfrm>
          <a:prstGeom prst="line">
            <a:avLst/>
          </a:prstGeom>
          <a:ln w="22225">
            <a:solidFill>
              <a:srgbClr val="C9A2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333488" y="3657600"/>
            <a:ext cx="1924812.0" cy="777240"/>
          </a:xfrm>
          <a:prstGeom prst="line">
            <a:avLst/>
          </a:prstGeom>
          <a:ln w="22225">
            <a:solidFill>
              <a:srgbClr val="C9A2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6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objeto guarda su propio estado</a:t>
            </a:r>
            <a:endParaRPr lang="en-US" sz="2800" dirty="0"/>
          </a:p>
        </p:txBody>
      </p:sp>
      <p:pic>
        <p:nvPicPr>
          <p:cNvPr id="6" name="Picture 5" descr="objetos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F26"/>
                </a:solidFill>
                <a:latin typeface="Calibri"/>
              </a:rPr>
              <a:t>La clase define la estructura; cada objeto (instancia) guarda sus propios valores en sus atributos, aunque compartan la misma clase.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191256"/>
            <a:ext cx="118872" cy="11887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8463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F26"/>
                </a:solidFill>
                <a:latin typeface="Calibri"/>
              </a:rPr>
              <a:t>mi_auto y otro_auto son dos objetos distintos de la misma clase Auto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849624"/>
            <a:ext cx="118872" cy="11887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67328"/>
            <a:ext cx="48463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F26"/>
                </a:solidFill>
                <a:latin typeface="Calibri"/>
              </a:rPr>
              <a:t>Cada uno tiene su propio atributo marca, aunque el método sea el mismo código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507992"/>
            <a:ext cx="118872" cy="11887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25696"/>
            <a:ext cx="48463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F26"/>
                </a:solidFill>
                <a:latin typeface="Calibri"/>
              </a:rPr>
              <a:t>Modificar mi_auto.marca no afecta a otro_auto.marca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E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8F97A8"/>
                </a:solidFill>
                <a:latin typeface="Consolas"/>
              </a:rPr>
              <a:t>vehiculos.py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480060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>mi_auto = Auto("Toyota")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>otro_auto = Auto("Ford")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>mi_auto.moverse()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># Ando sobre 4 ruedas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>otro_auto.moverse()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># Ando sobre 4 ruedas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>print(mi_auto.marca)    # Toyota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D7F5C9"/>
                </a:solidFill>
                <a:latin typeface="Consolas"/>
              </a:rPr>
              <a:t>print(otro_auto.marca)  # Ford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1 · INDIVIDUAL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tu primera clase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835640" cy="822960"/>
          </a:xfrm>
          <a:prstGeom prst="roundRect">
            <a:avLst>
              <a:gd name="adj" fmla="val 8889"/>
            </a:avLst>
          </a:prstGeom>
          <a:solidFill>
            <a:srgbClr val="E9F5EF"/>
          </a:solidFill>
          <a:ln w="12700">
            <a:solidFill>
              <a:srgbClr val="CFE8D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828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Definí una clase Persona con atributos nombre y edad, y un método saludar() que imprima un mensaje usando esos datos.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23697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3154680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Creá la clase Persona con __init__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3666744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Definí los atributos nombre y edad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14400" y="4178808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Agregá el método saludar()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73168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14400" y="4690872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Creá dos objetos Persona distintos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285232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14400" y="5202936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Llamá a saludar() en cada uno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2788920"/>
            <a:ext cx="5257800" cy="3429000"/>
          </a:xfrm>
          <a:prstGeom prst="roundRect">
            <a:avLst>
              <a:gd name="adj" fmla="val 2500"/>
            </a:avLst>
          </a:prstGeom>
          <a:solidFill>
            <a:srgbClr val="0E183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92240" y="29260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persona.py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92240" y="3291840"/>
            <a:ext cx="484632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Persona: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nombre, edad):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self.nombre = nombre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self.edad = edad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saludar(self):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print(f"Hola, soy {self.nombre}")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 = Persona("Lucía", 20)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p1.saludar()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2 · INDIVIDUAL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Practicar la abstracción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835640" cy="822960"/>
          </a:xfrm>
          <a:prstGeom prst="roundRect">
            <a:avLst>
              <a:gd name="adj" fmla="val 8889"/>
            </a:avLst>
          </a:prstGeom>
          <a:solidFill>
            <a:srgbClr val="E9F5EF"/>
          </a:solidFill>
          <a:ln w="12700">
            <a:solidFill>
              <a:srgbClr val="CFE8D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828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entidad, indicá dos atributos y un método que le agregarías si tuvieras que representarla como clase en un sistema de biblioteca.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1693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2834640"/>
            <a:ext cx="10149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Un libro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69417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3611880"/>
            <a:ext cx="10149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Un socio de la biblioteca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47141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4389120"/>
            <a:ext cx="10149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Un préstamo de libro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3949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Compartí tu propuesta al inicio de la próxima clase.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7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capacidad de que objetos de distintas clases respondan de forma diferente a un mismo método. El mismo mensaje moverse() produce comportamientos distintos según el objeto que lo reciba.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19125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108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nombre de método en varias clases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3989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36576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clase define su propia versión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8853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42062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que llama al método no necesita saber cuál 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0E183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182880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polimorfismo.py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148840"/>
            <a:ext cx="4800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Bicicleta(Vehiculo):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moverse(self):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print("Ando a pedal")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vehiculos = [Auto("Fiat"), Bicicleta("BMX")]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v in vehiculos: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v.moverse()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Ando sobre 4 ruedas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Ando a pedal</a:t>
            </a:r>
            <a:endParaRPr lang="en-US" sz="1200" dirty="0"/>
          </a:p>
        </p:txBody>
      </p:sp>
      <p:pic>
        <p:nvPicPr>
          <p:cNvPr id="16" name="Picture 15" descr="polimorfismo_b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8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llamado, distintas respuestas</a:t>
            </a:r>
            <a:endParaRPr lang="en-US" sz="2800" dirty="0"/>
          </a:p>
        </p:txBody>
      </p:sp>
      <p:pic>
        <p:nvPicPr>
          <p:cNvPr id="6" name="Picture 5" descr="polimorfismo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45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C1F26"/>
                </a:solidFill>
                <a:latin typeface="Calibri"/>
              </a:rPr>
              <a:t>El código que llama a moverse() es siempre igual. Lo que cambia es qué clase de objeto lo recibe.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2468880"/>
            <a:ext cx="3291840" cy="105156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2468880"/>
            <a:ext cx="32918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C9A24B"/>
                </a:solidFill>
                <a:latin typeface="Consolas"/>
              </a:rPr>
              <a:t>v.moverse()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343400"/>
            <a:ext cx="4343400" cy="14173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4544568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233F"/>
                </a:solidFill>
                <a:latin typeface="Consolas"/>
              </a:rPr>
              <a:t>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20640"/>
            <a:ext cx="3794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→ imprime </a:t>
            </a:r>
            <a:r>
              <a:rPr sz="1200" b="1" i="0">
                <a:solidFill>
                  <a:srgbClr val="2E7D5B"/>
                </a:solidFill>
                <a:latin typeface="Consolas"/>
              </a:rPr>
              <a:t>"Ando sobre 4 ruedas"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4343400"/>
            <a:ext cx="4343400" cy="14173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icicle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572000"/>
            <a:ext cx="548640" cy="5486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01000" y="4544568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233F"/>
                </a:solidFill>
                <a:latin typeface="Consolas"/>
              </a:rPr>
              <a:t>Bicicleta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5120640"/>
            <a:ext cx="3794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→ imprime </a:t>
            </a:r>
            <a:r>
              <a:rPr sz="1200" b="1" i="0">
                <a:solidFill>
                  <a:srgbClr val="2E7D5B"/>
                </a:solidFill>
                <a:latin typeface="Consolas"/>
              </a:rPr>
              <a:t>"Ando a pedal"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2948940.0" y="3520440"/>
            <a:ext cx="2052828.0" cy="822960"/>
          </a:xfrm>
          <a:prstGeom prst="line">
            <a:avLst/>
          </a:prstGeom>
          <a:ln w="22225">
            <a:solidFill>
              <a:srgbClr val="C9A2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96328" y="3520440"/>
            <a:ext cx="2061972.0" cy="822960"/>
          </a:xfrm>
          <a:prstGeom prst="line">
            <a:avLst/>
          </a:prstGeom>
          <a:ln w="22225">
            <a:solidFill>
              <a:srgbClr val="C9A2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5B6472"/>
                </a:solidFill>
                <a:latin typeface="Calibri"/>
              </a:rPr>
              <a:t>El código no pregunta “sos un Auto o una Bicicleta?”: solo confía en que cada uno sabe responder a moverse().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9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polimorfismo vs. con polimorfismo</a:t>
            </a:r>
            <a:endParaRPr lang="en-US" sz="2800" dirty="0"/>
          </a:p>
        </p:txBody>
      </p:sp>
      <p:pic>
        <p:nvPicPr>
          <p:cNvPr id="6" name="Picture 5" descr="polimorfismo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C1F26"/>
                </a:solidFill>
                <a:latin typeface="Calibri"/>
              </a:rPr>
              <a:t>Mismo resultado, mucho menos código — y mucho más fácil de extender.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0E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B03A2E"/>
                </a:solidFill>
                <a:latin typeface="Calibri"/>
              </a:rPr>
              <a:t>Sin polimorfismo — con 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526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D7F5C9"/>
                </a:solidFill>
                <a:latin typeface="Consolas"/>
              </a:rPr>
              <a:t>for v in vehiculos: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D7F5C9"/>
                </a:solidFill>
                <a:latin typeface="Consolas"/>
              </a:rPr>
              <a:t>    if isinstance(v, Auto):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D7F5C9"/>
                </a:solidFill>
                <a:latin typeface="Consolas"/>
              </a:rPr>
              <a:t>        print('Ando 4 ruedas')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D7F5C9"/>
                </a:solidFill>
                <a:latin typeface="Consolas"/>
              </a:rPr>
              <a:t>    elif isinstance(v, Bicicleta):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D7F5C9"/>
                </a:solidFill>
                <a:latin typeface="Consolas"/>
              </a:rPr>
              <a:t>        print('Ando a pedal')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D7F5C9"/>
                </a:solidFill>
                <a:latin typeface="Consolas"/>
              </a:rPr>
              <a:t>    # elif Moto: ...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D7F5C9"/>
                </a:solidFill>
                <a:latin typeface="Consolas"/>
              </a:rPr>
              <a:t>    # elif Patineta: 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33172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514600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E7D5B"/>
                </a:solidFill>
                <a:latin typeface="Calibri"/>
              </a:rPr>
              <a:t>Con polimorfismo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971800"/>
            <a:ext cx="4526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D7F5C9"/>
                </a:solidFill>
                <a:latin typeface="Consolas"/>
              </a:rPr>
              <a:t>for v in vehiculos: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D7F5C9"/>
                </a:solidFill>
                <a:latin typeface="Consolas"/>
              </a:rPr>
              <a:t>    v.moverse()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023360"/>
            <a:ext cx="4526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9EF"/>
                </a:solidFill>
                <a:latin typeface="Calibri"/>
              </a:rPr>
              <a:t>No importa si mañana agregamos Moto o Patineta: este código no cambia. Cada clase nueva solo necesita definir su propio moverse().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10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y evolución de Python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es uno de los lenguajes más usados hoy en desarrollo web, ciencia de datos e inteligencia artificial. Conocer su origen ayuda a entender sus decisiones de diseño.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30632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1989 – 1991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70332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Guido van Rossum comienza a desarrollarlo en los Países Bajos; se publica la versión 0.9.0. El nombre es un homenaje al grupo de comedia Monty Python.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6552" y="283464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45152" y="30632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– 2008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370332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2.0 (2000) y Python 3.0 (2008), con cambios que rompen compatibilidad para simplificar el lenguaje.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93024" y="283464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16233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21624" y="30632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1624" y="370332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6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es el estándar. Es el lenguaje que vamos a usar durante toda la cursada.</a:t>
            </a:r>
            <a:endParaRPr lang="en-US" sz="1200" dirty="0"/>
          </a:p>
        </p:txBody>
      </p:sp>
      <p:pic>
        <p:nvPicPr>
          <p:cNvPr id="16" name="Picture 15" descr="historia_b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11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de tiempo de Python</a:t>
            </a:r>
            <a:endParaRPr lang="en-US" sz="2800" dirty="0"/>
          </a:p>
        </p:txBody>
      </p:sp>
      <p:pic>
        <p:nvPicPr>
          <p:cNvPr id="6" name="Picture 5" descr="historia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C1F26"/>
                </a:solidFill>
                <a:latin typeface="Calibri"/>
              </a:rPr>
              <a:t>Casi 35 años de evolución, desde un proyecto personal hasta el lenguaje más usado en la industria.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59351"/>
            <a:ext cx="10607040" cy="36576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0664" y="3895343"/>
            <a:ext cx="164592" cy="16459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8600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233F"/>
                </a:solidFill>
                <a:latin typeface="Calibri"/>
              </a:rPr>
              <a:t>1989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Guido empieza a programarlo como proyecto personal en los Países Bajos.</a:t>
            </a:r>
          </a:p>
        </p:txBody>
      </p:sp>
      <p:sp>
        <p:nvSpPr>
          <p:cNvPr id="12" name="Oval 11"/>
          <p:cNvSpPr/>
          <p:nvPr/>
        </p:nvSpPr>
        <p:spPr>
          <a:xfrm>
            <a:off x="3374136" y="3895343"/>
            <a:ext cx="164592" cy="16459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90572" y="416052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233F"/>
                </a:solidFill>
                <a:latin typeface="Calibri"/>
              </a:rPr>
              <a:t>1991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0572" y="452628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Se publica la versión 0.9.0 del lenguaje.</a:t>
            </a:r>
          </a:p>
        </p:txBody>
      </p:sp>
      <p:sp>
        <p:nvSpPr>
          <p:cNvPr id="15" name="Oval 14"/>
          <p:cNvSpPr/>
          <p:nvPr/>
        </p:nvSpPr>
        <p:spPr>
          <a:xfrm>
            <a:off x="6007608" y="3895343"/>
            <a:ext cx="164592" cy="16459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24044" y="228600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233F"/>
                </a:solidFill>
                <a:latin typeface="Calibri"/>
              </a:rPr>
              <a:t>2000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4044" y="265176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Python 2.0: listas por comprensión y recolector de basura.</a:t>
            </a:r>
          </a:p>
        </p:txBody>
      </p:sp>
      <p:sp>
        <p:nvSpPr>
          <p:cNvPr id="18" name="Oval 17"/>
          <p:cNvSpPr/>
          <p:nvPr/>
        </p:nvSpPr>
        <p:spPr>
          <a:xfrm>
            <a:off x="8650224" y="3895343"/>
            <a:ext cx="164592" cy="16459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6660" y="416052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233F"/>
                </a:solidFill>
                <a:latin typeface="Calibri"/>
              </a:rPr>
              <a:t>2008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6660" y="452628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Python 3.0 simplifica el lenguaje, aunque rompe compatibilidad.</a:t>
            </a:r>
          </a:p>
        </p:txBody>
      </p:sp>
      <p:sp>
        <p:nvSpPr>
          <p:cNvPr id="21" name="Oval 20"/>
          <p:cNvSpPr/>
          <p:nvPr/>
        </p:nvSpPr>
        <p:spPr>
          <a:xfrm>
            <a:off x="10981944" y="3895343"/>
            <a:ext cx="164592" cy="16459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28600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9A24B"/>
                </a:solidFill>
                <a:latin typeface="Calibri"/>
              </a:rPr>
              <a:t>Hoy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4312" y="265176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Python 3.x es el estándar: el lenguaje que usamos toda la cursada.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" y="457200"/>
            <a:ext cx="8814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ESTUDIO · 12 DE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Python hoy?</a:t>
            </a:r>
            <a:endParaRPr lang="en-US" sz="2800" dirty="0"/>
          </a:p>
        </p:txBody>
      </p:sp>
      <p:pic>
        <p:nvPicPr>
          <p:cNvPr id="6" name="Picture 5" descr="historia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45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C1F26"/>
                </a:solidFill>
                <a:latin typeface="Calibri"/>
              </a:rPr>
              <a:t>Más allá de ser fácil de aprender, Python es uno de los lenguajes más usados en varias áreas clave de la industria.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2514600" cy="32461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co_da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37033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6233F"/>
                </a:solidFill>
                <a:latin typeface="Calibri"/>
              </a:rPr>
              <a:t>Datos e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2057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Librerías como pandas, NumPy y PyTorch la convirtieron en el estándar para ciencia de datos e inteligencia artificial.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743200"/>
            <a:ext cx="2514600" cy="32461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co_w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2971800"/>
            <a:ext cx="594360" cy="594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57600" y="37033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6233F"/>
                </a:solidFill>
                <a:latin typeface="Calibri"/>
              </a:rPr>
              <a:t>Desarrollo web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160520"/>
            <a:ext cx="2057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Frameworks como Django y Flask permiten construir aplicaciones web completas.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2514600" cy="32461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co_au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297180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46520" y="37033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6233F"/>
                </a:solidFill>
                <a:latin typeface="Calibri"/>
              </a:rPr>
              <a:t>Automatización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160520"/>
            <a:ext cx="2057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Automatizar tareas repetitivas, procesar archivos, scrapear datos: uso diario en cualquier empresa.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2743200"/>
            <a:ext cx="2514600" cy="32461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co_ed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2971800"/>
            <a:ext cx="594360" cy="5943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0" y="37033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6233F"/>
                </a:solidFill>
                <a:latin typeface="Calibri"/>
              </a:rPr>
              <a:t>Educación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4160520"/>
            <a:ext cx="2057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Su sintaxis simple la convirtió en el lenguaje más elegido para enseñar a programar — por eso la usamos acá.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del TP carpeta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835640" cy="822960"/>
          </a:xfrm>
          <a:prstGeom prst="roundRect">
            <a:avLst>
              <a:gd name="adj" fmla="val 8889"/>
            </a:avLst>
          </a:prstGeom>
          <a:solidFill>
            <a:srgbClr val="E9F5EF"/>
          </a:solidFill>
          <a:ln w="12700">
            <a:solidFill>
              <a:srgbClr val="CFE8D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828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hoy, cada ejercicio resuelto en clase o propuesto en la guía de TP se agrega a tu carpeta de ejercicios: planteo + solución comentada.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0175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Modalidad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35661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Individual, con planteo y solución de cada ejercicio.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16552" y="278892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45152" y="30175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35661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soporte digital, subido al repositorio de GitHub de la cursada: github.com/coedomaximiliano/COL-PII-2026-2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93024" y="278892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16233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21624" y="30175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35661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6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10, al cierre de la Unidad 3.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3 · INTEGRADOR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sistema, los tres conceptos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835640" cy="822960"/>
          </a:xfrm>
          <a:prstGeom prst="roundRect">
            <a:avLst>
              <a:gd name="adj" fmla="val 8889"/>
            </a:avLst>
          </a:prstGeom>
          <a:solidFill>
            <a:srgbClr val="E9F5EF"/>
          </a:solidFill>
          <a:ln w="12700">
            <a:solidFill>
              <a:srgbClr val="CFE8D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828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Diseñá un sistema de figuras geométricas que combine abstracción (qué atributo importa), herencia (una clase base y subclases) y polimorfismo (cada una calcula su área a su manera).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236976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3154680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Definí la clase base FiguraGeometrica con un método area()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3666744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está creada Circulo — analizá cómo hereda y sobreescribe area()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14400" y="4178808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Creá la subclase Rectangulo con atributos base y altura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73168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14400" y="4690872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Sobreescribí area() en Rectangulo (base × altura)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285232"/>
            <a:ext cx="118872" cy="118872"/>
          </a:xfrm>
          <a:prstGeom prst="ellipse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14400" y="5202936"/>
            <a:ext cx="49377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Guardá varias figuras en una lista y recorrela llamando a .area() en cada una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2788920"/>
            <a:ext cx="5257800" cy="3429000"/>
          </a:xfrm>
          <a:prstGeom prst="roundRect">
            <a:avLst>
              <a:gd name="adj" fmla="val 2500"/>
            </a:avLst>
          </a:prstGeom>
          <a:solidFill>
            <a:srgbClr val="0E183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92240" y="29260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figuras.py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92240" y="3291840"/>
            <a:ext cx="484632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7F5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FiguraGeometrica:</a:t>
            </a:r>
            <a:endParaRPr lang="en-US" sz="1300" dirty="0"/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D7F5C9"/>
                </a:solidFill>
                <a:latin typeface="Consolas"/>
              </a:rPr>
              <a:t>    def area(self):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D7F5C9"/>
                </a:solidFill>
                <a:latin typeface="Consolas"/>
              </a:rPr>
              <a:t>        raise NotImplementedError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D7F5C9"/>
                </a:solidFill>
                <a:latin typeface="Consolas"/>
              </a:rPr>
              <a:t/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D7F5C9"/>
                </a:solidFill>
                <a:latin typeface="Consolas"/>
              </a:rPr>
              <a:t>class Circulo(FiguraGeometrica):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D7F5C9"/>
                </a:solidFill>
                <a:latin typeface="Consolas"/>
              </a:rPr>
              <a:t>    def __init__(self, radio):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D7F5C9"/>
                </a:solidFill>
                <a:latin typeface="Consolas"/>
              </a:rPr>
              <a:t>        self.radio = radio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D7F5C9"/>
                </a:solidFill>
                <a:latin typeface="Consolas"/>
              </a:rPr>
              <a:t>    def area(self):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D7F5C9"/>
                </a:solidFill>
                <a:latin typeface="Consolas"/>
              </a:rPr>
              <a:t>        return 3.14 * self.radio ** 2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D7F5C9"/>
                </a:solidFill>
                <a:latin typeface="Consolas"/>
              </a:rPr>
              <a:t># Tu turno: sumá Rectangulo y el resto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clave de la clase de hoy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1965960"/>
            <a:ext cx="54864" cy="1508760"/>
          </a:xfrm>
          <a:prstGeom prst="rect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4128" y="1938528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Abstracción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24128" y="2395728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qué atributos y comportamientos representar de una entidad real.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19088" y="1965960"/>
            <a:ext cx="54864" cy="1508760"/>
          </a:xfrm>
          <a:prstGeom prst="rect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01968" y="1938528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y objeto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01968" y="2395728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clase es el molde; el objeto, una instancia concreta de ese molde.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41248" y="4206240"/>
            <a:ext cx="54864" cy="1508760"/>
          </a:xfrm>
          <a:prstGeom prst="rect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24128" y="4178808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Herencia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4128" y="4636008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subclase reutiliza y extiende lo definido en su superclase.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397764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 w="12700">
            <a:solidFill>
              <a:srgbClr val="E1E4E9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419088" y="4206240"/>
            <a:ext cx="54864" cy="1508760"/>
          </a:xfrm>
          <a:prstGeom prst="rect">
            <a:avLst/>
          </a:prstGeom>
          <a:solidFill>
            <a:srgbClr val="C9A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601968" y="4178808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01968" y="4636008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método produce comportamientos distintos según el objeto.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0E183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3931920"/>
            <a:ext cx="4206240" cy="4206240"/>
          </a:xfrm>
          <a:prstGeom prst="ellipse">
            <a:avLst/>
          </a:prstGeom>
          <a:solidFill>
            <a:srgbClr val="0E183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 · SEMANA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— Clases y objetos en profundidad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Condicionales e iteradores aplicados a objetos. Desarrollo de clases. Variables de clase vs. variables de instancia.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114800"/>
            <a:ext cx="10515600" cy="0"/>
          </a:xfrm>
          <a:prstGeom prst="line">
            <a:avLst/>
          </a:prstGeom>
          <a:noFill/>
          <a:ln w="12700">
            <a:solidFill>
              <a:srgbClr val="2A3A5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3434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F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REPASAR ANTES DE LA PRÓXIMA CLASE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4645152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Repasá el ejercicio de la clase de hoy: lo vamos a extender en la próxima clase agregando más atributos.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II · UAI · Unidad 1 · Clase 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2026-08-10T13:05:21Z</dcterms:created>
  <dcterms:modified xsi:type="dcterms:W3CDTF">2026-08-10T13:05:21Z</dcterms:modified>
</cp:coreProperties>
</file>