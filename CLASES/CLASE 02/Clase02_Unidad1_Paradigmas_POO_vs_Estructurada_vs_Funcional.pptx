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8" r:id="rId10"/>
    <p:sldId id="272" r:id="rId11"/>
    <p:sldId id="269" r:id="rId12"/>
    <p:sldId id="262" r:id="rId13"/>
    <p:sldId id="263" r:id="rId14"/>
    <p:sldId id="270" r:id="rId15"/>
    <p:sldId id="271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6" autoAdjust="0"/>
    <p:restoredTop sz="95019" autoAdjust="0"/>
  </p:normalViewPr>
  <p:slideViewPr>
    <p:cSldViewPr snapToGrid="0" snapToObjects="1">
      <p:cViewPr varScale="1">
        <p:scale>
          <a:sx n="93" d="100"/>
          <a:sy n="93" d="100"/>
        </p:scale>
        <p:origin x="126" y="-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9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023360" cy="402336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10698480" y="4297680"/>
            <a:ext cx="1828800" cy="182880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INTRODUCCIÓN A PYTHON · SEMANA 2</a:t>
            </a:r>
            <a:endParaRPr lang="es-A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4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s-AR" sz="4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20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programación: POO vs.</a:t>
            </a:r>
            <a:endParaRPr lang="es-AR" sz="2000" noProof="0" dirty="0"/>
          </a:p>
          <a:p>
            <a:pPr marL="0" indent="0">
              <a:buNone/>
            </a:pPr>
            <a:r>
              <a:rPr lang="es-AR" sz="20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 vs. funcional</a:t>
            </a:r>
            <a:endParaRPr lang="es-AR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40%</a:t>
            </a:r>
            <a:endParaRPr lang="es-A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2990088" y="4709160"/>
            <a:ext cx="2203704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2990088" y="470916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60%</a:t>
            </a:r>
            <a:endParaRPr lang="es-A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5394960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0E1830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Text 11"/>
          <p:cNvSpPr/>
          <p:nvPr/>
        </p:nvSpPr>
        <p:spPr>
          <a:xfrm>
            <a:off x="5394960" y="470916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s-AR" sz="12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reloj</a:t>
            </a:r>
            <a:endParaRPr lang="es-A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CLASE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ver hoy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600" b="1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AR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5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paradigma?</a:t>
            </a:r>
            <a:endParaRPr lang="es-AR" sz="155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1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estilo o enfoque para pensar y organizar la solución de un problema</a:t>
            </a:r>
            <a:endParaRPr lang="es-A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600" b="1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A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5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Estructurada, Funcional y POO</a:t>
            </a:r>
            <a:endParaRPr lang="es-AR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1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paradigmas del curso, con código y cuándo conviene cada uno</a:t>
            </a:r>
            <a:endParaRPr lang="es-AR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600" b="1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AR" sz="2600" noProof="0" dirty="0"/>
          </a:p>
        </p:txBody>
      </p:sp>
      <p:sp>
        <p:nvSpPr>
          <p:cNvPr id="14" name="Text 12"/>
          <p:cNvSpPr/>
          <p:nvPr/>
        </p:nvSpPr>
        <p:spPr>
          <a:xfrm>
            <a:off x="86868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5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pensar</a:t>
            </a:r>
            <a:endParaRPr lang="es-AR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1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a lo largo de la clase para debatir en grupo antes de seguir</a:t>
            </a:r>
            <a:endParaRPr lang="es-AR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Text 15"/>
          <p:cNvSpPr/>
          <p:nvPr/>
        </p:nvSpPr>
        <p:spPr>
          <a:xfrm>
            <a:off x="6446520" y="4160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600" b="1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AR" sz="2600" noProof="0" dirty="0"/>
          </a:p>
        </p:txBody>
      </p:sp>
      <p:sp>
        <p:nvSpPr>
          <p:cNvPr id="18" name="Text 16"/>
          <p:cNvSpPr/>
          <p:nvPr/>
        </p:nvSpPr>
        <p:spPr>
          <a:xfrm>
            <a:off x="6446520" y="4754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55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ejercicios prácticos</a:t>
            </a:r>
            <a:endParaRPr lang="es-AR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6446520" y="52120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1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reescribir e integrar los tres paradigmas en un mismo problema</a:t>
            </a:r>
            <a:endParaRPr lang="es-AR" sz="115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1 DE 5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paradigma de programación?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AR" sz="14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modelo o estilo que define cómo se piensa, organiza y estructura una solución en código: qué unidad básica se usa (instrucción, función u objeto) y cómo se relacionan entre sí.</a:t>
            </a:r>
            <a:endParaRPr lang="es-AR" sz="145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AR" sz="900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3520440" cy="3566160"/>
          </a:xfrm>
          <a:prstGeom prst="roundRect">
            <a:avLst>
              <a:gd name="adj" fmla="val 3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17" name="Picture 16" descr="estructu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98648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352044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1500" b="1" i="0" noProof="0" dirty="0">
                <a:solidFill>
                  <a:srgbClr val="16233F"/>
                </a:solidFill>
                <a:latin typeface="Calibri"/>
              </a:rPr>
              <a:t>Estructurada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67912"/>
            <a:ext cx="3063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AR" sz="1150" b="0" i="0" noProof="0" dirty="0">
                <a:solidFill>
                  <a:srgbClr val="5B6472"/>
                </a:solidFill>
                <a:latin typeface="Calibri"/>
              </a:rPr>
              <a:t>Secuencia, condicionales y bucles que operan sobre un estado compartido.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2628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if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promedio &gt;= 7: aprobado = 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7492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for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n in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numeros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: total += 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62356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def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sumar(a, b):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return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a +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2697480"/>
            <a:ext cx="3520440" cy="3566160"/>
          </a:xfrm>
          <a:prstGeom prst="roundRect">
            <a:avLst>
              <a:gd name="adj" fmla="val 3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24" name="Picture 23" descr="func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898648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45152" y="352044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1500" b="1" i="0" noProof="0" dirty="0">
                <a:solidFill>
                  <a:srgbClr val="16233F"/>
                </a:solidFill>
                <a:latin typeface="Calibri"/>
              </a:rPr>
              <a:t>Funcional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867912"/>
            <a:ext cx="3063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AR" sz="1150" b="0" i="0" noProof="0" dirty="0">
                <a:solidFill>
                  <a:srgbClr val="5B6472"/>
                </a:solidFill>
                <a:latin typeface="Calibri"/>
              </a:rPr>
              <a:t>Funciones puras que transforman datos sin modificar variables externas.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452628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cuadrado = lambda x: x **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507492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pares =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list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(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filter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(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es_par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,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nums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))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562356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mayus = [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p.upper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()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for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p in lista]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2697480"/>
            <a:ext cx="3520440" cy="3566160"/>
          </a:xfrm>
          <a:prstGeom prst="roundRect">
            <a:avLst>
              <a:gd name="adj" fmla="val 35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0" dirty="0"/>
          </a:p>
        </p:txBody>
      </p:sp>
      <p:pic>
        <p:nvPicPr>
          <p:cNvPr id="31" name="Picture 30" descr="po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898648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21624" y="352044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AR" sz="1500" b="1" i="0" noProof="0" dirty="0">
                <a:solidFill>
                  <a:srgbClr val="C9A24B"/>
                </a:solidFill>
                <a:latin typeface="Calibri"/>
              </a:rPr>
              <a:t>Orientada a objetos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3867912"/>
            <a:ext cx="3063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AR" sz="1150" b="0" i="0" noProof="0" dirty="0">
                <a:solidFill>
                  <a:srgbClr val="E6E9EF"/>
                </a:solidFill>
                <a:latin typeface="Calibri"/>
              </a:rPr>
              <a:t>Objetos que combinan datos (atributos) y comportamiento (métodos).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21624" y="452628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class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Perro: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21624" y="507492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   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def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ladrar(</a:t>
            </a:r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self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): ...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21624" y="5623560"/>
            <a:ext cx="3063240" cy="438912"/>
          </a:xfrm>
          <a:prstGeom prst="roundRect">
            <a:avLst>
              <a:gd name="adj" fmla="val 14000"/>
            </a:avLst>
          </a:prstGeom>
          <a:solidFill>
            <a:srgbClr val="0E183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lang="es-AR" sz="950" noProof="0" dirty="0" err="1">
                <a:solidFill>
                  <a:srgbClr val="D7F5C9"/>
                </a:solidFill>
                <a:latin typeface="Consolas"/>
              </a:rPr>
              <a:t>mi_perro</a:t>
            </a:r>
            <a:r>
              <a:rPr lang="es-AR" sz="950" noProof="0" dirty="0">
                <a:solidFill>
                  <a:srgbClr val="D7F5C9"/>
                </a:solidFill>
                <a:latin typeface="Consolas"/>
              </a:rPr>
              <a:t> = Perro("Rex")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DISPARADORA</a:t>
            </a:r>
            <a:endParaRPr lang="es-AR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¿Antes de programar, </a:t>
            </a:r>
            <a:r>
              <a:rPr lang="es-AR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pensás</a:t>
            </a: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pasos, funciones u objetos?</a:t>
            </a:r>
            <a:endParaRPr lang="es-A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respuesta incorrecta: la forma en la que </a:t>
            </a:r>
            <a:r>
              <a:rPr lang="es-AR" sz="1500" noProof="0" dirty="0" err="1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pensás</a:t>
            </a:r>
            <a:r>
              <a:rPr lang="es-AR" sz="15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problema ya anticipa qué paradigma te va a resultar más natural.</a:t>
            </a:r>
            <a:endParaRPr lang="es-A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TRABAJARLA</a:t>
            </a:r>
            <a:endParaRPr lang="es-A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 minutos. Después compartimos 2 o 3 respuestas en voz alta antes de ver los paradigmas en detalle.</a:t>
            </a:r>
            <a:endParaRPr lang="es-A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2 DE 5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estructurada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3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código en secuencia, selección (</a:t>
            </a:r>
            <a:r>
              <a:rPr lang="es-AR" sz="135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es-AR" sz="13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AR" sz="135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r>
              <a:rPr lang="es-AR" sz="13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iteración (bucles), agrupando instrucciones en funciones que se llaman entre sí. El flujo de control es explícito y lineal.</a:t>
            </a:r>
            <a:endParaRPr lang="es-AR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A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3392424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seguir el flujo de ejecución</a:t>
            </a:r>
            <a:endParaRPr lang="es-A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para problemas pequeños y lineales</a:t>
            </a:r>
            <a:endParaRPr lang="es-A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 de aprendizaje</a:t>
            </a:r>
            <a:endParaRPr lang="es-A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s-A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5084064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50017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se comparte entre funciones: efectos colaterales</a:t>
            </a:r>
            <a:endParaRPr lang="es-A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5468112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Text 14"/>
          <p:cNvSpPr/>
          <p:nvPr/>
        </p:nvSpPr>
        <p:spPr>
          <a:xfrm>
            <a:off x="914400" y="53858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escalar en proyectos grandes</a:t>
            </a:r>
            <a:endParaRPr lang="es-A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Text 16"/>
          <p:cNvSpPr/>
          <p:nvPr/>
        </p:nvSpPr>
        <p:spPr>
          <a:xfrm>
            <a:off x="914400" y="57698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reutilización de código</a:t>
            </a:r>
            <a:endParaRPr lang="es-A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Text 18"/>
          <p:cNvSpPr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noProof="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promedio.py</a:t>
            </a:r>
            <a:endParaRPr lang="es-A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649224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leer_notas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[7, 8, 6, 9]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sum(notas) /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mostrar_resultado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(promedio):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{promedio}")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leer_notas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mostrar_resultado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A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3 DE 5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funcional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3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el cómputo como la evaluación de funciones matemáticas. Evita cambiar estado y datos mutables: cada función recibe datos y devuelve un resultado nuevo, sin efectos colaterales.</a:t>
            </a:r>
            <a:endParaRPr lang="es-AR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A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3392424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predecibles: mismo input, mismo output</a:t>
            </a:r>
            <a:endParaRPr lang="es-A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fácil de testear y de paralelizar</a:t>
            </a:r>
            <a:endParaRPr lang="es-A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 por estado compartido</a:t>
            </a:r>
            <a:endParaRPr lang="es-A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s-A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5084064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50017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más alta al principio</a:t>
            </a:r>
            <a:endParaRPr lang="es-A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5468112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Text 14"/>
          <p:cNvSpPr/>
          <p:nvPr/>
        </p:nvSpPr>
        <p:spPr>
          <a:xfrm>
            <a:off x="914400" y="53858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menos eficiente en memoria</a:t>
            </a:r>
            <a:endParaRPr lang="es-A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Text 16"/>
          <p:cNvSpPr/>
          <p:nvPr/>
        </p:nvSpPr>
        <p:spPr>
          <a:xfrm>
            <a:off x="914400" y="57698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es intuitiva para modelar objetos del mundo real</a:t>
            </a:r>
            <a:endParaRPr lang="es-A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Text 18"/>
          <p:cNvSpPr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noProof="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promedio_funcional.py</a:t>
            </a:r>
            <a:endParaRPr lang="es-A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649224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[7, 8, 6, 9]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lambda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sum(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= lambda p: 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{p}")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mostrar(</a:t>
            </a:r>
            <a:r>
              <a:rPr lang="es-AR" sz="120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r>
              <a:rPr lang="es-AR" sz="120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</a:t>
            </a:r>
            <a:endParaRPr lang="es-A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4 DE 5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 (POO)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3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el problema como un conjunto de objetos que combinan datos (atributos) y comportamiento (métodos), y que colaboran entre sí. Es el paradigma que vamos a usar en el resto de la cursada.</a:t>
            </a:r>
            <a:endParaRPr lang="es-AR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A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3392424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problemas del mundo real de forma intuitiva</a:t>
            </a:r>
            <a:endParaRPr lang="es-A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datos y protege el estado interno</a:t>
            </a:r>
            <a:endParaRPr lang="es-A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18872" cy="11887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la reutilización mediante herencia</a:t>
            </a:r>
            <a:endParaRPr lang="es-A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b="1" kern="0" spc="100" noProof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s-A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5084064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50017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código de base (</a:t>
            </a:r>
            <a:r>
              <a:rPr lang="es-AR" sz="120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casos simples</a:t>
            </a:r>
            <a:endParaRPr lang="es-A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5468112"/>
            <a:ext cx="118872" cy="118872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Text 14"/>
          <p:cNvSpPr/>
          <p:nvPr/>
        </p:nvSpPr>
        <p:spPr>
          <a:xfrm>
            <a:off x="914400" y="53858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clases mal pensado complica el mantenimiento</a:t>
            </a:r>
            <a:endParaRPr lang="es-AR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noProof="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promedio_poo.py</a:t>
            </a:r>
            <a:endParaRPr lang="es-AR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649224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Boletin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__(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notas):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self.notas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notas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promedio(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self.notas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self.notas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Boletin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([7, 8, 6, 9])</a:t>
            </a:r>
            <a:endParaRPr lang="es-AR" sz="1200" noProof="0" dirty="0"/>
          </a:p>
          <a:p>
            <a:pPr marL="0" indent="0">
              <a:lnSpc>
                <a:spcPct val="130000"/>
              </a:lnSpc>
              <a:buNone/>
            </a:pP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f"Promedio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r>
              <a:rPr lang="es-AR" sz="1200" noProof="0" dirty="0" err="1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b.promedio</a:t>
            </a:r>
            <a:r>
              <a:rPr lang="es-AR" sz="1200" noProof="0" dirty="0">
                <a:solidFill>
                  <a:srgbClr val="F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()}")</a:t>
            </a:r>
            <a:endParaRPr lang="es-A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 · 5 DE 5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cada paradigma?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AR" sz="14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paradigma "mejor": cada uno resuelve mejor cierto tipo de problema. Estas son señales para elegir con criterio.</a:t>
            </a:r>
            <a:endParaRPr lang="es-AR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s-A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cuando el problema es lineal y acotado: scripts cortos, cálculos puntuales, automatizaciones simples.</a:t>
            </a:r>
            <a:endParaRPr lang="es-AR" sz="1250" noProof="0" dirty="0"/>
          </a:p>
        </p:txBody>
      </p:sp>
      <p:sp>
        <p:nvSpPr>
          <p:cNvPr id="8" name="Shape 6"/>
          <p:cNvSpPr/>
          <p:nvPr/>
        </p:nvSpPr>
        <p:spPr>
          <a:xfrm>
            <a:off x="4416552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4645152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s-A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4645152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cuando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necesitás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transformar datos de forma predecible: procesamiento de listas, pipelines, cálculos sin efectos colaterales.</a:t>
            </a:r>
            <a:endParaRPr lang="es-AR" sz="1250" noProof="0" dirty="0"/>
          </a:p>
        </p:txBody>
      </p:sp>
      <p:sp>
        <p:nvSpPr>
          <p:cNvPr id="11" name="Shape 9"/>
          <p:cNvSpPr/>
          <p:nvPr/>
        </p:nvSpPr>
        <p:spPr>
          <a:xfrm>
            <a:off x="8193024" y="278892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2" name="Text 10"/>
          <p:cNvSpPr/>
          <p:nvPr/>
        </p:nvSpPr>
        <p:spPr>
          <a:xfrm>
            <a:off x="8421624" y="3017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objetos</a:t>
            </a:r>
            <a:endParaRPr lang="es-A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8421624" y="361188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s-AR" sz="1250" noProof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cuando el problema tiene entidades con estado propio que interactúan entre sí: sistemas completos y la mayoría de los proyectos reales — por eso es el que vamos a usar en la cursada.</a:t>
            </a:r>
            <a:endParaRPr lang="es-AR" sz="125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DISPARADORA</a:t>
            </a:r>
            <a:endParaRPr lang="es-AR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paradigma </a:t>
            </a:r>
            <a:r>
              <a:rPr lang="es-AR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imaginás</a:t>
            </a: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detrás de Spotify o Instagram?</a:t>
            </a:r>
            <a:endParaRPr lang="es-A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noProof="0" dirty="0" err="1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</a:t>
            </a:r>
            <a:r>
              <a:rPr lang="es-AR" sz="15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dos partes distintas de la app: cómo se guardan tus datos (usuario, canciones, playlists) y cómo se arma la lógica que las conecta.</a:t>
            </a:r>
            <a:endParaRPr lang="es-A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TRABAJARLA</a:t>
            </a:r>
            <a:endParaRPr lang="es-A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app que usen todos los días y discutan qué paradigma predomina en cada parte. Compartimos antes de pasar a los ejercicios.</a:t>
            </a:r>
            <a:endParaRPr lang="es-A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potify: Music and Podcasts - Apps on Google Play">
            <a:extLst>
              <a:ext uri="{FF2B5EF4-FFF2-40B4-BE49-F238E27FC236}">
                <a16:creationId xmlns:a16="http://schemas.microsoft.com/office/drawing/2014/main" id="{518B67BB-2419-0FDF-A64A-DE2606D9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9" y="261629"/>
            <a:ext cx="11257006" cy="633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9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en el mundo real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s-AR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de estas tres situaciones y discutan qué paradigma usarían y por qué. Anoten 2 o 3 razones para defenderlo frente al resto del curso.</a:t>
            </a:r>
            <a:endParaRPr lang="es-A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</a:t>
            </a:r>
            <a:endParaRPr lang="es-AR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2788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bancario que maneja cuentas, saldos y transferencias entre usuarios.</a:t>
            </a:r>
            <a:endParaRPr lang="es-A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</a:t>
            </a:r>
            <a:endParaRPr lang="es-AR" sz="1350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calculadora científica que solo transforma números en otros números.</a:t>
            </a:r>
            <a:endParaRPr lang="es-A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C</a:t>
            </a:r>
            <a:endParaRPr lang="es-A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3383280" y="46177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que renombra 200 archivos de una carpeta según una regla fija.</a:t>
            </a:r>
            <a:endParaRPr lang="es-A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50" i="1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s-AR" sz="1150" i="1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</a:t>
            </a:r>
            <a:r>
              <a:rPr lang="es-AR" sz="1150" i="1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el problema tiene "estado" (algo que cambia y se recuerda) o es puramente una transformación de datos.</a:t>
            </a:r>
            <a:endParaRPr lang="es-A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paradigma es cada fragmento?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s-AR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5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Observá</a:t>
            </a:r>
            <a:r>
              <a:rPr lang="es-AR" sz="12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tres fragmentos vistos en la clase (estructurado, funcional y POO) e </a:t>
            </a:r>
            <a:r>
              <a:rPr lang="es-AR" sz="125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identificá</a:t>
            </a:r>
            <a:r>
              <a:rPr lang="es-AR" sz="12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características de cada uno que te permitan reconocer el paradigma sin ver el código completo.</a:t>
            </a:r>
            <a:endParaRPr lang="es-A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s-AR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2788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funciones que se llaman entre sí, sin agrupar datos y comportamiento.</a:t>
            </a:r>
            <a:endParaRPr lang="es-A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s-AR" sz="1350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lambda / funciones puras, sin modificar variables externas.</a:t>
            </a:r>
            <a:endParaRPr lang="es-A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s-A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3383280" y="46177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de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métodos que operan sobre atributos propios.</a:t>
            </a:r>
            <a:endParaRPr lang="es-A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50" i="1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referencia: </a:t>
            </a:r>
            <a:r>
              <a:rPr lang="es-AR" sz="1150" i="1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completá</a:t>
            </a:r>
            <a:r>
              <a:rPr lang="es-AR" sz="1150" i="1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 tabla con tus propias palabras antes de la puesta en común.</a:t>
            </a:r>
            <a:endParaRPr lang="es-A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INDIVIDUAL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estructurado a POO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s-AR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Reescribí el siguiente fragmento estructurado a programación orientada a objetos.</a:t>
            </a:r>
            <a:endParaRPr lang="es-A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noProof="0" dirty="0">
                <a:solidFill>
                  <a:srgbClr val="8F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original.py</a:t>
            </a:r>
            <a:endParaRPr lang="es-A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duplicar(</a:t>
            </a: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[]</a:t>
            </a: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in </a:t>
            </a: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resultado.append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* 2)</a:t>
            </a: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</a:t>
            </a: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endParaRPr lang="es-AR" sz="1250" noProof="0" dirty="0"/>
          </a:p>
          <a:p>
            <a:pPr marL="0" indent="0">
              <a:lnSpc>
                <a:spcPct val="135000"/>
              </a:lnSpc>
              <a:buNone/>
            </a:pPr>
            <a:r>
              <a:rPr lang="es-AR" sz="1250" noProof="0" dirty="0" err="1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s-AR" sz="1250" noProof="0" dirty="0">
                <a:solidFill>
                  <a:srgbClr val="D7F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(duplicar([1, 2, 3, 4]))</a:t>
            </a:r>
            <a:endParaRPr lang="es-A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noProof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tu_solución.py</a:t>
            </a:r>
            <a:endParaRPr lang="es-AR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</a:pP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Duplicador:    </a:t>
            </a:r>
          </a:p>
          <a:p>
            <a:pPr>
              <a:lnSpc>
                <a:spcPct val="135000"/>
              </a:lnSpc>
            </a:pP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__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__(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numeros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  </a:t>
            </a:r>
          </a:p>
          <a:p>
            <a:pPr>
              <a:lnSpc>
                <a:spcPct val="135000"/>
              </a:lnSpc>
            </a:pP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self.numeros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numeros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>
              <a:lnSpc>
                <a:spcPct val="135000"/>
              </a:lnSpc>
            </a:pP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duplicar(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  </a:t>
            </a:r>
          </a:p>
          <a:p>
            <a:pPr>
              <a:lnSpc>
                <a:spcPct val="135000"/>
              </a:lnSpc>
            </a:pP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[n * 2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n in </a:t>
            </a:r>
            <a:r>
              <a:rPr lang="es-AR" sz="1250" i="1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self.numeros</a:t>
            </a:r>
            <a:r>
              <a:rPr lang="es-AR" sz="12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s-AR" sz="125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DISPARADORA</a:t>
            </a:r>
            <a:endParaRPr lang="es-AR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videojuego final: ¿qué paradigma elegís para armarlo?</a:t>
            </a:r>
            <a:endParaRPr lang="es-A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noProof="0" dirty="0" err="1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Pensalo</a:t>
            </a:r>
            <a:r>
              <a:rPr lang="es-AR" sz="15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partes: el personaje (con vida, posición e inventario) no es lo mismo que la función que calcula el daño de un golpe.</a:t>
            </a:r>
            <a:endParaRPr lang="es-A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TRABAJARLA</a:t>
            </a:r>
            <a:endParaRPr lang="es-A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2 minutos para pensarlo. Lo retomamos en el ejercicio integrador que sigue.</a:t>
            </a:r>
            <a:endParaRPr lang="es-A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· INTEGRADOR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problema, tres paradigmas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9F5EF"/>
          </a:solidFill>
          <a:ln w="12700">
            <a:solidFill>
              <a:srgbClr val="CFE8D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s-AR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un problema simple (por ejemplo: gestionar una lista de tareas con agregar, completar y listar pendientes) y </a:t>
            </a:r>
            <a:r>
              <a:rPr lang="es-AR" sz="1250" noProof="0" dirty="0" err="1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resolvelo</a:t>
            </a:r>
            <a:r>
              <a:rPr lang="es-AR" sz="1250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tres veces, una por paradigma.</a:t>
            </a:r>
            <a:endParaRPr lang="es-A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Estructurada</a:t>
            </a:r>
            <a:endParaRPr lang="es-AR" sz="1350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2788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Escribirlo con funciones que operan sobre una lista compartida, sin agrupar datos y comportamiento.</a:t>
            </a:r>
            <a:endParaRPr lang="es-AR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Funcional</a:t>
            </a:r>
            <a:endParaRPr lang="es-AR" sz="1350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Escribirlo sin modificar variables externas: funciones puras y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AR" sz="1250" noProof="0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2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3564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5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POO</a:t>
            </a:r>
            <a:endParaRPr lang="es-A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3383280" y="46177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Escribirlo como una clase que encapsula la lista de tareas y expone métodos para manejarla.</a:t>
            </a:r>
            <a:endParaRPr lang="es-A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50" i="1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¿cuál te resultó más natural para este problema? ¿Cuál usarías si el proyecto creciera a 10.000 líneas de código?</a:t>
            </a:r>
            <a:endParaRPr lang="es-AR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3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s-A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2800" b="1" noProof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clave de la clase de hoy</a:t>
            </a:r>
            <a:endParaRPr lang="es-A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4"/>
          <p:cNvSpPr/>
          <p:nvPr/>
        </p:nvSpPr>
        <p:spPr>
          <a:xfrm>
            <a:off x="102412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6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s-A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02412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que define cómo se organiza el código: instrucciones, funciones u objetos.</a:t>
            </a:r>
            <a:endParaRPr lang="es-AR" sz="1250" noProof="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Shape 7"/>
          <p:cNvSpPr/>
          <p:nvPr/>
        </p:nvSpPr>
        <p:spPr>
          <a:xfrm>
            <a:off x="6419088" y="196596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0" name="Text 8"/>
          <p:cNvSpPr/>
          <p:nvPr/>
        </p:nvSpPr>
        <p:spPr>
          <a:xfrm>
            <a:off x="6601968" y="19385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6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s-A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6601968" y="239572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Secuencia, selección e iteración organizadas en funciones que comparten estado.</a:t>
            </a:r>
            <a:endParaRPr lang="es-AR" sz="1250" noProof="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Shape 11"/>
          <p:cNvSpPr/>
          <p:nvPr/>
        </p:nvSpPr>
        <p:spPr>
          <a:xfrm>
            <a:off x="84124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2"/>
          <p:cNvSpPr/>
          <p:nvPr/>
        </p:nvSpPr>
        <p:spPr>
          <a:xfrm>
            <a:off x="102412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6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s-A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02412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puras sin efectos colaterales; predecibles y fáciles de testear.</a:t>
            </a:r>
            <a:endParaRPr lang="es-AR" sz="1250" noProof="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Shape 15"/>
          <p:cNvSpPr/>
          <p:nvPr/>
        </p:nvSpPr>
        <p:spPr>
          <a:xfrm>
            <a:off x="6419088" y="4206240"/>
            <a:ext cx="54864" cy="1508760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Text 16"/>
          <p:cNvSpPr/>
          <p:nvPr/>
        </p:nvSpPr>
        <p:spPr>
          <a:xfrm>
            <a:off x="6601968" y="41788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600" b="1" noProof="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s-AR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6601968" y="4636008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AR" sz="125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que combinan datos y comportamiento; el paradigma central de la materia.</a:t>
            </a:r>
            <a:endParaRPr lang="es-AR" sz="125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kern="0" spc="200" noProof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· SEMANA 3</a:t>
            </a:r>
            <a:endParaRPr lang="es-AR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Abstracción, objetos y herencia</a:t>
            </a:r>
            <a:endParaRPr lang="es-A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AR" sz="1500" noProof="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datos, objetos, clases, herencia y polimorfismo. Historia y evolución de Python. Apertura del TP carpeta.</a:t>
            </a:r>
            <a:endParaRPr lang="es-A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050" b="1" kern="0" spc="100" noProof="0" dirty="0">
                <a:solidFill>
                  <a:srgbClr val="8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REPASAR ANTES DE LA PRÓXIMA CLASE</a:t>
            </a:r>
            <a:endParaRPr lang="es-AR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645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250" noProof="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Matthes — "Python Crash Course", capítulo sobre clases (introducción a POO).</a:t>
            </a:r>
            <a:endParaRPr lang="es-A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II · UAI · Unidad 1 · Clase 2</a:t>
            </a:r>
            <a:endParaRPr lang="es-AR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AR" sz="900" noProof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s-AR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1794</Words>
  <Application>Microsoft Office PowerPoint</Application>
  <PresentationFormat>Panorámica</PresentationFormat>
  <Paragraphs>234</Paragraphs>
  <Slides>17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coedo</cp:lastModifiedBy>
  <cp:revision>3</cp:revision>
  <dcterms:created xsi:type="dcterms:W3CDTF">2026-08-10T05:47:39Z</dcterms:created>
  <dcterms:modified xsi:type="dcterms:W3CDTF">2026-08-20T03:26:48Z</dcterms:modified>
</cp:coreProperties>
</file>