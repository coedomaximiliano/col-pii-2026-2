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8"/>
    <p:sldId id="260" r:id="rId6"/>
    <p:sldId id="261" r:id="rId7"/>
    <p:sldId id="263" r:id="rId9"/>
    <p:sldId id="266" r:id="rId17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5.xml"/><Relationship Id="rId9" Type="http://schemas.openxmlformats.org/officeDocument/2006/relationships/slide" Target="slides/slide8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0E1830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480560"/>
            <a:ext cx="4023360" cy="4023360"/>
          </a:xfrm>
          <a:prstGeom prst="ellipse">
            <a:avLst/>
          </a:prstGeom>
          <a:solidFill>
            <a:srgbClr val="0E1830"/>
          </a:solidFill>
          <a:ln/>
        </p:spPr>
      </p:sp>
      <p:sp>
        <p:nvSpPr>
          <p:cNvPr id="4" name="Shape 2"/>
          <p:cNvSpPr/>
          <p:nvPr/>
        </p:nvSpPr>
        <p:spPr>
          <a:xfrm>
            <a:off x="10698480" y="4297680"/>
            <a:ext cx="1828800" cy="182880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2 · CLASES Y OBJETOS · SEMANA 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5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97840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7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Constructores y destructores.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C7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Herencia simple y herencia múltiple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22960" y="4709160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0E1830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7091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40%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990088" y="4709160"/>
            <a:ext cx="2203704" cy="457200"/>
          </a:xfrm>
          <a:prstGeom prst="roundRect">
            <a:avLst>
              <a:gd name="adj" fmla="val 50000"/>
            </a:avLst>
          </a:prstGeom>
          <a:solidFill>
            <a:srgbClr val="0E1830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90088" y="4709160"/>
            <a:ext cx="22037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60%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94960" y="4709160"/>
            <a:ext cx="2084832" cy="457200"/>
          </a:xfrm>
          <a:prstGeom prst="roundRect">
            <a:avLst>
              <a:gd name="adj" fmla="val 50000"/>
            </a:avLst>
          </a:prstGeom>
          <a:solidFill>
            <a:srgbClr val="0E1830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0" y="470916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hs. reloj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II · UAI · Unidad 2 · Clase 5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II · UAI · Unidad 2 · Clase 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DE LA CLASE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vamos a ver hoy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4F5F7"/>
          </a:solidFill>
          <a:ln w="12700">
            <a:solidFill>
              <a:srgbClr val="E1E4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92024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7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68680" y="251460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Constructores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68680" y="297180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__init__ y la inicialización de un objeto al crearlo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73736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4F5F7"/>
          </a:solidFill>
          <a:ln w="12700">
            <a:solidFill>
              <a:srgbClr val="E1E4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92024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7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446520" y="251460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Destructores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446520" y="297180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__del__ y qué pasa cuando un objeto deja de usarse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97764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4F5F7"/>
          </a:solidFill>
          <a:ln w="12700">
            <a:solidFill>
              <a:srgbClr val="E1E4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16052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7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68680" y="475488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Herencia simple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68680" y="521208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clase que extiende a una única superclase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17920" y="397764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4F5F7"/>
          </a:solidFill>
          <a:ln w="12700">
            <a:solidFill>
              <a:srgbClr val="E1E4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416052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7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446520" y="475488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Herencia múltiple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446520" y="521208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clase que combina comportamiento de varias superclases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II · UAI · Unidad 2 · Clase 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 ESTUDIO · 1 DE 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constructor __init__ se ejecuta automáticamente al crear un objeto. Sirve para inicializar sus atributos, y puede recibir parámetros con valores por defecto.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3191256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1089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llama solo al crear el objeto, una vez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739896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6576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tener parámetros con valores por defecto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288536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20624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lugar habitual para validar datos iniciales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63640" y="1691640"/>
            <a:ext cx="5257800" cy="4023360"/>
          </a:xfrm>
          <a:prstGeom prst="roundRect">
            <a:avLst>
              <a:gd name="adj" fmla="val 1818"/>
            </a:avLst>
          </a:prstGeom>
          <a:solidFill>
            <a:srgbClr val="0E1830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82880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empleado.py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2148840"/>
            <a:ext cx="4800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Empleado: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nombre, cargo="Analista"):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self.nombre = nombre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self.cargo = cargo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print(f"Alta de {self.nombre}")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e1 = Empleado("Marta")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e2 = Empleado("Iván", "Líder técnico")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II · UAI · Unidad 2 · Clase 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 ESTUDIO · 2 DE 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Destructores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destructor __del__ se ejecuta cuando el objeto va a ser eliminado de memoria, generalmente por el recolector de basura de Python. Se usa poco y con cuidado: no siempre es predecible cuándo se dispara.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3191256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1089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ejecuta al liberarse el objeto de memoria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739896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6576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Útil para liberar recursos externos (archivos, conexiones)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288536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20624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momento exacto de ejecución no está garantizado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63640" y="1691640"/>
            <a:ext cx="5257800" cy="4023360"/>
          </a:xfrm>
          <a:prstGeom prst="roundRect">
            <a:avLst>
              <a:gd name="adj" fmla="val 1818"/>
            </a:avLst>
          </a:prstGeom>
          <a:solidFill>
            <a:srgbClr val="0E1830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82880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conexion.py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2148840"/>
            <a:ext cx="4800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Conexion: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servidor):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self.servidor = servidor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print(f"Conectando a {servidor}")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__del__(self):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print(f"Cerrando conexión a {self.servidor}")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Conexion("db01")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 c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II · UAI · Unidad 2 · Clase 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1 · INDIVIDUAL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 y destructor con mensajes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10835640" cy="822960"/>
          </a:xfrm>
          <a:prstGeom prst="roundRect">
            <a:avLst>
              <a:gd name="adj" fmla="val 8889"/>
            </a:avLst>
          </a:prstGeom>
          <a:solidFill>
            <a:srgbClr val="E9F5EF"/>
          </a:solidFill>
          <a:ln w="12700">
            <a:solidFill>
              <a:srgbClr val="CFE8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28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CONSIGNA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Implementá una clase ArchivoTemporal que imprima un mensaje al crearse y otro al eliminarse, simulando la apertura y el cierre de un recurso.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236976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154680"/>
            <a:ext cx="49377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Definí __init__ con un atributo nombre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749040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666744"/>
            <a:ext cx="49377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__init__, imprimí que el archivo se abrió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261104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178808"/>
            <a:ext cx="49377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Definí __del__ con un mensaje de cierre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773168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690872"/>
            <a:ext cx="49377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Creá un objeto y luego eliminalo con del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5285232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5202936"/>
            <a:ext cx="49377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Observá el orden en que se imprimen los mensajes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63640" y="2788920"/>
            <a:ext cx="5257800" cy="2926080"/>
          </a:xfrm>
          <a:prstGeom prst="roundRect">
            <a:avLst>
              <a:gd name="adj" fmla="val 2500"/>
            </a:avLst>
          </a:prstGeom>
          <a:solidFill>
            <a:srgbClr val="0E1830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29260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archivo_temp.py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92240" y="3291840"/>
            <a:ext cx="48463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ArchivoTemporal: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nombre):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self.nombre = nombre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completar mensaje de apertura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__del__(self):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completar mensaje de cierre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pass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II · UAI · Unidad 2 · Clase 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 ESTUDIO · 3 DE 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Herencia simple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subclase extiende una única superclase. Con super() podemos llamar a la implementación de la superclase y luego agregar comportamiento propio, en vez de reescribirla desde cero.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3191256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1089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subclase, una única superclase directa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739896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6576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super().__init__() reutiliza el constructor del padre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288536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20624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subclase puede agregar o sobrescribir métodos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63640" y="1691640"/>
            <a:ext cx="5257800" cy="4023360"/>
          </a:xfrm>
          <a:prstGeom prst="roundRect">
            <a:avLst>
              <a:gd name="adj" fmla="val 1818"/>
            </a:avLst>
          </a:prstGeom>
          <a:solidFill>
            <a:srgbClr val="0E1830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82880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empleados.py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2148840"/>
            <a:ext cx="4800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Empleado: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nombre):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self.nombre = nombre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Gerente(Empleado):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nombre, area):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super().__init__(nombre)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self.area = area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II · UAI · Unidad 2 · Clase 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 ESTUDIO · 4 DE 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Herencia simple vs. herencia múltiple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Python, una clase puede heredar de más de una superclase a la vez. El orden en que se declaran define el orden de resolución de métodos (MRO).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148840"/>
            <a:ext cx="10835640" cy="411480"/>
          </a:xfrm>
          <a:prstGeom prst="roundRect">
            <a:avLst>
              <a:gd name="adj" fmla="val 11111"/>
            </a:avLst>
          </a:prstGeom>
          <a:solidFill>
            <a:srgbClr val="16233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1488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023360" y="21488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0" y="214884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560320"/>
            <a:ext cx="108356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56032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Superclases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023360" y="256032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clase padre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0" y="2560320"/>
            <a:ext cx="3794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o más clases padre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429000"/>
            <a:ext cx="10835640" cy="868680"/>
          </a:xfrm>
          <a:prstGeom prst="rect">
            <a:avLst/>
          </a:prstGeom>
          <a:solidFill>
            <a:srgbClr val="F4F5F7"/>
          </a:solidFill>
          <a:ln w="9525">
            <a:solidFill>
              <a:srgbClr val="E1E4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42900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Declaración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023360" y="342900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B(A):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0" y="3429000"/>
            <a:ext cx="3794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C(A, B):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297680"/>
            <a:ext cx="108356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29768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típico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023360" y="429768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Bajo, jerarquía lineal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0" y="4297680"/>
            <a:ext cx="3794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Ambigüedad si varias definen el mismo método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5166360"/>
            <a:ext cx="10835640" cy="868680"/>
          </a:xfrm>
          <a:prstGeom prst="rect">
            <a:avLst/>
          </a:prstGeom>
          <a:solidFill>
            <a:srgbClr val="F4F5F7"/>
          </a:solidFill>
          <a:ln w="9525">
            <a:solidFill>
              <a:srgbClr val="E1E4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516636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023360" y="516636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Directa, un solo camino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0" y="5166360"/>
            <a:ext cx="3794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Sigue el orden MRO de izquierda a derecha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II · UAI · Unidad 2 · Clase 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2 · INDIVIDUAL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Herencia múltiple con mixins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10835640" cy="822960"/>
          </a:xfrm>
          <a:prstGeom prst="roundRect">
            <a:avLst>
              <a:gd name="adj" fmla="val 8889"/>
            </a:avLst>
          </a:prstGeom>
          <a:solidFill>
            <a:srgbClr val="E9F5EF"/>
          </a:solidFill>
          <a:ln w="12700">
            <a:solidFill>
              <a:srgbClr val="CFE8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28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CONSIGNA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Completá la clase PatoDeGoma combinando el comportamiento de Flotador y ReproductorDeSonido mediante herencia múltiple.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743200"/>
            <a:ext cx="5257800" cy="3017520"/>
          </a:xfrm>
          <a:prstGeom prst="roundRect">
            <a:avLst>
              <a:gd name="adj" fmla="val 2424"/>
            </a:avLst>
          </a:prstGeom>
          <a:solidFill>
            <a:srgbClr val="0E1830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8803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mixins.py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3200400"/>
            <a:ext cx="48463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Flotador: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flotar(self):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print("Floto en el agua")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ReproductorDeSonido: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sonar(self):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print("¡Cuac!")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PatoDeGoma(?, ?):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63640" y="2743200"/>
            <a:ext cx="5257800" cy="3017520"/>
          </a:xfrm>
          <a:prstGeom prst="roundRect">
            <a:avLst>
              <a:gd name="adj" fmla="val 2424"/>
            </a:avLst>
          </a:prstGeom>
          <a:solidFill>
            <a:srgbClr val="F4F5F7"/>
          </a:solidFill>
          <a:ln w="12700">
            <a:solidFill>
              <a:srgbClr val="E1E4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8803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pista.py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92240" y="3200400"/>
            <a:ext cx="48463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i="1" dirty="0">
                <a:solidFill>
                  <a:srgbClr val="9AA1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Pista: PatoDeGoma debe heredar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i="1" dirty="0">
                <a:solidFill>
                  <a:srgbClr val="9AA1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 ambas clases para tener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i="1" dirty="0">
                <a:solidFill>
                  <a:srgbClr val="9AA1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los métodos flotar() y sonar()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i="1" dirty="0">
                <a:solidFill>
                  <a:srgbClr val="9AA1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i="1" dirty="0">
                <a:solidFill>
                  <a:srgbClr val="9AA1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pato = PatoDeGoma()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i="1" dirty="0">
                <a:solidFill>
                  <a:srgbClr val="9AA1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pato.flotar()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i="1" dirty="0">
                <a:solidFill>
                  <a:srgbClr val="9AA1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pato.sonar()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II · UAI · Unidad 2 · Clase 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3 · INTEGRADOR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Robots con ciclo de vida y mixins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10835640" cy="822960"/>
          </a:xfrm>
          <a:prstGeom prst="roundRect">
            <a:avLst>
              <a:gd name="adj" fmla="val 8889"/>
            </a:avLst>
          </a:prstGeom>
          <a:solidFill>
            <a:srgbClr val="E9F5EF"/>
          </a:solidFill>
          <a:ln w="12700">
            <a:solidFill>
              <a:srgbClr val="CFE8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28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CONSIGNA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Diseñá una clase Robot que combine constructor y destructor con herencia simple y múltiple: debe heredar de dos mixins y tener una subclase propia.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236976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154680"/>
            <a:ext cx="49377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Definí dos mixins independientes: Movil (con moverse()) y Comunicable (con hablar())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749040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666744"/>
            <a:ext cx="49377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Definí Robot(Movil, Comunicable), combinando ambos mixins (herencia múltiple)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261104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178808"/>
            <a:ext cx="49377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__init__ de Robot imprimí un mensaje de "encendido"; en __del__, uno de "apagado"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773168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690872"/>
            <a:ext cx="49377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Definí RobotAvanzado(Robot) que use super().__init__() y agregue un atributo propio (herencia simple)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5285232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5202936"/>
            <a:ext cx="49377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Creá y eliminá un RobotAvanzado con del, y observá el orden de los mensajes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63640" y="2788920"/>
            <a:ext cx="5257800" cy="2926080"/>
          </a:xfrm>
          <a:prstGeom prst="roundRect">
            <a:avLst>
              <a:gd name="adj" fmla="val 2500"/>
            </a:avLst>
          </a:prstGeom>
          <a:solidFill>
            <a:srgbClr val="0E1830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29260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robots.py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92240" y="3291840"/>
            <a:ext cx="48463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Movil: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moverse(self):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print("Me desplazo")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Comunicable: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hablar(self):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print("Emito un sonido")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II · UAI · Unidad 2 · Clase 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 clave de la clase de hoy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4F5F7"/>
          </a:solidFill>
          <a:ln w="12700">
            <a:solidFill>
              <a:srgbClr val="E1E4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1965960"/>
            <a:ext cx="54864" cy="150876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8" name="Text 6"/>
          <p:cNvSpPr/>
          <p:nvPr/>
        </p:nvSpPr>
        <p:spPr>
          <a:xfrm>
            <a:off x="1024128" y="1938528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24128" y="2395728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__init__ inicializa los atributos del objeto al crearlo.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173736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4F5F7"/>
          </a:solidFill>
          <a:ln w="12700">
            <a:solidFill>
              <a:srgbClr val="E1E4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19088" y="1965960"/>
            <a:ext cx="54864" cy="150876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2" name="Text 10"/>
          <p:cNvSpPr/>
          <p:nvPr/>
        </p:nvSpPr>
        <p:spPr>
          <a:xfrm>
            <a:off x="6601968" y="1938528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Destructor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01968" y="2395728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__del__ se ejecuta cuando el objeto se libera de memoria.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97764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4F5F7"/>
          </a:solidFill>
          <a:ln w="12700">
            <a:solidFill>
              <a:srgbClr val="E1E4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" y="4206240"/>
            <a:ext cx="54864" cy="150876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6" name="Text 14"/>
          <p:cNvSpPr/>
          <p:nvPr/>
        </p:nvSpPr>
        <p:spPr>
          <a:xfrm>
            <a:off x="1024128" y="4178808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Herencia simple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24128" y="4636008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subclase extiende una única superclase directa.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17920" y="397764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4F5F7"/>
          </a:solidFill>
          <a:ln w="12700">
            <a:solidFill>
              <a:srgbClr val="E1E4E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19088" y="4206240"/>
            <a:ext cx="54864" cy="150876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20" name="Text 18"/>
          <p:cNvSpPr/>
          <p:nvPr/>
        </p:nvSpPr>
        <p:spPr>
          <a:xfrm>
            <a:off x="6601968" y="4178808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Herencia múltiple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601968" y="4636008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clase combina comportamiento de varias superclases a la vez.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0E1830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931920"/>
            <a:ext cx="4206240" cy="4206240"/>
          </a:xfrm>
          <a:prstGeom prst="ellipse">
            <a:avLst/>
          </a:prstGeom>
          <a:solidFill>
            <a:srgbClr val="0E183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CLASE · SEMANA 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2402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Polimorfismo, encapsulamiento y métodos especiales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3017520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7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la Unidad 2: encapsulamiento, clases de "nuevo estilo" y métodos especiales de Python.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114800"/>
            <a:ext cx="10515600" cy="0"/>
          </a:xfrm>
          <a:prstGeom prst="line">
            <a:avLst/>
          </a:prstGeom>
          <a:noFill/>
          <a:ln w="12700">
            <a:solidFill>
              <a:srgbClr val="2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3434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F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REPASAR ANTES DE LA PRÓXIMA CLASE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4645152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Repasá cómo funciona super(): la próxima clase lo vamos a combinar con encapsulamiento y polimorfismo.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II · UAI · Unidad 2 · Clase 5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2026-08-10T13:05:41Z</dcterms:created>
  <dcterms:modified xsi:type="dcterms:W3CDTF">2026-08-10T13:05:41Z</dcterms:modified>
</cp:coreProperties>
</file>